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5"/>
    <p:sldId id="260" r:id="rId6"/>
    <p:sldId id="261" r:id="rId7"/>
    <p:sldId id="262" r:id="rId8"/>
    <p:sldId id="268" r:id="rId14"/>
    <p:sldId id="265" r:id="rId11"/>
    <p:sldId id="266" r:id="rId12"/>
    <p:sldId id="267" r:id="rId13"/>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logo. Pause. We are Team SE7EN: Build to Care 2026, Acentra Health, Problem Statement 3.</a:t>
            </a:r>
            <a:endParaRPr lang="en-US" dirty="0"/>
          </a:p>
          <a:p>
            <a:r>
              <a:rPr lang="en-US" dirty="0"/>
              <a:t>We do not find fraud. We build the desk an SIU can trust. Alerts become cases. Cases fit today’s hours. A human still decides.</a:t>
            </a:r>
            <a:endParaRPr lang="en-US" dirty="0"/>
          </a:p>
          <a:p>
            <a:r>
              <a:rPr lang="en-US" dirty="0"/>
              <a:t>The model recommends. It never prints fraud on a provider.</a:t>
            </a:r>
            <a:endParaRPr lang="en-US" dirty="0"/>
          </a:p>
          <a:p>
            <a:r>
              <a:rPr lang="en-US" dirty="0"/>
              <a:t>Live demo: claimshield-nexus-api.onrender.com/login. Free Render can sleep; the first hit after idle can take about 30 seconds.</a:t>
            </a:r>
            <a:endParaRPr lang="en-US" dirty="0"/>
          </a:p>
          <a:p>
            <a:r>
              <a:rPr lang="en-US" dirty="0"/>
              <a:t>Sources: JUDGING.md §1, README.md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 then take it apart.</a:t>
            </a:r>
            <a:endParaRPr lang="en-US" dirty="0"/>
          </a:p>
          <a:p>
            <a:r>
              <a:rPr lang="en-US" dirty="0"/>
              <a:t>CMS FY2025: Medicaid improper payments 6.12%, $37.39 billion, up from 5.09% in FY2024. 77.17% was insufficient documentation, which CMS says is generally not indicative of fraud or abuse.</a:t>
            </a:r>
            <a:endParaRPr lang="en-US" dirty="0"/>
          </a:p>
          <a:p>
            <a:r>
              <a:rPr lang="en-US" dirty="0"/>
              <a:t>Who is hurting: SIU investigators drowning in unconnected alerts, honest providers disrupted by weak flags, members exposed when after-death billing or excluded parties are buried, and the program losing money on schemes nobody has hours to open.</a:t>
            </a:r>
            <a:endParaRPr lang="en-US" dirty="0"/>
          </a:p>
          <a:p>
            <a:r>
              <a:rPr lang="en-US" dirty="0"/>
              <a:t>Investigator time is the scarce resource, not compute. Screening runs on a 45-day clock. 42 CFR 455.13–455.16 is due process; 455.23 payment suspension is a state decision. We only recommend.</a:t>
            </a:r>
            <a:endParaRPr lang="en-US" dirty="0"/>
          </a:p>
          <a:p>
            <a:r>
              <a:rPr lang="en-US" dirty="0"/>
              <a:t>Sources: https://www.cms.gov/newsroom/fact-sheets/fiscal-year-2025-improper-payments-fact-sheet ; https://www.ecfr.gov/current/title-42/chapter-IV/subchapter-C/part-455/subpart-A ; 01_PS3_research_brief.md §1, JUDGING.md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working application, not a mockup. Six surfaces, five roles, cookie JWT and RBAC, app and API on one origin on Render.</a:t>
            </a:r>
            <a:endParaRPr lang="en-US" dirty="0"/>
          </a:p>
          <a:p>
            <a:r>
              <a:rPr lang="en-US" dirty="0"/>
              <a:t>Manager loads tiny / seed 7, sets hours and member weight, sees the ranked desk. Investigator takes a case, inspects the evidence, decides. Analyst or manager approves precedents. Auditor reads the hash chain.</a:t>
            </a:r>
            <a:endParaRPr lang="en-US" dirty="0"/>
          </a:p>
          <a:p>
            <a:r>
              <a:rPr lang="en-US" dirty="0"/>
              <a:t>Every decision is a human step. Escalate goes to pending approval, and a different manager approves or rejects it. Nothing becomes an automatic fraud label.</a:t>
            </a:r>
            <a:endParaRPr lang="en-US" dirty="0"/>
          </a:p>
          <a:p>
            <a:r>
              <a:rPr lang="en-US" dirty="0"/>
              <a:t>Demo logins: manager@demo.claimshield / demo-manager; investigator@demo.claimshield / demo-investigator.</a:t>
            </a:r>
            <a:endParaRPr lang="en-US" dirty="0"/>
          </a:p>
          <a:p>
            <a:r>
              <a:rPr lang="en-US" dirty="0"/>
              <a:t>Sources: JUDGING.md §3 and §5, README.md (Auth, Decision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One path from extract to desk.</a:t>
            </a:r>
            <a:endParaRPr lang="en-US" dirty="0"/>
          </a:p>
          <a:p>
            <a:r>
              <a:rPr lang="en-US" dirty="0"/>
              <a:t>Extract comes from the synthetic generator or from S3 CSVs. Rules give hard catalog hits with a policy cite. Peers compare like with like and stay a baseline. The graph finds owner, TIN, contact and referral links.</a:t>
            </a:r>
            <a:endParaRPr lang="en-US" dirty="0"/>
          </a:p>
          <a:p>
            <a:r>
              <a:rPr lang="en-US" dirty="0"/>
              <a:t>The case builder puts every alert for one billing provider into one case. Extra NPIs join only on identity_ring, excluded_owner or referral_monopoly. Urgent harm stays visible after grouping.</a:t>
            </a:r>
            <a:endParaRPr lang="en-US" dirty="0"/>
          </a:p>
          <a:p>
            <a:r>
              <a:rPr lang="en-US" dirty="0"/>
              <a:t>The desk puts harm 4 first, packs the rest into today’s hours, caps at 20 slots, and keeps everything else on a tracked backlog. Not a dismissal.</a:t>
            </a:r>
            <a:endParaRPr lang="en-US" dirty="0"/>
          </a:p>
          <a:p>
            <a:r>
              <a:rPr lang="en-US" dirty="0"/>
              <a:t>Lambda never scores. It only triggers FastAPI. Ground truth exists so we can evaluate; the model never sees it.</a:t>
            </a:r>
            <a:endParaRPr lang="en-US" dirty="0"/>
          </a:p>
          <a:p>
            <a:r>
              <a:rPr lang="en-US" dirty="0"/>
              <a:t>Sources: JUDGING.md §4, docs/AWS_INGEST.md, data/reference/rules.yaml (18 rules), backend/src/claimshield/pipeline/service.py.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AWS is the file drop and the trigger. Detection stays in FastAPI.</a:t>
            </a:r>
            <a:endParaRPr lang="en-US" dirty="0"/>
          </a:p>
          <a:p>
            <a:r>
              <a:rPr lang="en-US" dirty="0"/>
              <a:t>S3 incoming in ap-south-1 fires Lambda claimshield-s3-processor, which calls POST /api/v1/aws/ingest with an internal token. Until member, provider, claim and claim_line are all there, the API answers waiting_for_tables. The same files twice return already_processed.</a:t>
            </a:r>
            <a:endParaRPr lang="en-US" dirty="0"/>
          </a:p>
          <a:p>
            <a:r>
              <a:rPr lang="en-US" dirty="0"/>
              <a:t>The API is FastAPI and SQLAlchemy with cookie JWT, Argon2id passwords, RBAC and a CSRF header on every cookie write. SQLite is the default; Postgres runs in Docker compose but is not covered by tests yet.</a:t>
            </a:r>
            <a:endParaRPr lang="en-US" dirty="0"/>
          </a:p>
          <a:p>
            <a:r>
              <a:rPr lang="en-US" dirty="0"/>
              <a:t>The audit log is append-only. Each row is a SHA-256 over the previous hash plus the canonical row, so one edited row breaks the chain.</a:t>
            </a:r>
            <a:endParaRPr lang="en-US" dirty="0"/>
          </a:p>
          <a:p>
            <a:r>
              <a:rPr lang="en-US" dirty="0"/>
              <a:t>Sources: docs/AWS_INGEST.md, README.md (Auth, Limitations), backend/pyproject.toml, frontend/package.json, backend/src/claimshield/audit/chain.py.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numbers, from the artifact risk-d9b7d941c214, on worlds the model never trained on.</a:t>
            </a:r>
            <a:endParaRPr lang="en-US" dirty="0"/>
          </a:p>
          <a:p>
            <a:r>
              <a:rPr lang="en-US" dirty="0"/>
              <a:t>P(confirm): PR-AUC 0.952 and ROC-AUC 0.892 against 0.801 and 0.646 for the old heuristic. Filling a 40-hour desk it picks 75 cases at precision 1.000. Rules-only picks 100 at 0.840.</a:t>
            </a:r>
            <a:endParaRPr lang="en-US" dirty="0"/>
          </a:p>
          <a:p>
            <a:r>
              <a:rPr lang="en-US" dirty="0"/>
              <a:t>Hazard: PR-AUC roughly doubles the old heuristic at every horizon, with better Brier and ECE. 30/60/90 risk is monotone by construction; 0 violations.</a:t>
            </a:r>
            <a:endParaRPr lang="en-US" dirty="0"/>
          </a:p>
          <a:p>
            <a:r>
              <a:rPr lang="en-US" dirty="0"/>
              <a:t>We show the HGB challenger because it beats us on most columns. It stays backtest-only. Logistic gives per-feature contributions an investigator can read.</a:t>
            </a:r>
            <a:endParaRPr lang="en-US" dirty="0"/>
          </a:p>
          <a:p>
            <a:r>
              <a:rPr lang="en-US" dirty="0"/>
              <a:t>22 leakage tests cover random splits, late claims, label dating, process features, ring splits and generator artefacts.</a:t>
            </a:r>
            <a:endParaRPr lang="en-US" dirty="0"/>
          </a:p>
          <a:p>
            <a:r>
              <a:rPr lang="en-US" dirty="0"/>
              <a:t>The honest limits: synthetic only, labels come from the same generator, mid-range scores are over-confident, and S06 ambulance, held out as an unseen scheme, is missed by the learned scores. The rule still catches it.</a:t>
            </a:r>
            <a:endParaRPr lang="en-US" dirty="0"/>
          </a:p>
          <a:p>
            <a:r>
              <a:rPr lang="en-US" dirty="0"/>
              <a:t>Source: docs/MODEL_CARD.md (Results, Held-out scheme type,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buyer is the SIU at a payer or a Medicaid program-integrity team. The investigator works cases. The manager owns team hours, assignment and the 45-day clock.</a:t>
            </a:r>
            <a:endParaRPr lang="en-US" dirty="0"/>
          </a:p>
          <a:p>
            <a:r>
              <a:rPr lang="en-US" dirty="0"/>
              <a:t>We sit downstream of eCAMS and feed program integrity. Acentra already sells ClaimsSure, Audit Studio, RuleIT, Navigator and eCAMS; we do not replace them. A confirmed pattern can go back as a rule proposal.</a:t>
            </a:r>
            <a:endParaRPr lang="en-US" dirty="0"/>
          </a:p>
          <a:p>
            <a:r>
              <a:rPr lang="en-US" dirty="0"/>
              <a:t>Two costs. Money is lost on the fraud nobody gets to. Honest providers are disrupted by cases that should never have been opened. Fraud that shows only across claims is never seen at all.</a:t>
            </a:r>
            <a:endParaRPr lang="en-US" dirty="0"/>
          </a:p>
          <a:p>
            <a:r>
              <a:rPr lang="en-US" dirty="0"/>
              <a:t>Payment suspension under 42 CFR 455.23 needs a state finding of a credible allegation of fraud and has good-cause exceptions, like a sole community provider. We only recommend.</a:t>
            </a:r>
            <a:endParaRPr lang="en-US" dirty="0"/>
          </a:p>
          <a:p>
            <a:r>
              <a:rPr lang="en-US" dirty="0"/>
              <a:t>The value metric is the funnel on the manager desk: N alerts to M cases to K selected today. Capacity fit is measured: at 40 hours the model selects 75 cases at precision 1.000 versus 0.840 for rules-only, on synthetic held-out worlds.</a:t>
            </a:r>
            <a:endParaRPr lang="en-US" dirty="0"/>
          </a:p>
          <a:p>
            <a:r>
              <a:rPr lang="en-US" dirty="0"/>
              <a:t>Measured funnel on tiny / seed 7 with the API defaults (60-day horizon, 40 h, 20 slots, member weight 1): 35 alerts, 17 cases, 8 harm-priority + 8 selected = 16 on the desk, 1 in gather evidence. Harm-priority hours alone (78 h) exceed the 40 h, and the desk raises its override warning. Command: cd backend &amp;&amp; uv sync --frozen, then python: generate("tiny", 7) → pipeline.service.detect(horizon_days=60, recovery=0.5, capacity_hours=40, max_slots=20, member_weight=1.0), run 2026-10-09.</a:t>
            </a:r>
            <a:endParaRPr lang="en-US" dirty="0"/>
          </a:p>
          <a:p>
            <a:r>
              <a:rPr lang="en-US" dirty="0"/>
              <a:t>Sources: IDEATION_AND_IMPROVEMENTS.md, CLAIMSHIELD_NEXUS_PLAN.md (problem, personas), JUDGING.md §2, 01_PS3_research_brief.md, docs/BUILD_AND_DEMO.md, docs/MODEL_CARD.md; https://www.ecfr.gov/current/title-42/chapter-IV/subchapter-C/part-455/subpart-A/section-455.23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is the same engine behind a different door. S3 incoming fires Lambda claimshield-s3-processor, which calls POST /api/v1/aws/ingest. FastAPI persists the dataset, runs the pipeline and writes to PostgreSQL. Lambda never scores.</a:t>
            </a:r>
            <a:endParaRPr lang="en-US" dirty="0"/>
          </a:p>
          <a:p>
            <a:r>
              <a:rPr lang="en-US" dirty="0"/>
              <a:t>Ingest is idempotent. Until the four required tables are present the API answers waiting_for_tables. The same ETags again return already_processed. Outputs never go back to incoming/, so nothing retriggers.</a:t>
            </a:r>
            <a:endParaRPr lang="en-US" dirty="0"/>
          </a:p>
          <a:p>
            <a:r>
              <a:rPr lang="en-US" dirty="0"/>
              <a:t>SQLite is the default. Docker compose runs Postgres and the API, but compose is not exercised in CI yet. The live desk runs on Render; the Vercel pair auto-seeds tiny / seed 7 when its /tmp database is empty.</a:t>
            </a:r>
            <a:endParaRPr lang="en-US" dirty="0"/>
          </a:p>
          <a:p>
            <a:r>
              <a:rPr lang="en-US" dirty="0"/>
              <a:t>Detectors are data: 18 rules in rules.yaml with severity and a policy reference. A panel world generates and runs detection in about 40–60 s on 8 cores; make train rebuilt the final artifact in 51 s.</a:t>
            </a:r>
            <a:endParaRPr lang="en-US" dirty="0"/>
          </a:p>
          <a:p>
            <a:r>
              <a:rPr lang="en-US" dirty="0"/>
              <a:t>Next, from our handoff: wire the typed network edges and decision-options endpoint into the UI, show risk factors and model version, switch to the &lt;50 / 50–90 / 90–99 / ≥99% P(confirm) bands, add the CI workflow. The HGB challenger stays backtest-only. Whether Acentra supplies a PS3 dataset is still open; everything so far is synthetic.</a:t>
            </a:r>
            <a:endParaRPr lang="en-US" dirty="0"/>
          </a:p>
          <a:p>
            <a:r>
              <a:rPr lang="en-US" dirty="0"/>
              <a:t>Sources: docs/AWS_INGEST.md, README.md, docs/BUILD_AND_DEMO.md, data/reference/rules.yaml, docs/MODEL_CARD.md (Data, Training time), docs/HANDOFF.md §4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pieces of math, all readable back from the artifact.</a:t>
            </a:r>
            <a:endParaRPr lang="en-US" dirty="0"/>
          </a:p>
          <a:p>
            <a:r>
              <a:rPr lang="en-US" dirty="0"/>
              <a:t>Hazard: one discrete-time logistic fitted on provider × cutoff × interval rows gives h1, h2, h3. F(k) = 1 − ∏(1 − h_j), so 30/60/90-day risk is monotone by construction. The backtest found 0 violations.</a:t>
            </a:r>
            <a:endParaRPr lang="en-US" dirty="0"/>
          </a:p>
          <a:p>
            <a:r>
              <a:rPr lang="en-US" dirty="0"/>
              <a:t>P(confirm): logistic on 33 case features; the hazard uses 41 provider features. Both standardise and winsorise at ±4 SD, use L2 with C = 0.5, and get Platt calibration on held-out calibration worlds. Platt is skipped if either class has fewer than 5 rows.</a:t>
            </a:r>
            <a:endParaRPr lang="en-US" dirty="0"/>
          </a:p>
          <a:p>
            <a:r>
              <a:rPr lang="en-US" dirty="0"/>
              <a:t>Peer z: robust z of paid per member over 90 days within a service line, 0.6745 × (x − median) / MAD, clipped to −5..10. Peers are a baseline, never co-subjects.</a:t>
            </a:r>
            <a:endParaRPr lang="en-US" dirty="0"/>
          </a:p>
          <a:p>
            <a:r>
              <a:rPr lang="en-US" dirty="0"/>
              <a:t>Composite: severity, exposure and member impact at 0.22 each, evidence 0.18, urgency 0.16. Urgency blends 0.7 horizon risk with 0.3 of the 45-day clock.</a:t>
            </a:r>
            <a:endParaRPr lang="en-US" dirty="0"/>
          </a:p>
          <a:p>
            <a:r>
              <a:rPr lang="en-US" dirty="0"/>
              <a:t>Desk: harm 4 and program-integrity overrides go first and their hours come off capacity; we warn when they pass 35%. Evidence below 0.40 goes to gather evidence. A half-hour 0/1 knapsack on the composite fills the rest, then the 20-slot cap.</a:t>
            </a:r>
            <a:endParaRPr lang="en-US" dirty="0"/>
          </a:p>
          <a:p>
            <a:r>
              <a:rPr lang="en-US" dirty="0"/>
              <a:t>Sources: docs/MODEL_CARD.md (Models, Features), backend/src/claimshield/risk/model.py, risk/features.py, anomaly/peer.py, queue/rank.py, queue/knapsack.py, pipeline/service.py.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Close on the spine: alerts become cases, cases fit today’s hours, a human still decides.</a:t>
            </a:r>
            <a:endParaRPr lang="en-US" dirty="0"/>
          </a:p>
          <a:p>
            <a:r>
              <a:rPr lang="en-US" dirty="0"/>
              <a:t>If there is time, the 90 seconds on the machine: landing, sign in as manager, load tiny / seed 7, show 35 alerts become 17 cases with harm first, open the grouped harm case, walk findings and lineage, decide with a reason.</a:t>
            </a:r>
            <a:endParaRPr lang="en-US" dirty="0"/>
          </a:p>
          <a:p>
            <a:r>
              <a:rPr lang="en-US" dirty="0"/>
              <a:t>Live demo: claimshield-nexus-api.onrender.com/login, manager@demo.claimshield / demo-manager. Investigator: investigator@demo.claimshield / demo-investigator. Free Render can sleep; first hit takes about 30 seconds.</a:t>
            </a:r>
            <a:endParaRPr lang="en-US" dirty="0"/>
          </a:p>
          <a:p>
            <a:r>
              <a:rPr lang="en-US" dirty="0"/>
              <a:t>Recommend only. Improper payment is not fraud. We never print fraud on a provider.</a:t>
            </a:r>
            <a:endParaRPr lang="en-US" dirty="0"/>
          </a:p>
          <a:p>
            <a:r>
              <a:rPr lang="en-US" dirty="0"/>
              <a:t>Sources: README.md, JUDGING.md; funnel counts measured on tiny / seed 7 (see slide 8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 Id="rIdLogo" Type="http://schemas.openxmlformats.org/officeDocument/2006/relationships/image" Target="../media/logo-claimshield.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 Id="rIdLogo" Type="http://schemas.openxmlformats.org/officeDocument/2006/relationships/image" Target="../media/logo-claimshield.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384048"/>
            <a:ext cx="10972800" cy="256032"/>
          </a:xfrm>
          <a:prstGeom prst="rect">
            <a:avLst/>
          </a:prstGeom>
          <a:noFill/>
          <a:ln/>
        </p:spPr>
        <p:txBody>
          <a:bodyPr wrap="square" lIns="0" tIns="0" rIns="0" bIns="0" rtlCol="0" anchor="ctr"/>
          <a:lstStyle/>
          <a:p>
            <a:pPr indent="0" marL="0">
              <a:buNone/>
            </a:pPr>
            <a:r>
              <a:rPr lang="en-US" sz="1100" spc="220" kern="0" dirty="0">
                <a:solidFill>
                  <a:srgbClr val="C6A15B"/>
                </a:solidFill>
                <a:latin typeface="Consolas" pitchFamily="34" charset="0"/>
                <a:ea typeface="Consolas" pitchFamily="34" charset="-122"/>
                <a:cs typeface="Consolas" pitchFamily="34" charset="-120"/>
              </a:rPr>
              <a:t>BUILD TO CARE  2026   ·   ACENTRA HEALTH   ·   PROBLEM STATEMENT 3 (HARD)</a:t>
            </a:r>
            <a:endParaRPr lang="en-US" dirty="0"/>
          </a:p>
        </p:txBody>
      </p:sp>
      <p:pic>
        <p:nvPicPr>
          <p:cNvPr id="10" name="Logo ClaimShield Nexus" descr="ClaimShield Nexus logo"/>
          <p:cNvPicPr>
            <a:picLocks noChangeAspect="1"/>
          </p:cNvPicPr>
          <p:nvPr/>
        </p:nvPicPr>
        <p:blipFill>
          <a:blip r:embed="rIdLogo"/>
          <a:stretch>
            <a:fillRect/>
          </a:stretch>
        </p:blipFill>
        <p:spPr>
          <a:xfrm>
            <a:off x="457200" y="1417320"/>
            <a:ext cx="5669280" cy="1540565"/>
          </a:xfrm>
          <a:prstGeom prst="rect">
            <a:avLst/>
          </a:prstGeom>
        </p:spPr>
      </p:pic>
      <p:sp>
        <p:nvSpPr>
          <p:cNvPr id="6" name="Text 3"/>
          <p:cNvSpPr/>
          <p:nvPr/>
        </p:nvSpPr>
        <p:spPr>
          <a:xfrm>
            <a:off x="566928" y="3200400"/>
            <a:ext cx="7863840" cy="731520"/>
          </a:xfrm>
          <a:prstGeom prst="rect">
            <a:avLst/>
          </a:prstGeom>
          <a:noFill/>
          <a:ln/>
        </p:spPr>
        <p:txBody>
          <a:bodyPr wrap="square" lIns="0" tIns="0" rIns="0" bIns="0" rtlCol="0" anchor="ctr"/>
          <a:lstStyle/>
          <a:p>
            <a:pPr indent="0" marL="0">
              <a:buNone/>
            </a:pPr>
            <a:r>
              <a:rPr lang="en-US" sz="1600" i="1" dirty="0">
                <a:solidFill>
                  <a:srgbClr val="F6F1E8"/>
                </a:solidFill>
                <a:latin typeface="Arial" pitchFamily="34" charset="0"/>
                <a:ea typeface="Arial" pitchFamily="34" charset="-122"/>
                <a:cs typeface="Arial" pitchFamily="34" charset="-120"/>
              </a:rPr>
              <a:t>The SIU desk that turns unexplained claim alerts into ranked,</a:t>
            </a:r>
            <a:endParaRPr lang="en-US" sz="1600" dirty="0"/>
          </a:p>
          <a:p>
            <a:pPr indent="0" marL="0">
              <a:buNone/>
            </a:pPr>
            <a:r>
              <a:rPr lang="en-US" sz="1600" i="1" dirty="0">
                <a:solidFill>
                  <a:srgbClr val="F6F1E8"/>
                </a:solidFill>
                <a:latin typeface="Arial" pitchFamily="34" charset="0"/>
                <a:ea typeface="Arial" pitchFamily="34" charset="-122"/>
                <a:cs typeface="Arial" pitchFamily="34" charset="-120"/>
              </a:rPr>
              <a:t>evidence-backed cases a human can actually work today.</a:t>
            </a:r>
            <a:endParaRPr lang="en-US" sz="1600" dirty="0"/>
          </a:p>
        </p:txBody>
      </p:sp>
      <p:sp>
        <p:nvSpPr>
          <p:cNvPr id="11" name="Text 3b"/>
          <p:cNvSpPr/>
          <p:nvPr/>
        </p:nvSpPr>
        <p:spPr>
          <a:xfrm>
            <a:off x="566928" y="3995928"/>
            <a:ext cx="7863840" cy="566928"/>
          </a:xfrm>
          <a:prstGeom prst="rect">
            <a:avLst/>
          </a:prstGeom>
          <a:noFill/>
          <a:ln/>
        </p:spPr>
        <p:txBody>
          <a:bodyPr wrap="square" lIns="0" tIns="0" rIns="0" bIns="0" rtlCol="0" anchor="ctr"/>
          <a:lstStyle/>
          <a:p>
            <a:pPr indent="0" marL="0">
              <a:buNone/>
            </a:pPr>
            <a:r>
              <a:rPr lang="en-US" sz="1300" i="0" dirty="0">
                <a:solidFill>
                  <a:srgbClr val="B8C7CB"/>
                </a:solidFill>
                <a:latin typeface="Arial" pitchFamily="34" charset="0"/>
                <a:ea typeface="Arial" pitchFamily="34" charset="-122"/>
                <a:cs typeface="Arial" pitchFamily="34" charset="-120"/>
              </a:rPr>
              <a:t>Rules, peer anomaly and a network graph group alerts into one case per provider. Harm goes first; a knapsack packs the rest into today’s investigator hours.</a:t>
            </a:r>
            <a:endParaRPr lang="en-US" dirty="0"/>
          </a:p>
        </p:txBody>
      </p:sp>
      <p:sp>
        <p:nvSpPr>
          <p:cNvPr id="7" name="Shape 4"/>
          <p:cNvSpPr/>
          <p:nvPr/>
        </p:nvSpPr>
        <p:spPr>
          <a:xfrm>
            <a:off x="566928" y="4782312"/>
            <a:ext cx="1920240" cy="36576"/>
          </a:xfrm>
          <a:prstGeom prst="rect">
            <a:avLst/>
          </a:prstGeom>
          <a:solidFill>
            <a:srgbClr val="C6A15B"/>
          </a:solidFill>
          <a:ln/>
        </p:spPr>
      </p:sp>
      <p:sp>
        <p:nvSpPr>
          <p:cNvPr id="8" name="Text 5"/>
          <p:cNvSpPr/>
          <p:nvPr/>
        </p:nvSpPr>
        <p:spPr>
          <a:xfrm>
            <a:off x="566928" y="5001768"/>
            <a:ext cx="9144000" cy="292608"/>
          </a:xfrm>
          <a:prstGeom prst="rect">
            <a:avLst/>
          </a:prstGeom>
          <a:noFill/>
          <a:ln/>
        </p:spPr>
        <p:txBody>
          <a:bodyPr wrap="square" lIns="0" tIns="0" rIns="0" bIns="0" rtlCol="0" anchor="ctr"/>
          <a:lstStyle/>
          <a:p>
            <a:pPr indent="0" marL="0">
              <a:buNone/>
            </a:pPr>
            <a:r>
              <a:rPr lang="en-US" sz="1200" spc="120" kern="0" dirty="0">
                <a:solidFill>
                  <a:srgbClr val="8AA0A6"/>
                </a:solidFill>
                <a:latin typeface="Consolas" pitchFamily="34" charset="0"/>
                <a:ea typeface="Consolas" pitchFamily="34" charset="-122"/>
                <a:cs typeface="Consolas" pitchFamily="34" charset="-120"/>
              </a:rPr>
              <a:t>TEAM SE7EN     ·     RECOMMEND ONLY     ·     SUSPICION, NEVER A FRAUD STAMP</a:t>
            </a:r>
            <a:endParaRPr lang="en-US" sz="1200" dirty="0"/>
          </a:p>
        </p:txBody>
      </p:sp>
      <p:sp>
        <p:nvSpPr>
          <p:cNvPr id="12" name="Text 5b"/>
          <p:cNvSpPr/>
          <p:nvPr/>
        </p:nvSpPr>
        <p:spPr>
          <a:xfrm>
            <a:off x="566928" y="5422392"/>
            <a:ext cx="9144000" cy="292608"/>
          </a:xfrm>
          <a:prstGeom prst="rect">
            <a:avLst/>
          </a:prstGeom>
          <a:noFill/>
          <a:ln/>
        </p:spPr>
        <p:txBody>
          <a:bodyPr wrap="square" lIns="0" tIns="0" rIns="0" bIns="0" rtlCol="0" anchor="ctr"/>
          <a:lstStyle/>
          <a:p>
            <a:pPr indent="0" marL="0">
              <a:buNone/>
            </a:pPr>
            <a:r>
              <a:rPr lang="en-US" sz="1100" spc="120" kern="0" dirty="0" b="1">
                <a:solidFill>
                  <a:srgbClr val="C6A15B"/>
                </a:solidFill>
                <a:latin typeface="Consolas" pitchFamily="34" charset="0"/>
                <a:ea typeface="Consolas" pitchFamily="34" charset="-122"/>
                <a:cs typeface="Consolas" pitchFamily="34" charset="-120"/>
              </a:rPr>
              <a:t>LIVE DEMO   </a:t>
            </a:r>
            <a:r>
              <a:rPr lang="en-US" sz="1100" spc="120" kern="0" dirty="0">
                <a:solidFill>
                  <a:srgbClr val="7ED9CE"/>
                </a:solidFill>
                <a:latin typeface="Consolas" pitchFamily="34" charset="0"/>
                <a:ea typeface="Consolas" pitchFamily="34" charset="-122"/>
                <a:cs typeface="Consolas" pitchFamily="34" charset="-120"/>
              </a:rPr>
              <a:t>claimshield-nexus-api.onrender.com/login</a:t>
            </a:r>
            <a:endParaRPr lang="en-US" dirty="0"/>
          </a:p>
        </p:txBody>
      </p:sp>
      <p:sp>
        <p:nvSpPr>
          <p:cNvPr id="9" name="Text 6"/>
          <p:cNvSpPr/>
          <p:nvPr/>
        </p:nvSpPr>
        <p:spPr>
          <a:xfrm>
            <a:off x="9692640" y="6446520"/>
            <a:ext cx="1920240" cy="219456"/>
          </a:xfrm>
          <a:prstGeom prst="rect">
            <a:avLst/>
          </a:prstGeom>
          <a:noFill/>
          <a:ln/>
        </p:spPr>
        <p:txBody>
          <a:bodyPr wrap="square" lIns="0" tIns="0" rIns="0" bIns="0" rtlCol="0" anchor="ctr"/>
          <a:lstStyle/>
          <a:p>
            <a:pPr algn="r" indent="0" marL="0">
              <a:buNone/>
            </a:pPr>
            <a:r>
              <a:rPr lang="en-US" sz="1100" dirty="0">
                <a:solidFill>
                  <a:srgbClr val="8AA0A6"/>
                </a:solidFill>
                <a:latin typeface="Consolas" pitchFamily="34" charset="0"/>
                <a:ea typeface="Consolas" pitchFamily="34" charset="-122"/>
                <a:cs typeface="Consolas" pitchFamily="34" charset="-120"/>
              </a:rPr>
              <a:t>01  /  10</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1C"/>
        </a:solidFill>
      </p:bgPr>
    </p:bg>
    <p:spTree>
      <p:nvGrpSpPr>
        <p:cNvPr id="1" name=""/>
        <p:cNvGrpSpPr/>
        <p:nvPr/>
      </p:nvGrpSpPr>
      <p:grpSpPr>
        <a:xfrm>
          <a:off x="0" y="0"/>
          <a:ext cx="0" cy="0"/>
          <a:chOff x="0" y="0"/>
          <a:chExt cx="0" cy="0"/>
        </a:xfrm>
      </p:grpSpPr>
      <p:sp>
        <p:nvSpPr>
          <p:cNvPr id="2" name="Text 0"/>
          <p:cNvSpPr/>
          <p:nvPr/>
        </p:nvSpPr>
        <p:spPr>
          <a:xfrm>
            <a:off x="566928" y="292608"/>
            <a:ext cx="10972800" cy="256032"/>
          </a:xfrm>
          <a:prstGeom prst="rect">
            <a:avLst/>
          </a:prstGeom>
          <a:noFill/>
          <a:ln/>
        </p:spPr>
        <p:txBody>
          <a:bodyPr wrap="square" lIns="0" tIns="0" rIns="0" bIns="0" rtlCol="0" anchor="ctr"/>
          <a:lstStyle/>
          <a:p>
            <a:pPr indent="0" marL="0">
              <a:buNone/>
            </a:pPr>
            <a:r>
              <a:rPr lang="en-US" sz="1100" spc="200" kern="0" dirty="0" b="0">
                <a:solidFill>
                  <a:srgbClr val="8AA0A6"/>
                </a:solidFill>
                <a:latin typeface="Consolas" pitchFamily="34" charset="0"/>
                <a:ea typeface="Consolas" pitchFamily="34" charset="-122"/>
                <a:cs typeface="Consolas" pitchFamily="34" charset="-120"/>
              </a:rPr>
              <a:t>02   </a:t>
            </a:r>
            <a:r>
              <a:rPr lang="en-US" sz="1100" spc="240" kern="0" dirty="0" b="1">
                <a:solidFill>
                  <a:srgbClr val="C6A15B"/>
                </a:solidFill>
                <a:latin typeface="Consolas" pitchFamily="34" charset="0"/>
                <a:ea typeface="Consolas" pitchFamily="34" charset="-122"/>
                <a:cs typeface="Consolas" pitchFamily="34" charset="-120"/>
              </a:rPr>
              <a:t>THE PROBLEM</a:t>
            </a:r>
            <a:endParaRPr lang="en-US" dirty="0"/>
          </a:p>
        </p:txBody>
      </p:sp>
      <p:sp>
        <p:nvSpPr>
          <p:cNvPr id="3" name="Shape 1"/>
          <p:cNvSpPr/>
          <p:nvPr/>
        </p:nvSpPr>
        <p:spPr>
          <a:xfrm>
            <a:off x="566928" y="585216"/>
            <a:ext cx="1234440" cy="32004"/>
          </a:xfrm>
          <a:prstGeom prst="rect">
            <a:avLst/>
          </a:prstGeom>
          <a:solidFill>
            <a:srgbClr val="C6A15B"/>
          </a:solidFill>
          <a:ln/>
        </p:spPr>
      </p:sp>
      <p:sp>
        <p:nvSpPr>
          <p:cNvPr id="4" name="Text 2"/>
          <p:cNvSpPr/>
          <p:nvPr/>
        </p:nvSpPr>
        <p:spPr>
          <a:xfrm>
            <a:off x="566928" y="841248"/>
            <a:ext cx="6583680" cy="1417320"/>
          </a:xfrm>
          <a:prstGeom prst="rect">
            <a:avLst/>
          </a:prstGeom>
          <a:noFill/>
          <a:ln/>
        </p:spPr>
        <p:txBody>
          <a:bodyPr wrap="square" lIns="0" tIns="0" rIns="0" bIns="0" rtlCol="0" anchor="ctr"/>
          <a:lstStyle/>
          <a:p>
            <a:pPr indent="0" marL="0">
              <a:buNone/>
            </a:pPr>
            <a:r>
              <a:rPr lang="en-US" sz="9200" b="1" dirty="0">
                <a:solidFill>
                  <a:srgbClr val="F6F1E8"/>
                </a:solidFill>
                <a:latin typeface="Georgia" pitchFamily="34" charset="0"/>
                <a:ea typeface="Georgia" pitchFamily="34" charset="-122"/>
                <a:cs typeface="Georgia" pitchFamily="34" charset="-120"/>
              </a:rPr>
              <a:t>6.12%</a:t>
            </a:r>
            <a:endParaRPr lang="en-US" sz="9200" dirty="0"/>
          </a:p>
        </p:txBody>
      </p:sp>
      <p:sp>
        <p:nvSpPr>
          <p:cNvPr id="5" name="Text 3"/>
          <p:cNvSpPr/>
          <p:nvPr/>
        </p:nvSpPr>
        <p:spPr>
          <a:xfrm>
            <a:off x="566928" y="2286000"/>
            <a:ext cx="10972800" cy="365760"/>
          </a:xfrm>
          <a:prstGeom prst="rect">
            <a:avLst/>
          </a:prstGeom>
          <a:noFill/>
          <a:ln/>
        </p:spPr>
        <p:txBody>
          <a:bodyPr wrap="square" lIns="0" tIns="0" rIns="0" bIns="0" rtlCol="0" anchor="ctr"/>
          <a:lstStyle/>
          <a:p>
            <a:pPr indent="0" marL="0">
              <a:buNone/>
            </a:pPr>
            <a:r>
              <a:rPr lang="en-US" sz="1400" spc="100" kern="0" dirty="0">
                <a:solidFill>
                  <a:srgbClr val="C6A15B"/>
                </a:solidFill>
                <a:latin typeface="Consolas" pitchFamily="34" charset="0"/>
                <a:ea typeface="Consolas" pitchFamily="34" charset="-122"/>
                <a:cs typeface="Consolas" pitchFamily="34" charset="-120"/>
              </a:rPr>
              <a:t>Medicaid improper payments, FY2025  ·  $37.39 billion  ·  up from 5.09% in FY2024</a:t>
            </a:r>
            <a:endParaRPr lang="en-US" dirty="0"/>
          </a:p>
        </p:txBody>
      </p:sp>
      <p:sp>
        <p:nvSpPr>
          <p:cNvPr id="6" name="Text 4"/>
          <p:cNvSpPr/>
          <p:nvPr/>
        </p:nvSpPr>
        <p:spPr>
          <a:xfrm>
            <a:off x="566928" y="2788920"/>
            <a:ext cx="10972800" cy="960120"/>
          </a:xfrm>
          <a:prstGeom prst="rect">
            <a:avLst/>
          </a:prstGeom>
          <a:noFill/>
          <a:ln/>
        </p:spPr>
        <p:txBody>
          <a:bodyPr wrap="square" lIns="0" tIns="0" rIns="0" bIns="0" rtlCol="0" anchor="ctr"/>
          <a:lstStyle/>
          <a:p>
            <a:pPr indent="0" marL="0">
              <a:buNone/>
            </a:pPr>
            <a:r>
              <a:rPr lang="en-US" sz="2000" i="1" dirty="0">
                <a:solidFill>
                  <a:srgbClr val="7ED9CE"/>
                </a:solidFill>
                <a:latin typeface="Georgia" pitchFamily="34" charset="0"/>
                <a:ea typeface="Georgia" pitchFamily="34" charset="-122"/>
                <a:cs typeface="Georgia" pitchFamily="34" charset="-120"/>
              </a:rPr>
              <a:t>77.17% of it is missing documentation, which CMS calls “generally not indicative of fraud.”</a:t>
            </a:r>
            <a:endParaRPr lang="en-US" dirty="0"/>
          </a:p>
          <a:p>
            <a:pPr indent="0" marL="0">
              <a:buNone/>
            </a:pPr>
            <a:r>
              <a:rPr lang="en-US" sz="2000" i="1" dirty="0">
                <a:solidFill>
                  <a:srgbClr val="7ED9CE"/>
                </a:solidFill>
                <a:latin typeface="Georgia" pitchFamily="34" charset="0"/>
                <a:ea typeface="Georgia" pitchFamily="34" charset="-122"/>
                <a:cs typeface="Georgia" pitchFamily="34" charset="-120"/>
              </a:rPr>
              <a:t>If we call it fraud on this stage, we have already lost.</a:t>
            </a:r>
            <a:endParaRPr lang="en-US" dirty="0"/>
          </a:p>
        </p:txBody>
      </p:sp>
      <p:sp>
        <p:nvSpPr>
          <p:cNvPr id="7" name="Shape 5"/>
          <p:cNvSpPr/>
          <p:nvPr/>
        </p:nvSpPr>
        <p:spPr>
          <a:xfrm>
            <a:off x="566928" y="4023360"/>
            <a:ext cx="5394960" cy="896112"/>
          </a:xfrm>
          <a:prstGeom prst="roundRect">
            <a:avLst>
              <a:gd name="adj" fmla="val 6897"/>
            </a:avLst>
          </a:prstGeom>
          <a:solidFill>
            <a:srgbClr val="12242C"/>
          </a:solidFill>
          <a:ln/>
        </p:spPr>
      </p:sp>
      <p:sp>
        <p:nvSpPr>
          <p:cNvPr id="8" name="Text 6"/>
          <p:cNvSpPr/>
          <p:nvPr/>
        </p:nvSpPr>
        <p:spPr>
          <a:xfrm>
            <a:off x="795528" y="4096512"/>
            <a:ext cx="4937760" cy="749808"/>
          </a:xfrm>
          <a:prstGeom prst="rect">
            <a:avLst/>
          </a:prstGeom>
          <a:noFill/>
          <a:ln/>
        </p:spPr>
        <p:txBody>
          <a:bodyPr wrap="square" lIns="0" tIns="0" rIns="0" bIns="0" rtlCol="0" anchor="ctr"/>
          <a:lstStyle/>
          <a:p>
            <a:pPr indent="0" marL="0">
              <a:buNone/>
            </a:pPr>
            <a:r>
              <a:rPr lang="en-US" sz="1500" dirty="0" b="1">
                <a:solidFill>
                  <a:srgbClr val="F6F1E8"/>
                </a:solidFill>
                <a:latin typeface="Arial" pitchFamily="34" charset="0"/>
                <a:ea typeface="Arial" pitchFamily="34" charset="-122"/>
                <a:cs typeface="Arial" pitchFamily="34" charset="-120"/>
              </a:rPr>
              <a:t>The firehose</a:t>
            </a:r>
            <a:endParaRPr lang="en-US" dirty="0"/>
          </a:p>
          <a:p>
            <a:pPr indent="0" marL="0">
              <a:spcBef>
                <a:spcPts val="300"/>
              </a:spcBef>
              <a:buNone/>
            </a:pPr>
            <a:r>
              <a:rPr lang="en-US" sz="1300" dirty="0">
                <a:solidFill>
                  <a:srgbClr val="B8C7CB"/>
                </a:solidFill>
                <a:latin typeface="Arial" pitchFamily="34" charset="0"/>
                <a:ea typeface="Arial" pitchFamily="34" charset="-122"/>
                <a:cs typeface="Arial" pitchFamily="34" charset="-120"/>
              </a:rPr>
              <a:t>Detectors fire on every claim line. Investigators get noise, not a pattern they can work.</a:t>
            </a:r>
            <a:endParaRPr lang="en-US" dirty="0"/>
          </a:p>
        </p:txBody>
      </p:sp>
      <p:sp>
        <p:nvSpPr>
          <p:cNvPr id="9" name="Shape 7"/>
          <p:cNvSpPr/>
          <p:nvPr/>
        </p:nvSpPr>
        <p:spPr>
          <a:xfrm>
            <a:off x="6236208" y="4023360"/>
            <a:ext cx="5394960" cy="896112"/>
          </a:xfrm>
          <a:prstGeom prst="roundRect">
            <a:avLst>
              <a:gd name="adj" fmla="val 6897"/>
            </a:avLst>
          </a:prstGeom>
          <a:solidFill>
            <a:srgbClr val="12242C"/>
          </a:solidFill>
          <a:ln/>
        </p:spPr>
      </p:sp>
      <p:sp>
        <p:nvSpPr>
          <p:cNvPr id="10" name="Text 8"/>
          <p:cNvSpPr/>
          <p:nvPr/>
        </p:nvSpPr>
        <p:spPr>
          <a:xfrm>
            <a:off x="6464808" y="4096512"/>
            <a:ext cx="4937760" cy="749808"/>
          </a:xfrm>
          <a:prstGeom prst="rect">
            <a:avLst/>
          </a:prstGeom>
          <a:noFill/>
          <a:ln/>
        </p:spPr>
        <p:txBody>
          <a:bodyPr wrap="square" lIns="0" tIns="0" rIns="0" bIns="0" rtlCol="0" anchor="ctr"/>
          <a:lstStyle/>
          <a:p>
            <a:pPr indent="0" marL="0">
              <a:buNone/>
            </a:pPr>
            <a:r>
              <a:rPr lang="en-US" sz="1500" dirty="0" b="1">
                <a:solidFill>
                  <a:srgbClr val="F6F1E8"/>
                </a:solidFill>
                <a:latin typeface="Arial" pitchFamily="34" charset="0"/>
                <a:ea typeface="Arial" pitchFamily="34" charset="-122"/>
                <a:cs typeface="Arial" pitchFamily="34" charset="-120"/>
              </a:rPr>
              <a:t>The 45-day clock</a:t>
            </a:r>
            <a:endParaRPr lang="en-US" dirty="0"/>
          </a:p>
          <a:p>
            <a:pPr indent="0" marL="0">
              <a:spcBef>
                <a:spcPts val="300"/>
              </a:spcBef>
              <a:buNone/>
            </a:pPr>
            <a:r>
              <a:rPr lang="en-US" sz="1300" dirty="0">
                <a:solidFill>
                  <a:srgbClr val="B8C7CB"/>
                </a:solidFill>
                <a:latin typeface="Arial" pitchFamily="34" charset="0"/>
                <a:ea typeface="Arial" pitchFamily="34" charset="-122"/>
                <a:cs typeface="Arial" pitchFamily="34" charset="-120"/>
              </a:rPr>
              <a:t>CMS-style screening window. Ranking by dollars buries after-death billing and excluded parties.</a:t>
            </a:r>
            <a:endParaRPr lang="en-US" dirty="0"/>
          </a:p>
        </p:txBody>
      </p:sp>
      <p:sp>
        <p:nvSpPr>
          <p:cNvPr id="11" name="Shape 9"/>
          <p:cNvSpPr/>
          <p:nvPr/>
        </p:nvSpPr>
        <p:spPr>
          <a:xfrm>
            <a:off x="566928" y="5029200"/>
            <a:ext cx="5394960" cy="896112"/>
          </a:xfrm>
          <a:prstGeom prst="roundRect">
            <a:avLst>
              <a:gd name="adj" fmla="val 6897"/>
            </a:avLst>
          </a:prstGeom>
          <a:solidFill>
            <a:srgbClr val="12242C"/>
          </a:solidFill>
          <a:ln/>
        </p:spPr>
      </p:sp>
      <p:sp>
        <p:nvSpPr>
          <p:cNvPr id="12" name="Text 10"/>
          <p:cNvSpPr/>
          <p:nvPr/>
        </p:nvSpPr>
        <p:spPr>
          <a:xfrm>
            <a:off x="795528" y="5102352"/>
            <a:ext cx="4937760" cy="749808"/>
          </a:xfrm>
          <a:prstGeom prst="rect">
            <a:avLst/>
          </a:prstGeom>
          <a:noFill/>
          <a:ln/>
        </p:spPr>
        <p:txBody>
          <a:bodyPr wrap="square" lIns="0" tIns="0" rIns="0" bIns="0" rtlCol="0" anchor="ctr"/>
          <a:lstStyle/>
          <a:p>
            <a:pPr indent="0" marL="0">
              <a:buNone/>
            </a:pPr>
            <a:r>
              <a:rPr lang="en-US" sz="1500" dirty="0" b="1">
                <a:solidFill>
                  <a:srgbClr val="F6F1E8"/>
                </a:solidFill>
                <a:latin typeface="Arial" pitchFamily="34" charset="0"/>
                <a:ea typeface="Arial" pitchFamily="34" charset="-122"/>
                <a:cs typeface="Arial" pitchFamily="34" charset="-120"/>
              </a:rPr>
              <a:t>The miss</a:t>
            </a:r>
            <a:endParaRPr lang="en-US" dirty="0"/>
          </a:p>
          <a:p>
            <a:pPr indent="0" marL="0">
              <a:spcBef>
                <a:spcPts val="300"/>
              </a:spcBef>
              <a:buNone/>
            </a:pPr>
            <a:r>
              <a:rPr lang="en-US" sz="1300" dirty="0">
                <a:solidFill>
                  <a:srgbClr val="B8C7CB"/>
                </a:solidFill>
                <a:latin typeface="Arial" pitchFamily="34" charset="0"/>
                <a:ea typeface="Arial" pitchFamily="34" charset="-122"/>
                <a:cs typeface="Arial" pitchFamily="34" charset="-120"/>
              </a:rPr>
              <a:t>Rings, shared owners and TINs, referral monopolies: patterns live across claims, not on one line.</a:t>
            </a:r>
            <a:endParaRPr lang="en-US" dirty="0"/>
          </a:p>
        </p:txBody>
      </p:sp>
      <p:sp>
        <p:nvSpPr>
          <p:cNvPr id="13" name="Shape 11"/>
          <p:cNvSpPr/>
          <p:nvPr/>
        </p:nvSpPr>
        <p:spPr>
          <a:xfrm>
            <a:off x="6236208" y="5029200"/>
            <a:ext cx="5394960" cy="896112"/>
          </a:xfrm>
          <a:prstGeom prst="roundRect">
            <a:avLst>
              <a:gd name="adj" fmla="val 6897"/>
            </a:avLst>
          </a:prstGeom>
          <a:solidFill>
            <a:srgbClr val="12242C"/>
          </a:solidFill>
          <a:ln/>
        </p:spPr>
      </p:sp>
      <p:sp>
        <p:nvSpPr>
          <p:cNvPr id="14" name="Text 12"/>
          <p:cNvSpPr/>
          <p:nvPr/>
        </p:nvSpPr>
        <p:spPr>
          <a:xfrm>
            <a:off x="6464808" y="5102352"/>
            <a:ext cx="4937760" cy="749808"/>
          </a:xfrm>
          <a:prstGeom prst="rect">
            <a:avLst/>
          </a:prstGeom>
          <a:noFill/>
          <a:ln/>
        </p:spPr>
        <p:txBody>
          <a:bodyPr wrap="square" lIns="0" tIns="0" rIns="0" bIns="0" rtlCol="0" anchor="ctr"/>
          <a:lstStyle/>
          <a:p>
            <a:pPr indent="0" marL="0">
              <a:buNone/>
            </a:pPr>
            <a:r>
              <a:rPr lang="en-US" sz="1500" dirty="0" b="1">
                <a:solidFill>
                  <a:srgbClr val="F6F1E8"/>
                </a:solidFill>
                <a:latin typeface="Arial" pitchFamily="34" charset="0"/>
                <a:ea typeface="Arial" pitchFamily="34" charset="-122"/>
                <a:cs typeface="Arial" pitchFamily="34" charset="-120"/>
              </a:rPr>
              <a:t>Not a fraud stamp</a:t>
            </a:r>
            <a:endParaRPr lang="en-US" dirty="0"/>
          </a:p>
          <a:p>
            <a:pPr indent="0" marL="0">
              <a:spcBef>
                <a:spcPts val="300"/>
              </a:spcBef>
              <a:buNone/>
            </a:pPr>
            <a:r>
              <a:rPr lang="en-US" sz="1300" dirty="0">
                <a:solidFill>
                  <a:srgbClr val="B8C7CB"/>
                </a:solidFill>
                <a:latin typeface="Arial" pitchFamily="34" charset="0"/>
                <a:ea typeface="Arial" pitchFamily="34" charset="-122"/>
                <a:cs typeface="Arial" pitchFamily="34" charset="-120"/>
              </a:rPr>
              <a:t>Improper payment is not fraud. 42 CFR 455.23 suspension is the state’s call. We recommend.</a:t>
            </a:r>
            <a:endParaRPr lang="en-US" dirty="0"/>
          </a:p>
        </p:txBody>
      </p:sp>
      <p:sp>
        <p:nvSpPr>
          <p:cNvPr id="15" name="Text 13"/>
          <p:cNvSpPr/>
          <p:nvPr/>
        </p:nvSpPr>
        <p:spPr>
          <a:xfrm>
            <a:off x="566928" y="6473952"/>
            <a:ext cx="5120640" cy="219456"/>
          </a:xfrm>
          <a:prstGeom prst="rect">
            <a:avLst/>
          </a:prstGeom>
          <a:noFill/>
          <a:ln/>
        </p:spPr>
        <p:txBody>
          <a:bodyPr wrap="square" lIns="0" tIns="0" rIns="0" bIns="0" rtlCol="0" anchor="ctr"/>
          <a:lstStyle/>
          <a:p>
            <a:pPr indent="0" marL="0">
              <a:buNone/>
            </a:pPr>
            <a:r>
              <a:rPr lang="en-US" sz="1000" spc="140" kern="0" dirty="0">
                <a:solidFill>
                  <a:srgbClr val="8AA0A6"/>
                </a:solidFill>
                <a:latin typeface="Consolas" pitchFamily="34" charset="0"/>
                <a:ea typeface="Consolas" pitchFamily="34" charset="-122"/>
                <a:cs typeface="Consolas" pitchFamily="34" charset="-120"/>
              </a:rPr>
              <a:t>TEAM SE7EN  ·  CLAIMSHIELD NEXUS</a:t>
            </a:r>
            <a:endParaRPr lang="en-US" sz="1000" dirty="0"/>
          </a:p>
        </p:txBody>
      </p:sp>
      <p:sp>
        <p:nvSpPr>
          <p:cNvPr id="16" name="Text 14"/>
          <p:cNvSpPr/>
          <p:nvPr/>
        </p:nvSpPr>
        <p:spPr>
          <a:xfrm>
            <a:off x="5120640" y="6473952"/>
            <a:ext cx="4023360" cy="219456"/>
          </a:xfrm>
          <a:prstGeom prst="rect">
            <a:avLst/>
          </a:prstGeom>
          <a:noFill/>
          <a:ln/>
        </p:spPr>
        <p:txBody>
          <a:bodyPr wrap="square" lIns="0" tIns="0" rIns="0" bIns="0" rtlCol="0" anchor="ctr"/>
          <a:lstStyle/>
          <a:p>
            <a:pPr algn="ctr" indent="0" marL="0">
              <a:buNone/>
            </a:pPr>
            <a:r>
              <a:rPr lang="en-US" sz="1000" spc="160" kern="0" dirty="0">
                <a:solidFill>
                  <a:srgbClr val="C6A15B"/>
                </a:solidFill>
                <a:latin typeface="Consolas" pitchFamily="34" charset="0"/>
                <a:ea typeface="Consolas" pitchFamily="34" charset="-122"/>
                <a:cs typeface="Consolas" pitchFamily="34" charset="-120"/>
              </a:rPr>
              <a:t>PROBLEM</a:t>
            </a:r>
            <a:endParaRPr lang="en-US" dirty="0"/>
          </a:p>
        </p:txBody>
      </p:sp>
      <p:sp>
        <p:nvSpPr>
          <p:cNvPr id="17" name="Text 15"/>
          <p:cNvSpPr/>
          <p:nvPr/>
        </p:nvSpPr>
        <p:spPr>
          <a:xfrm>
            <a:off x="9509760" y="6473952"/>
            <a:ext cx="2103120" cy="219456"/>
          </a:xfrm>
          <a:prstGeom prst="rect">
            <a:avLst/>
          </a:prstGeom>
          <a:noFill/>
          <a:ln/>
        </p:spPr>
        <p:txBody>
          <a:bodyPr wrap="square" lIns="0" tIns="0" rIns="0" bIns="0" rtlCol="0" anchor="ctr"/>
          <a:lstStyle/>
          <a:p>
            <a:pPr algn="r" indent="0" marL="0">
              <a:buNone/>
            </a:pPr>
            <a:r>
              <a:rPr lang="en-US" sz="1000" spc="140" kern="0" dirty="0">
                <a:solidFill>
                  <a:srgbClr val="8AA0A6"/>
                </a:solidFill>
                <a:latin typeface="Consolas" pitchFamily="34" charset="0"/>
                <a:ea typeface="Consolas" pitchFamily="34" charset="-122"/>
                <a:cs typeface="Consolas" pitchFamily="34" charset="-120"/>
              </a:rPr>
              <a:t>02  /  10</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292608"/>
            <a:ext cx="10972800" cy="256032"/>
          </a:xfrm>
          <a:prstGeom prst="rect">
            <a:avLst/>
          </a:prstGeom>
          <a:noFill/>
          <a:ln/>
        </p:spPr>
        <p:txBody>
          <a:bodyPr wrap="square" lIns="0" tIns="0" rIns="0" bIns="0" rtlCol="0" anchor="ctr"/>
          <a:lstStyle/>
          <a:p>
            <a:pPr indent="0" marL="0">
              <a:buNone/>
            </a:pPr>
            <a:r>
              <a:rPr lang="en-US" sz="1100" spc="200" kern="0" dirty="0" b="0">
                <a:solidFill>
                  <a:srgbClr val="7A8A90"/>
                </a:solidFill>
                <a:latin typeface="Consolas" pitchFamily="34" charset="0"/>
                <a:ea typeface="Consolas" pitchFamily="34" charset="-122"/>
                <a:cs typeface="Consolas" pitchFamily="34" charset="-120"/>
              </a:rPr>
              <a:t>03   </a:t>
            </a:r>
            <a:r>
              <a:rPr lang="en-US" sz="1100" spc="240" kern="0" dirty="0" b="1">
                <a:solidFill>
                  <a:srgbClr val="2A9A8F"/>
                </a:solidFill>
                <a:latin typeface="Consolas" pitchFamily="34" charset="0"/>
                <a:ea typeface="Consolas" pitchFamily="34" charset="-122"/>
                <a:cs typeface="Consolas" pitchFamily="34" charset="-120"/>
              </a:rPr>
              <a:t>WHAT WE BUILT</a:t>
            </a:r>
            <a:endParaRPr lang="en-US" dirty="0"/>
          </a:p>
        </p:txBody>
      </p:sp>
      <p:sp>
        <p:nvSpPr>
          <p:cNvPr id="34" name="Text 2b"/>
          <p:cNvSpPr/>
          <p:nvPr/>
        </p:nvSpPr>
        <p:spPr>
          <a:xfrm>
            <a:off x="7223760" y="914400"/>
            <a:ext cx="4434840" cy="274320"/>
          </a:xfrm>
          <a:prstGeom prst="rect">
            <a:avLst/>
          </a:prstGeom>
          <a:noFill/>
          <a:ln/>
        </p:spPr>
        <p:txBody>
          <a:bodyPr wrap="square" lIns="0" tIns="0" rIns="0" bIns="0" rtlCol="0" anchor="ctr"/>
          <a:lstStyle/>
          <a:p>
            <a:pPr indent="0" marL="0" algn="r">
              <a:buNone/>
            </a:pPr>
            <a:r>
              <a:rPr lang="en-US" sz="1000" spc="150" kern="0" dirty="0" b="0">
                <a:solidFill>
                  <a:srgbClr val="2A9A8F"/>
                </a:solidFill>
                <a:latin typeface="Consolas" pitchFamily="34" charset="0"/>
                <a:ea typeface="Consolas" pitchFamily="34" charset="-122"/>
                <a:cs typeface="Consolas" pitchFamily="34" charset="-120"/>
              </a:rPr>
              <a:t>COOKIE JWT + RBAC  ·  5 ROLES  ·  LIVE ON RENDER</a:t>
            </a:r>
            <a:endParaRPr lang="en-US" dirty="0"/>
          </a:p>
        </p:txBody>
      </p:sp>
      <p:sp>
        <p:nvSpPr>
          <p:cNvPr id="4" name="Shape 1"/>
          <p:cNvSpPr/>
          <p:nvPr/>
        </p:nvSpPr>
        <p:spPr>
          <a:xfrm>
            <a:off x="566928" y="585216"/>
            <a:ext cx="1234440" cy="32004"/>
          </a:xfrm>
          <a:prstGeom prst="rect">
            <a:avLst/>
          </a:prstGeom>
          <a:solidFill>
            <a:srgbClr val="2A9A8F"/>
          </a:solidFill>
          <a:ln/>
        </p:spPr>
      </p:sp>
      <p:sp>
        <p:nvSpPr>
          <p:cNvPr id="5" name="Text 2"/>
          <p:cNvSpPr/>
          <p:nvPr/>
        </p:nvSpPr>
        <p:spPr>
          <a:xfrm>
            <a:off x="566928" y="777240"/>
            <a:ext cx="6583680" cy="502920"/>
          </a:xfrm>
          <a:prstGeom prst="rect">
            <a:avLst/>
          </a:prstGeom>
          <a:noFill/>
          <a:ln/>
        </p:spPr>
        <p:txBody>
          <a:bodyPr wrap="square" lIns="0" tIns="0" rIns="0" bIns="0" rtlCol="0" anchor="ctr"/>
          <a:lstStyle/>
          <a:p>
            <a:pPr indent="0" marL="0">
              <a:buNone/>
            </a:pPr>
            <a:r>
              <a:rPr lang="en-US" sz="2600" dirty="0">
                <a:solidFill>
                  <a:srgbClr val="0B161C"/>
                </a:solidFill>
                <a:latin typeface="Georgia" pitchFamily="34" charset="0"/>
                <a:ea typeface="Georgia" pitchFamily="34" charset="-122"/>
                <a:cs typeface="Georgia" pitchFamily="34" charset="-120"/>
              </a:rPr>
              <a:t>A live SIU application, not a slide about one.</a:t>
            </a:r>
            <a:endParaRPr lang="en-US" sz="2600" dirty="0"/>
          </a:p>
        </p:txBody>
      </p:sp>
      <p:sp>
        <p:nvSpPr>
          <p:cNvPr id="6" name="Shape 3"/>
          <p:cNvSpPr/>
          <p:nvPr/>
        </p:nvSpPr>
        <p:spPr>
          <a:xfrm>
            <a:off x="566928" y="1463040"/>
            <a:ext cx="5440680" cy="1389888"/>
          </a:xfrm>
          <a:prstGeom prst="rect">
            <a:avLst/>
          </a:prstGeom>
          <a:solidFill>
            <a:srgbClr val="FFFBF5"/>
          </a:solidFill>
          <a:ln/>
        </p:spPr>
      </p:sp>
      <p:sp>
        <p:nvSpPr>
          <p:cNvPr id="7" name="Shape 4"/>
          <p:cNvSpPr/>
          <p:nvPr/>
        </p:nvSpPr>
        <p:spPr>
          <a:xfrm>
            <a:off x="566928" y="1463040"/>
            <a:ext cx="82296" cy="1389888"/>
          </a:xfrm>
          <a:prstGeom prst="rect">
            <a:avLst/>
          </a:prstGeom>
          <a:solidFill>
            <a:srgbClr val="2A9A8F"/>
          </a:solidFill>
          <a:ln/>
        </p:spPr>
      </p:sp>
      <p:sp>
        <p:nvSpPr>
          <p:cNvPr id="8" name="Text 5"/>
          <p:cNvSpPr/>
          <p:nvPr/>
        </p:nvSpPr>
        <p:spPr>
          <a:xfrm>
            <a:off x="886968" y="1627632"/>
            <a:ext cx="4892040" cy="347472"/>
          </a:xfrm>
          <a:prstGeom prst="rect">
            <a:avLst/>
          </a:prstGeom>
          <a:noFill/>
          <a:ln/>
        </p:spPr>
        <p:txBody>
          <a:bodyPr wrap="square" lIns="0" tIns="0" rIns="0" bIns="0" rtlCol="0" anchor="ctr"/>
          <a:lstStyle/>
          <a:p>
            <a:pPr indent="0" marL="0">
              <a:buNone/>
            </a:pPr>
            <a:r>
              <a:rPr lang="en-US" sz="2000" dirty="0">
                <a:solidFill>
                  <a:srgbClr val="0B161C"/>
                </a:solidFill>
                <a:latin typeface="Georgia" pitchFamily="34" charset="0"/>
                <a:ea typeface="Georgia" pitchFamily="34" charset="-122"/>
                <a:cs typeface="Georgia" pitchFamily="34" charset="-120"/>
              </a:rPr>
              <a:t>Queue</a:t>
            </a:r>
            <a:r>
              <a:rPr lang="en-US" sz="1050" dirty="0">
                <a:solidFill>
                  <a:srgbClr val="2A9A8F"/>
                </a:solidFill>
                <a:latin typeface="Consolas" pitchFamily="34" charset="0"/>
                <a:ea typeface="Consolas" pitchFamily="34" charset="-122"/>
                <a:cs typeface="Consolas" pitchFamily="34" charset="-120"/>
              </a:rPr>
              <a:t>    /manager/queue</a:t>
            </a:r>
            <a:endParaRPr lang="en-US" dirty="0"/>
          </a:p>
        </p:txBody>
      </p:sp>
      <p:sp>
        <p:nvSpPr>
          <p:cNvPr id="9" name="Text 6"/>
          <p:cNvSpPr/>
          <p:nvPr/>
        </p:nvSpPr>
        <p:spPr>
          <a:xfrm>
            <a:off x="886968" y="2029968"/>
            <a:ext cx="4892040" cy="713232"/>
          </a:xfrm>
          <a:prstGeom prst="rect">
            <a:avLst/>
          </a:prstGeom>
          <a:noFill/>
          <a:ln/>
        </p:spPr>
        <p:txBody>
          <a:bodyPr wrap="square" lIns="0" tIns="0" rIns="0" bIns="0" rtlCol="0" anchor="ctr"/>
          <a:lstStyle/>
          <a:p>
            <a:pPr indent="0" marL="0">
              <a:buNone/>
            </a:pPr>
            <a:r>
              <a:rPr lang="en-US" sz="1350" dirty="0">
                <a:solidFill>
                  <a:srgbClr val="2C3A40"/>
                </a:solidFill>
                <a:latin typeface="Arial" pitchFamily="34" charset="0"/>
                <a:ea typeface="Arial" pitchFamily="34" charset="-122"/>
                <a:cs typeface="Arial" pitchFamily="34" charset="-120"/>
              </a:rPr>
              <a:t>Manager loads an extract (tiny / seed 7 or S3), sets hours, member weight and slots, then promotes or defers.</a:t>
            </a:r>
            <a:endParaRPr lang="en-US" dirty="0"/>
          </a:p>
        </p:txBody>
      </p:sp>
      <p:sp>
        <p:nvSpPr>
          <p:cNvPr id="10" name="Shape 7"/>
          <p:cNvSpPr/>
          <p:nvPr/>
        </p:nvSpPr>
        <p:spPr>
          <a:xfrm>
            <a:off x="6236208" y="1463040"/>
            <a:ext cx="5440680" cy="1389888"/>
          </a:xfrm>
          <a:prstGeom prst="rect">
            <a:avLst/>
          </a:prstGeom>
          <a:solidFill>
            <a:srgbClr val="FFFBF5"/>
          </a:solidFill>
          <a:ln/>
        </p:spPr>
      </p:sp>
      <p:sp>
        <p:nvSpPr>
          <p:cNvPr id="11" name="Shape 8"/>
          <p:cNvSpPr/>
          <p:nvPr/>
        </p:nvSpPr>
        <p:spPr>
          <a:xfrm>
            <a:off x="6236208" y="1463040"/>
            <a:ext cx="82296" cy="1389888"/>
          </a:xfrm>
          <a:prstGeom prst="rect">
            <a:avLst/>
          </a:prstGeom>
          <a:solidFill>
            <a:srgbClr val="2A9A8F"/>
          </a:solidFill>
          <a:ln/>
        </p:spPr>
      </p:sp>
      <p:sp>
        <p:nvSpPr>
          <p:cNvPr id="12" name="Text 9"/>
          <p:cNvSpPr/>
          <p:nvPr/>
        </p:nvSpPr>
        <p:spPr>
          <a:xfrm>
            <a:off x="6556248" y="1627632"/>
            <a:ext cx="4892040" cy="347472"/>
          </a:xfrm>
          <a:prstGeom prst="rect">
            <a:avLst/>
          </a:prstGeom>
          <a:noFill/>
          <a:ln/>
        </p:spPr>
        <p:txBody>
          <a:bodyPr wrap="square" lIns="0" tIns="0" rIns="0" bIns="0" rtlCol="0" anchor="ctr"/>
          <a:lstStyle/>
          <a:p>
            <a:pPr indent="0" marL="0">
              <a:buNone/>
            </a:pPr>
            <a:r>
              <a:rPr lang="en-US" sz="2000" dirty="0">
                <a:solidFill>
                  <a:srgbClr val="0B161C"/>
                </a:solidFill>
                <a:latin typeface="Georgia" pitchFamily="34" charset="0"/>
                <a:ea typeface="Georgia" pitchFamily="34" charset="-122"/>
                <a:cs typeface="Georgia" pitchFamily="34" charset="-120"/>
              </a:rPr>
              <a:t>Worklist</a:t>
            </a:r>
            <a:r>
              <a:rPr lang="en-US" sz="1050" dirty="0">
                <a:solidFill>
                  <a:srgbClr val="2A9A8F"/>
                </a:solidFill>
                <a:latin typeface="Consolas" pitchFamily="34" charset="0"/>
                <a:ea typeface="Consolas" pitchFamily="34" charset="-122"/>
                <a:cs typeface="Consolas" pitchFamily="34" charset="-120"/>
              </a:rPr>
              <a:t>    /investigator/cases</a:t>
            </a:r>
            <a:endParaRPr lang="en-US" dirty="0"/>
          </a:p>
        </p:txBody>
      </p:sp>
      <p:sp>
        <p:nvSpPr>
          <p:cNvPr id="13" name="Text 10"/>
          <p:cNvSpPr/>
          <p:nvPr/>
        </p:nvSpPr>
        <p:spPr>
          <a:xfrm>
            <a:off x="6556248" y="2029968"/>
            <a:ext cx="4892040" cy="713232"/>
          </a:xfrm>
          <a:prstGeom prst="rect">
            <a:avLst/>
          </a:prstGeom>
          <a:noFill/>
          <a:ln/>
        </p:spPr>
        <p:txBody>
          <a:bodyPr wrap="square" lIns="0" tIns="0" rIns="0" bIns="0" rtlCol="0" anchor="ctr"/>
          <a:lstStyle/>
          <a:p>
            <a:pPr indent="0" marL="0">
              <a:buNone/>
            </a:pPr>
            <a:r>
              <a:rPr lang="en-US" sz="1350" dirty="0">
                <a:solidFill>
                  <a:srgbClr val="2C3A40"/>
                </a:solidFill>
                <a:latin typeface="Arial" pitchFamily="34" charset="0"/>
                <a:ea typeface="Arial" pitchFamily="34" charset="-122"/>
                <a:cs typeface="Arial" pitchFamily="34" charset="-120"/>
              </a:rPr>
              <a:t>Investigators take ownership of today’s harm-priority and knapsack-selected cases. The rest stays on a tracked backlog.</a:t>
            </a:r>
            <a:endParaRPr lang="en-US" dirty="0"/>
          </a:p>
        </p:txBody>
      </p:sp>
      <p:sp>
        <p:nvSpPr>
          <p:cNvPr id="14" name="Shape 11"/>
          <p:cNvSpPr/>
          <p:nvPr/>
        </p:nvSpPr>
        <p:spPr>
          <a:xfrm>
            <a:off x="566928" y="3017520"/>
            <a:ext cx="5440680" cy="1389888"/>
          </a:xfrm>
          <a:prstGeom prst="rect">
            <a:avLst/>
          </a:prstGeom>
          <a:solidFill>
            <a:srgbClr val="FFFBF5"/>
          </a:solidFill>
          <a:ln/>
        </p:spPr>
      </p:sp>
      <p:sp>
        <p:nvSpPr>
          <p:cNvPr id="15" name="Shape 12"/>
          <p:cNvSpPr/>
          <p:nvPr/>
        </p:nvSpPr>
        <p:spPr>
          <a:xfrm>
            <a:off x="566928" y="3017520"/>
            <a:ext cx="82296" cy="1389888"/>
          </a:xfrm>
          <a:prstGeom prst="rect">
            <a:avLst/>
          </a:prstGeom>
          <a:solidFill>
            <a:srgbClr val="2A9A8F"/>
          </a:solidFill>
          <a:ln/>
        </p:spPr>
      </p:sp>
      <p:sp>
        <p:nvSpPr>
          <p:cNvPr id="16" name="Text 13"/>
          <p:cNvSpPr/>
          <p:nvPr/>
        </p:nvSpPr>
        <p:spPr>
          <a:xfrm>
            <a:off x="886968" y="3182112"/>
            <a:ext cx="4892040" cy="347472"/>
          </a:xfrm>
          <a:prstGeom prst="rect">
            <a:avLst/>
          </a:prstGeom>
          <a:noFill/>
          <a:ln/>
        </p:spPr>
        <p:txBody>
          <a:bodyPr wrap="square" lIns="0" tIns="0" rIns="0" bIns="0" rtlCol="0" anchor="ctr"/>
          <a:lstStyle/>
          <a:p>
            <a:pPr indent="0" marL="0">
              <a:buNone/>
            </a:pPr>
            <a:r>
              <a:rPr lang="en-US" sz="2000" dirty="0">
                <a:solidFill>
                  <a:srgbClr val="0B161C"/>
                </a:solidFill>
                <a:latin typeface="Georgia" pitchFamily="34" charset="0"/>
                <a:ea typeface="Georgia" pitchFamily="34" charset="-122"/>
                <a:cs typeface="Georgia" pitchFamily="34" charset="-120"/>
              </a:rPr>
              <a:t>Workspace</a:t>
            </a:r>
            <a:r>
              <a:rPr lang="en-US" sz="1050" dirty="0">
                <a:solidFill>
                  <a:srgbClr val="2A9A8F"/>
                </a:solidFill>
                <a:latin typeface="Consolas" pitchFamily="34" charset="0"/>
                <a:ea typeface="Consolas" pitchFamily="34" charset="-122"/>
                <a:cs typeface="Consolas" pitchFamily="34" charset="-120"/>
              </a:rPr>
              <a:t>    /investigator/workspace/:id</a:t>
            </a:r>
            <a:endParaRPr lang="en-US" dirty="0"/>
          </a:p>
        </p:txBody>
      </p:sp>
      <p:sp>
        <p:nvSpPr>
          <p:cNvPr id="17" name="Text 14"/>
          <p:cNvSpPr/>
          <p:nvPr/>
        </p:nvSpPr>
        <p:spPr>
          <a:xfrm>
            <a:off x="886968" y="3584448"/>
            <a:ext cx="4892040" cy="713232"/>
          </a:xfrm>
          <a:prstGeom prst="rect">
            <a:avLst/>
          </a:prstGeom>
          <a:noFill/>
          <a:ln/>
        </p:spPr>
        <p:txBody>
          <a:bodyPr wrap="square" lIns="0" tIns="0" rIns="0" bIns="0" rtlCol="0" anchor="ctr"/>
          <a:lstStyle/>
          <a:p>
            <a:pPr indent="0" marL="0">
              <a:buNone/>
            </a:pPr>
            <a:r>
              <a:rPr lang="en-US" sz="1350" dirty="0">
                <a:solidFill>
                  <a:srgbClr val="2C3A40"/>
                </a:solidFill>
                <a:latin typeface="Arial" pitchFamily="34" charset="0"/>
                <a:ea typeface="Arial" pitchFamily="34" charset="-122"/>
                <a:cs typeface="Arial" pitchFamily="34" charset="-120"/>
              </a:rPr>
              <a:t>Overview, findings, brief, claims, timeline, network, decide. Factor bars show why the case ranked here.</a:t>
            </a:r>
            <a:endParaRPr lang="en-US" dirty="0"/>
          </a:p>
        </p:txBody>
      </p:sp>
      <p:sp>
        <p:nvSpPr>
          <p:cNvPr id="18" name="Shape 15"/>
          <p:cNvSpPr/>
          <p:nvPr/>
        </p:nvSpPr>
        <p:spPr>
          <a:xfrm>
            <a:off x="6236208" y="3017520"/>
            <a:ext cx="5440680" cy="1389888"/>
          </a:xfrm>
          <a:prstGeom prst="rect">
            <a:avLst/>
          </a:prstGeom>
          <a:solidFill>
            <a:srgbClr val="FFFBF5"/>
          </a:solidFill>
          <a:ln/>
        </p:spPr>
      </p:sp>
      <p:sp>
        <p:nvSpPr>
          <p:cNvPr id="19" name="Shape 16"/>
          <p:cNvSpPr/>
          <p:nvPr/>
        </p:nvSpPr>
        <p:spPr>
          <a:xfrm>
            <a:off x="6236208" y="3017520"/>
            <a:ext cx="82296" cy="1389888"/>
          </a:xfrm>
          <a:prstGeom prst="rect">
            <a:avLst/>
          </a:prstGeom>
          <a:solidFill>
            <a:srgbClr val="2A9A8F"/>
          </a:solidFill>
          <a:ln/>
        </p:spPr>
      </p:sp>
      <p:sp>
        <p:nvSpPr>
          <p:cNvPr id="20" name="Text 17"/>
          <p:cNvSpPr/>
          <p:nvPr/>
        </p:nvSpPr>
        <p:spPr>
          <a:xfrm>
            <a:off x="6556248" y="3182112"/>
            <a:ext cx="4892040" cy="347472"/>
          </a:xfrm>
          <a:prstGeom prst="rect">
            <a:avLst/>
          </a:prstGeom>
          <a:noFill/>
          <a:ln/>
        </p:spPr>
        <p:txBody>
          <a:bodyPr wrap="square" lIns="0" tIns="0" rIns="0" bIns="0" rtlCol="0" anchor="ctr"/>
          <a:lstStyle/>
          <a:p>
            <a:pPr indent="0" marL="0">
              <a:buNone/>
            </a:pPr>
            <a:r>
              <a:rPr lang="en-US" sz="2000" dirty="0">
                <a:solidFill>
                  <a:srgbClr val="0B161C"/>
                </a:solidFill>
                <a:latin typeface="Georgia" pitchFamily="34" charset="0"/>
                <a:ea typeface="Georgia" pitchFamily="34" charset="-122"/>
                <a:cs typeface="Georgia" pitchFamily="34" charset="-120"/>
              </a:rPr>
              <a:t>Evidence</a:t>
            </a:r>
            <a:r>
              <a:rPr lang="en-US" sz="1050" dirty="0">
                <a:solidFill>
                  <a:srgbClr val="2A9A8F"/>
                </a:solidFill>
                <a:latin typeface="Consolas" pitchFamily="34" charset="0"/>
                <a:ea typeface="Consolas" pitchFamily="34" charset="-122"/>
                <a:cs typeface="Consolas" pitchFamily="34" charset="-120"/>
              </a:rPr>
              <a:t>    findings + brief</a:t>
            </a:r>
            <a:endParaRPr lang="en-US" dirty="0"/>
          </a:p>
        </p:txBody>
      </p:sp>
      <p:sp>
        <p:nvSpPr>
          <p:cNvPr id="21" name="Text 18"/>
          <p:cNvSpPr/>
          <p:nvPr/>
        </p:nvSpPr>
        <p:spPr>
          <a:xfrm>
            <a:off x="6556248" y="3584448"/>
            <a:ext cx="4892040" cy="713232"/>
          </a:xfrm>
          <a:prstGeom prst="rect">
            <a:avLst/>
          </a:prstGeom>
          <a:noFill/>
          <a:ln/>
        </p:spPr>
        <p:txBody>
          <a:bodyPr wrap="square" lIns="0" tIns="0" rIns="0" bIns="0" rtlCol="0" anchor="ctr"/>
          <a:lstStyle/>
          <a:p>
            <a:pPr indent="0" marL="0">
              <a:buNone/>
            </a:pPr>
            <a:r>
              <a:rPr lang="en-US" sz="1350" dirty="0">
                <a:solidFill>
                  <a:srgbClr val="2C3A40"/>
                </a:solidFill>
                <a:latin typeface="Arial" pitchFamily="34" charset="0"/>
                <a:ea typeface="Arial" pitchFamily="34" charset="-122"/>
                <a:cs typeface="Arial" pitchFamily="34" charset="-120"/>
              </a:rPr>
              <a:t>Each detector card names its policy cite, supporting claim lines and source tables. The brief drops uncited sentences.</a:t>
            </a:r>
            <a:endParaRPr lang="en-US" dirty="0"/>
          </a:p>
        </p:txBody>
      </p:sp>
      <p:sp>
        <p:nvSpPr>
          <p:cNvPr id="22" name="Shape 19"/>
          <p:cNvSpPr/>
          <p:nvPr/>
        </p:nvSpPr>
        <p:spPr>
          <a:xfrm>
            <a:off x="566928" y="4572000"/>
            <a:ext cx="5440680" cy="1389888"/>
          </a:xfrm>
          <a:prstGeom prst="rect">
            <a:avLst/>
          </a:prstGeom>
          <a:solidFill>
            <a:srgbClr val="FFFBF5"/>
          </a:solidFill>
          <a:ln/>
        </p:spPr>
      </p:sp>
      <p:sp>
        <p:nvSpPr>
          <p:cNvPr id="23" name="Shape 20"/>
          <p:cNvSpPr/>
          <p:nvPr/>
        </p:nvSpPr>
        <p:spPr>
          <a:xfrm>
            <a:off x="566928" y="4572000"/>
            <a:ext cx="82296" cy="1389888"/>
          </a:xfrm>
          <a:prstGeom prst="rect">
            <a:avLst/>
          </a:prstGeom>
          <a:solidFill>
            <a:srgbClr val="2A9A8F"/>
          </a:solidFill>
          <a:ln/>
        </p:spPr>
      </p:sp>
      <p:sp>
        <p:nvSpPr>
          <p:cNvPr id="24" name="Text 21"/>
          <p:cNvSpPr/>
          <p:nvPr/>
        </p:nvSpPr>
        <p:spPr>
          <a:xfrm>
            <a:off x="886968" y="4736592"/>
            <a:ext cx="4892040" cy="347472"/>
          </a:xfrm>
          <a:prstGeom prst="rect">
            <a:avLst/>
          </a:prstGeom>
          <a:noFill/>
          <a:ln/>
        </p:spPr>
        <p:txBody>
          <a:bodyPr wrap="square" lIns="0" tIns="0" rIns="0" bIns="0" rtlCol="0" anchor="ctr"/>
          <a:lstStyle/>
          <a:p>
            <a:pPr indent="0" marL="0">
              <a:buNone/>
            </a:pPr>
            <a:r>
              <a:rPr lang="en-US" sz="2000" dirty="0">
                <a:solidFill>
                  <a:srgbClr val="0B161C"/>
                </a:solidFill>
                <a:latin typeface="Georgia" pitchFamily="34" charset="0"/>
                <a:ea typeface="Georgia" pitchFamily="34" charset="-122"/>
                <a:cs typeface="Georgia" pitchFamily="34" charset="-120"/>
              </a:rPr>
              <a:t>Wiki</a:t>
            </a:r>
            <a:r>
              <a:rPr lang="en-US" sz="1050" dirty="0">
                <a:solidFill>
                  <a:srgbClr val="2A9A8F"/>
                </a:solidFill>
                <a:latin typeface="Consolas" pitchFamily="34" charset="0"/>
                <a:ea typeface="Consolas" pitchFamily="34" charset="-122"/>
                <a:cs typeface="Consolas" pitchFamily="34" charset="-120"/>
              </a:rPr>
              <a:t>    /wiki/proposals</a:t>
            </a:r>
            <a:endParaRPr lang="en-US" dirty="0"/>
          </a:p>
        </p:txBody>
      </p:sp>
      <p:sp>
        <p:nvSpPr>
          <p:cNvPr id="25" name="Text 22"/>
          <p:cNvSpPr/>
          <p:nvPr/>
        </p:nvSpPr>
        <p:spPr>
          <a:xfrm>
            <a:off x="886968" y="5138928"/>
            <a:ext cx="4892040" cy="713232"/>
          </a:xfrm>
          <a:prstGeom prst="rect">
            <a:avLst/>
          </a:prstGeom>
          <a:noFill/>
          <a:ln/>
        </p:spPr>
        <p:txBody>
          <a:bodyPr wrap="square" lIns="0" tIns="0" rIns="0" bIns="0" rtlCol="0" anchor="ctr"/>
          <a:lstStyle/>
          <a:p>
            <a:pPr indent="0" marL="0">
              <a:buNone/>
            </a:pPr>
            <a:r>
              <a:rPr lang="en-US" sz="1350" dirty="0">
                <a:solidFill>
                  <a:srgbClr val="2C3A40"/>
                </a:solidFill>
                <a:latin typeface="Arial" pitchFamily="34" charset="0"/>
                <a:ea typeface="Arial" pitchFamily="34" charset="-122"/>
                <a:cs typeface="Arial" pitchFamily="34" charset="-120"/>
              </a:rPr>
              <a:t>A closed decision can propose a precedent page. A human approves it before it joins the wiki.</a:t>
            </a:r>
            <a:endParaRPr lang="en-US" dirty="0"/>
          </a:p>
        </p:txBody>
      </p:sp>
      <p:sp>
        <p:nvSpPr>
          <p:cNvPr id="26" name="Shape 23"/>
          <p:cNvSpPr/>
          <p:nvPr/>
        </p:nvSpPr>
        <p:spPr>
          <a:xfrm>
            <a:off x="6236208" y="4572000"/>
            <a:ext cx="5440680" cy="1389888"/>
          </a:xfrm>
          <a:prstGeom prst="rect">
            <a:avLst/>
          </a:prstGeom>
          <a:solidFill>
            <a:srgbClr val="FFFBF5"/>
          </a:solidFill>
          <a:ln/>
        </p:spPr>
      </p:sp>
      <p:sp>
        <p:nvSpPr>
          <p:cNvPr id="27" name="Shape 24"/>
          <p:cNvSpPr/>
          <p:nvPr/>
        </p:nvSpPr>
        <p:spPr>
          <a:xfrm>
            <a:off x="6236208" y="4572000"/>
            <a:ext cx="82296" cy="1389888"/>
          </a:xfrm>
          <a:prstGeom prst="rect">
            <a:avLst/>
          </a:prstGeom>
          <a:solidFill>
            <a:srgbClr val="2A9A8F"/>
          </a:solidFill>
          <a:ln/>
        </p:spPr>
      </p:sp>
      <p:sp>
        <p:nvSpPr>
          <p:cNvPr id="28" name="Text 25"/>
          <p:cNvSpPr/>
          <p:nvPr/>
        </p:nvSpPr>
        <p:spPr>
          <a:xfrm>
            <a:off x="6556248" y="4736592"/>
            <a:ext cx="4892040" cy="347472"/>
          </a:xfrm>
          <a:prstGeom prst="rect">
            <a:avLst/>
          </a:prstGeom>
          <a:noFill/>
          <a:ln/>
        </p:spPr>
        <p:txBody>
          <a:bodyPr wrap="square" lIns="0" tIns="0" rIns="0" bIns="0" rtlCol="0" anchor="ctr"/>
          <a:lstStyle/>
          <a:p>
            <a:pPr indent="0" marL="0">
              <a:buNone/>
            </a:pPr>
            <a:r>
              <a:rPr lang="en-US" sz="2000" dirty="0">
                <a:solidFill>
                  <a:srgbClr val="0B161C"/>
                </a:solidFill>
                <a:latin typeface="Georgia" pitchFamily="34" charset="0"/>
                <a:ea typeface="Georgia" pitchFamily="34" charset="-122"/>
                <a:cs typeface="Georgia" pitchFamily="34" charset="-120"/>
              </a:rPr>
              <a:t>Audit</a:t>
            </a:r>
            <a:r>
              <a:rPr lang="en-US" sz="1050" dirty="0">
                <a:solidFill>
                  <a:srgbClr val="2A9A8F"/>
                </a:solidFill>
                <a:latin typeface="Consolas" pitchFamily="34" charset="0"/>
                <a:ea typeface="Consolas" pitchFamily="34" charset="-122"/>
                <a:cs typeface="Consolas" pitchFamily="34" charset="-120"/>
              </a:rPr>
              <a:t>    /audit</a:t>
            </a:r>
            <a:endParaRPr lang="en-US" dirty="0"/>
          </a:p>
        </p:txBody>
      </p:sp>
      <p:sp>
        <p:nvSpPr>
          <p:cNvPr id="29" name="Text 26"/>
          <p:cNvSpPr/>
          <p:nvPr/>
        </p:nvSpPr>
        <p:spPr>
          <a:xfrm>
            <a:off x="6556248" y="5138928"/>
            <a:ext cx="4892040" cy="713232"/>
          </a:xfrm>
          <a:prstGeom prst="rect">
            <a:avLst/>
          </a:prstGeom>
          <a:noFill/>
          <a:ln/>
        </p:spPr>
        <p:txBody>
          <a:bodyPr wrap="square" lIns="0" tIns="0" rIns="0" bIns="0" rtlCol="0" anchor="ctr"/>
          <a:lstStyle/>
          <a:p>
            <a:pPr indent="0" marL="0">
              <a:buNone/>
            </a:pPr>
            <a:r>
              <a:rPr lang="en-US" sz="1350" dirty="0">
                <a:solidFill>
                  <a:srgbClr val="2C3A40"/>
                </a:solidFill>
                <a:latin typeface="Arial" pitchFamily="34" charset="0"/>
                <a:ea typeface="Arial" pitchFamily="34" charset="-122"/>
                <a:cs typeface="Arial" pitchFamily="34" charset="-120"/>
              </a:rPr>
              <a:t>Hash-chained, append-only log. Unmask, promote, decide, failed logins and token reuse are all recorded.</a:t>
            </a:r>
            <a:endParaRPr lang="en-US" dirty="0"/>
          </a:p>
        </p:txBody>
      </p:sp>
      <p:sp>
        <p:nvSpPr>
          <p:cNvPr id="30" name="Shape 27"/>
          <p:cNvSpPr/>
          <p:nvPr/>
        </p:nvSpPr>
        <p:spPr>
          <a:xfrm>
            <a:off x="0" y="6510528"/>
            <a:ext cx="12191695" cy="347472"/>
          </a:xfrm>
          <a:prstGeom prst="rect">
            <a:avLst/>
          </a:prstGeom>
          <a:solidFill>
            <a:srgbClr val="0B161C"/>
          </a:solidFill>
          <a:ln/>
        </p:spPr>
      </p:sp>
      <p:sp>
        <p:nvSpPr>
          <p:cNvPr id="31" name="Text 28"/>
          <p:cNvSpPr/>
          <p:nvPr/>
        </p:nvSpPr>
        <p:spPr>
          <a:xfrm>
            <a:off x="566928" y="6510528"/>
            <a:ext cx="5120640" cy="347472"/>
          </a:xfrm>
          <a:prstGeom prst="rect">
            <a:avLst/>
          </a:prstGeom>
          <a:noFill/>
          <a:ln/>
        </p:spPr>
        <p:txBody>
          <a:bodyPr wrap="square" lIns="0" tIns="0" rIns="0" bIns="0" rtlCol="0" anchor="ctr"/>
          <a:lstStyle/>
          <a:p>
            <a:pPr indent="0" marL="0">
              <a:buNone/>
            </a:pPr>
            <a:r>
              <a:rPr lang="en-US" sz="1000" spc="120" kern="0" dirty="0">
                <a:solidFill>
                  <a:srgbClr val="7ED9CE"/>
                </a:solidFill>
                <a:latin typeface="Consolas" pitchFamily="34" charset="0"/>
                <a:ea typeface="Consolas" pitchFamily="34" charset="-122"/>
                <a:cs typeface="Consolas" pitchFamily="34" charset="-120"/>
              </a:rPr>
              <a:t>TEAM SE7EN  ·  CLAIMSHIELD NEXUS</a:t>
            </a:r>
            <a:endParaRPr lang="en-US" sz="1000" dirty="0"/>
          </a:p>
        </p:txBody>
      </p:sp>
      <p:sp>
        <p:nvSpPr>
          <p:cNvPr id="32" name="Text 29"/>
          <p:cNvSpPr/>
          <p:nvPr/>
        </p:nvSpPr>
        <p:spPr>
          <a:xfrm>
            <a:off x="5120640" y="6510528"/>
            <a:ext cx="4023360" cy="347472"/>
          </a:xfrm>
          <a:prstGeom prst="rect">
            <a:avLst/>
          </a:prstGeom>
          <a:noFill/>
          <a:ln/>
        </p:spPr>
        <p:txBody>
          <a:bodyPr wrap="square" lIns="0" tIns="0" rIns="0" bIns="0" rtlCol="0" anchor="ctr"/>
          <a:lstStyle/>
          <a:p>
            <a:pPr algn="ctr" indent="0" marL="0">
              <a:buNone/>
            </a:pPr>
            <a:r>
              <a:rPr lang="en-US" sz="1000" spc="140" kern="0" dirty="0">
                <a:solidFill>
                  <a:srgbClr val="C6A15B"/>
                </a:solidFill>
                <a:latin typeface="Consolas" pitchFamily="34" charset="0"/>
                <a:ea typeface="Consolas" pitchFamily="34" charset="-122"/>
                <a:cs typeface="Consolas" pitchFamily="34" charset="-120"/>
              </a:rPr>
              <a:t>PRODUCT</a:t>
            </a:r>
            <a:endParaRPr lang="en-US" sz="1000" dirty="0"/>
          </a:p>
        </p:txBody>
      </p:sp>
      <p:sp>
        <p:nvSpPr>
          <p:cNvPr id="33" name="Text 30"/>
          <p:cNvSpPr/>
          <p:nvPr/>
        </p:nvSpPr>
        <p:spPr>
          <a:xfrm>
            <a:off x="9509760" y="6510528"/>
            <a:ext cx="2103120" cy="347472"/>
          </a:xfrm>
          <a:prstGeom prst="rect">
            <a:avLst/>
          </a:prstGeom>
          <a:noFill/>
          <a:ln/>
        </p:spPr>
        <p:txBody>
          <a:bodyPr wrap="square" lIns="0" tIns="0" rIns="0" bIns="0" rtlCol="0" anchor="ctr"/>
          <a:lstStyle/>
          <a:p>
            <a:pPr algn="r" indent="0" marL="0">
              <a:buNone/>
            </a:pPr>
            <a:r>
              <a:rPr lang="en-US" sz="1000" spc="120" kern="0" dirty="0">
                <a:solidFill>
                  <a:srgbClr val="F6F1E8"/>
                </a:solidFill>
                <a:latin typeface="Consolas" pitchFamily="34" charset="0"/>
                <a:ea typeface="Consolas" pitchFamily="34" charset="-122"/>
                <a:cs typeface="Consolas" pitchFamily="34" charset="-120"/>
              </a:rPr>
              <a:t>03  /  10</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61C"/>
        </a:solidFill>
      </p:bgPr>
    </p:bg>
    <p:spTree>
      <p:nvGrpSpPr>
        <p:cNvPr id="1" name=""/>
        <p:cNvGrpSpPr/>
        <p:nvPr/>
      </p:nvGrpSpPr>
      <p:grpSpPr>
        <a:xfrm>
          <a:off x="0" y="0"/>
          <a:ext cx="0" cy="0"/>
          <a:chOff x="0" y="0"/>
          <a:chExt cx="0" cy="0"/>
        </a:xfrm>
      </p:grpSpPr>
      <p:sp>
        <p:nvSpPr>
          <p:cNvPr id="2" name="Text 0"/>
          <p:cNvSpPr/>
          <p:nvPr/>
        </p:nvSpPr>
        <p:spPr>
          <a:xfrm>
            <a:off x="566928" y="292608"/>
            <a:ext cx="10972800" cy="256032"/>
          </a:xfrm>
          <a:prstGeom prst="rect">
            <a:avLst/>
          </a:prstGeom>
          <a:noFill/>
          <a:ln/>
        </p:spPr>
        <p:txBody>
          <a:bodyPr wrap="square" lIns="0" tIns="0" rIns="0" bIns="0" rtlCol="0" anchor="ctr"/>
          <a:lstStyle/>
          <a:p>
            <a:pPr indent="0" marL="0">
              <a:buNone/>
            </a:pPr>
            <a:r>
              <a:rPr lang="en-US" sz="1100" spc="200" kern="0" dirty="0" b="0">
                <a:solidFill>
                  <a:srgbClr val="8AA0A6"/>
                </a:solidFill>
                <a:latin typeface="Consolas" pitchFamily="34" charset="0"/>
                <a:ea typeface="Consolas" pitchFamily="34" charset="-122"/>
                <a:cs typeface="Consolas" pitchFamily="34" charset="-120"/>
              </a:rPr>
              <a:t>04   </a:t>
            </a:r>
            <a:r>
              <a:rPr lang="en-US" sz="1100" spc="240" kern="0" dirty="0" b="1">
                <a:solidFill>
                  <a:srgbClr val="C6A15B"/>
                </a:solidFill>
                <a:latin typeface="Consolas" pitchFamily="34" charset="0"/>
                <a:ea typeface="Consolas" pitchFamily="34" charset="-122"/>
                <a:cs typeface="Consolas" pitchFamily="34" charset="-120"/>
              </a:rPr>
              <a:t>PIPELINE</a:t>
            </a:r>
            <a:endParaRPr lang="en-US" dirty="0"/>
          </a:p>
        </p:txBody>
      </p:sp>
      <p:sp>
        <p:nvSpPr>
          <p:cNvPr id="3" name="Shape 1"/>
          <p:cNvSpPr/>
          <p:nvPr/>
        </p:nvSpPr>
        <p:spPr>
          <a:xfrm>
            <a:off x="566928" y="585216"/>
            <a:ext cx="1234440" cy="32004"/>
          </a:xfrm>
          <a:prstGeom prst="rect">
            <a:avLst/>
          </a:prstGeom>
          <a:solidFill>
            <a:srgbClr val="C6A15B"/>
          </a:solidFill>
          <a:ln/>
        </p:spPr>
      </p:sp>
      <p:sp>
        <p:nvSpPr>
          <p:cNvPr id="4" name="Text 2"/>
          <p:cNvSpPr/>
          <p:nvPr/>
        </p:nvSpPr>
        <p:spPr>
          <a:xfrm>
            <a:off x="566928" y="777240"/>
            <a:ext cx="10972800" cy="457200"/>
          </a:xfrm>
          <a:prstGeom prst="rect">
            <a:avLst/>
          </a:prstGeom>
          <a:noFill/>
          <a:ln/>
        </p:spPr>
        <p:txBody>
          <a:bodyPr wrap="square" lIns="0" tIns="0" rIns="0" bIns="0" rtlCol="0" anchor="ctr"/>
          <a:lstStyle/>
          <a:p>
            <a:pPr indent="0" marL="0">
              <a:buNone/>
            </a:pPr>
            <a:r>
              <a:rPr lang="en-US" sz="2400" dirty="0">
                <a:solidFill>
                  <a:srgbClr val="F6F1E8"/>
                </a:solidFill>
                <a:latin typeface="Georgia" pitchFamily="34" charset="0"/>
                <a:ea typeface="Georgia" pitchFamily="34" charset="-122"/>
                <a:cs typeface="Georgia" pitchFamily="34" charset="-120"/>
              </a:rPr>
              <a:t>One path. Lambda never scores. FastAPI does.</a:t>
            </a:r>
            <a:endParaRPr lang="en-US" sz="2400" dirty="0"/>
          </a:p>
        </p:txBody>
      </p:sp>
      <p:sp>
        <p:nvSpPr>
          <p:cNvPr id="5" name="Shape 3"/>
          <p:cNvSpPr/>
          <p:nvPr/>
        </p:nvSpPr>
        <p:spPr>
          <a:xfrm>
            <a:off x="1069848" y="1993392"/>
            <a:ext cx="10149840" cy="22860"/>
          </a:xfrm>
          <a:prstGeom prst="rect">
            <a:avLst/>
          </a:prstGeom>
          <a:solidFill>
            <a:srgbClr val="2A414A"/>
          </a:solidFill>
          <a:ln/>
        </p:spPr>
      </p:sp>
      <p:sp>
        <p:nvSpPr>
          <p:cNvPr id="6" name="Shape 4"/>
          <p:cNvSpPr/>
          <p:nvPr/>
        </p:nvSpPr>
        <p:spPr>
          <a:xfrm>
            <a:off x="1133856" y="1828800"/>
            <a:ext cx="365760" cy="365760"/>
          </a:xfrm>
          <a:prstGeom prst="ellipse">
            <a:avLst/>
          </a:prstGeom>
          <a:solidFill>
            <a:srgbClr val="2A9A8F"/>
          </a:solidFill>
          <a:ln/>
        </p:spPr>
      </p:sp>
      <p:sp>
        <p:nvSpPr>
          <p:cNvPr id="7" name="Text 5"/>
          <p:cNvSpPr/>
          <p:nvPr/>
        </p:nvSpPr>
        <p:spPr>
          <a:xfrm>
            <a:off x="1133856" y="1828800"/>
            <a:ext cx="365760" cy="365760"/>
          </a:xfrm>
          <a:prstGeom prst="rect">
            <a:avLst/>
          </a:prstGeom>
          <a:noFill/>
          <a:ln/>
        </p:spPr>
        <p:txBody>
          <a:bodyPr wrap="square" lIns="0" tIns="0" rIns="0" bIns="0" rtlCol="0" anchor="ctr"/>
          <a:lstStyle/>
          <a:p>
            <a:pPr algn="ctr" indent="0" marL="0">
              <a:buNone/>
            </a:pPr>
            <a:r>
              <a:rPr lang="en-US" sz="1200" b="1" dirty="0">
                <a:solidFill>
                  <a:srgbClr val="0B161C"/>
                </a:solidFill>
                <a:latin typeface="Consolas" pitchFamily="34" charset="0"/>
                <a:ea typeface="Consolas" pitchFamily="34" charset="-122"/>
                <a:cs typeface="Consolas" pitchFamily="34" charset="-120"/>
              </a:rPr>
              <a:t>1</a:t>
            </a:r>
            <a:endParaRPr lang="en-US" sz="1200" dirty="0"/>
          </a:p>
        </p:txBody>
      </p:sp>
      <p:sp>
        <p:nvSpPr>
          <p:cNvPr id="8" name="Text 6"/>
          <p:cNvSpPr/>
          <p:nvPr/>
        </p:nvSpPr>
        <p:spPr>
          <a:xfrm>
            <a:off x="566928" y="2423160"/>
            <a:ext cx="1783080" cy="640080"/>
          </a:xfrm>
          <a:prstGeom prst="rect">
            <a:avLst/>
          </a:prstGeom>
          <a:noFill/>
          <a:ln/>
        </p:spPr>
        <p:txBody>
          <a:bodyPr wrap="square" lIns="0" tIns="0" rIns="0" bIns="0" rtlCol="0" anchor="ctr"/>
          <a:lstStyle/>
          <a:p>
            <a:pPr algn="ctr" indent="0" marL="0">
              <a:buNone/>
            </a:pPr>
            <a:r>
              <a:rPr lang="en-US" sz="1600" dirty="0">
                <a:solidFill>
                  <a:srgbClr val="F6F1E8"/>
                </a:solidFill>
                <a:latin typeface="Georgia" pitchFamily="34" charset="0"/>
                <a:ea typeface="Georgia" pitchFamily="34" charset="-122"/>
                <a:cs typeface="Georgia" pitchFamily="34" charset="-120"/>
              </a:rPr>
              <a:t>01  Extract</a:t>
            </a:r>
            <a:endParaRPr lang="en-US" dirty="0"/>
          </a:p>
        </p:txBody>
      </p:sp>
      <p:sp>
        <p:nvSpPr>
          <p:cNvPr id="9" name="Text 7"/>
          <p:cNvSpPr/>
          <p:nvPr/>
        </p:nvSpPr>
        <p:spPr>
          <a:xfrm>
            <a:off x="612648" y="3108960"/>
            <a:ext cx="1737360" cy="1463040"/>
          </a:xfrm>
          <a:prstGeom prst="rect">
            <a:avLst/>
          </a:prstGeom>
          <a:noFill/>
          <a:ln/>
        </p:spPr>
        <p:txBody>
          <a:bodyPr wrap="square" lIns="0" tIns="0" rIns="0" bIns="0" rtlCol="0" anchor="t"/>
          <a:lstStyle/>
          <a:p>
            <a:pPr algn="ctr" indent="0" marL="0">
              <a:buNone/>
            </a:pPr>
            <a:r>
              <a:rPr lang="en-US" sz="1300" dirty="0">
                <a:solidFill>
                  <a:srgbClr val="8AA0A6"/>
                </a:solidFill>
                <a:latin typeface="Arial" pitchFamily="34" charset="0"/>
                <a:ea typeface="Arial" pitchFamily="34" charset="-122"/>
                <a:cs typeface="Arial" pitchFamily="34" charset="-120"/>
              </a:rPr>
              <a:t>tiny / seed 7 generator or S3 CSVs. member, provider, claim, claim_line required.</a:t>
            </a:r>
            <a:endParaRPr lang="en-US" dirty="0"/>
          </a:p>
        </p:txBody>
      </p:sp>
      <p:sp>
        <p:nvSpPr>
          <p:cNvPr id="10" name="Shape 8"/>
          <p:cNvSpPr/>
          <p:nvPr/>
        </p:nvSpPr>
        <p:spPr>
          <a:xfrm>
            <a:off x="3008376" y="1828800"/>
            <a:ext cx="365760" cy="365760"/>
          </a:xfrm>
          <a:prstGeom prst="ellipse">
            <a:avLst/>
          </a:prstGeom>
          <a:solidFill>
            <a:srgbClr val="2A9A8F"/>
          </a:solidFill>
          <a:ln/>
        </p:spPr>
      </p:sp>
      <p:sp>
        <p:nvSpPr>
          <p:cNvPr id="11" name="Text 9"/>
          <p:cNvSpPr/>
          <p:nvPr/>
        </p:nvSpPr>
        <p:spPr>
          <a:xfrm>
            <a:off x="3008376" y="1828800"/>
            <a:ext cx="365760" cy="365760"/>
          </a:xfrm>
          <a:prstGeom prst="rect">
            <a:avLst/>
          </a:prstGeom>
          <a:noFill/>
          <a:ln/>
        </p:spPr>
        <p:txBody>
          <a:bodyPr wrap="square" lIns="0" tIns="0" rIns="0" bIns="0" rtlCol="0" anchor="ctr"/>
          <a:lstStyle/>
          <a:p>
            <a:pPr algn="ctr" indent="0" marL="0">
              <a:buNone/>
            </a:pPr>
            <a:r>
              <a:rPr lang="en-US" sz="1200" b="1" dirty="0">
                <a:solidFill>
                  <a:srgbClr val="0B161C"/>
                </a:solidFill>
                <a:latin typeface="Consolas" pitchFamily="34" charset="0"/>
                <a:ea typeface="Consolas" pitchFamily="34" charset="-122"/>
                <a:cs typeface="Consolas" pitchFamily="34" charset="-120"/>
              </a:rPr>
              <a:t>2</a:t>
            </a:r>
            <a:endParaRPr lang="en-US" sz="1200" dirty="0"/>
          </a:p>
        </p:txBody>
      </p:sp>
      <p:sp>
        <p:nvSpPr>
          <p:cNvPr id="12" name="Text 10"/>
          <p:cNvSpPr/>
          <p:nvPr/>
        </p:nvSpPr>
        <p:spPr>
          <a:xfrm>
            <a:off x="2441448" y="2423160"/>
            <a:ext cx="1783080" cy="640080"/>
          </a:xfrm>
          <a:prstGeom prst="rect">
            <a:avLst/>
          </a:prstGeom>
          <a:noFill/>
          <a:ln/>
        </p:spPr>
        <p:txBody>
          <a:bodyPr wrap="square" lIns="0" tIns="0" rIns="0" bIns="0" rtlCol="0" anchor="ctr"/>
          <a:lstStyle/>
          <a:p>
            <a:pPr algn="ctr" indent="0" marL="0">
              <a:buNone/>
            </a:pPr>
            <a:r>
              <a:rPr lang="en-US" sz="1600" dirty="0">
                <a:solidFill>
                  <a:srgbClr val="F6F1E8"/>
                </a:solidFill>
                <a:latin typeface="Georgia" pitchFamily="34" charset="0"/>
                <a:ea typeface="Georgia" pitchFamily="34" charset="-122"/>
                <a:cs typeface="Georgia" pitchFamily="34" charset="-120"/>
              </a:rPr>
              <a:t>02  Rules</a:t>
            </a:r>
            <a:endParaRPr lang="en-US" dirty="0"/>
          </a:p>
        </p:txBody>
      </p:sp>
      <p:sp>
        <p:nvSpPr>
          <p:cNvPr id="13" name="Text 11"/>
          <p:cNvSpPr/>
          <p:nvPr/>
        </p:nvSpPr>
        <p:spPr>
          <a:xfrm>
            <a:off x="2487168" y="3108960"/>
            <a:ext cx="1737360" cy="1463040"/>
          </a:xfrm>
          <a:prstGeom prst="rect">
            <a:avLst/>
          </a:prstGeom>
          <a:noFill/>
          <a:ln/>
        </p:spPr>
        <p:txBody>
          <a:bodyPr wrap="square" lIns="0" tIns="0" rIns="0" bIns="0" rtlCol="0" anchor="t"/>
          <a:lstStyle/>
          <a:p>
            <a:pPr algn="ctr" indent="0" marL="0">
              <a:buNone/>
            </a:pPr>
            <a:r>
              <a:rPr lang="en-US" sz="1300" dirty="0">
                <a:solidFill>
                  <a:srgbClr val="8AA0A6"/>
                </a:solidFill>
                <a:latin typeface="Arial" pitchFamily="34" charset="0"/>
                <a:ea typeface="Arial" pitchFamily="34" charset="-122"/>
                <a:cs typeface="Arial" pitchFamily="34" charset="-120"/>
              </a:rPr>
              <a:t>18-rule catalog: duplicate, after death, excluded party, unit cap, 960-min day, PTP.</a:t>
            </a:r>
            <a:endParaRPr lang="en-US" dirty="0"/>
          </a:p>
        </p:txBody>
      </p:sp>
      <p:sp>
        <p:nvSpPr>
          <p:cNvPr id="14" name="Shape 12"/>
          <p:cNvSpPr/>
          <p:nvPr/>
        </p:nvSpPr>
        <p:spPr>
          <a:xfrm>
            <a:off x="4882896" y="1828800"/>
            <a:ext cx="365760" cy="365760"/>
          </a:xfrm>
          <a:prstGeom prst="ellipse">
            <a:avLst/>
          </a:prstGeom>
          <a:solidFill>
            <a:srgbClr val="2A9A8F"/>
          </a:solidFill>
          <a:ln/>
        </p:spPr>
      </p:sp>
      <p:sp>
        <p:nvSpPr>
          <p:cNvPr id="15" name="Text 13"/>
          <p:cNvSpPr/>
          <p:nvPr/>
        </p:nvSpPr>
        <p:spPr>
          <a:xfrm>
            <a:off x="4882896" y="1828800"/>
            <a:ext cx="365760" cy="365760"/>
          </a:xfrm>
          <a:prstGeom prst="rect">
            <a:avLst/>
          </a:prstGeom>
          <a:noFill/>
          <a:ln/>
        </p:spPr>
        <p:txBody>
          <a:bodyPr wrap="square" lIns="0" tIns="0" rIns="0" bIns="0" rtlCol="0" anchor="ctr"/>
          <a:lstStyle/>
          <a:p>
            <a:pPr algn="ctr" indent="0" marL="0">
              <a:buNone/>
            </a:pPr>
            <a:r>
              <a:rPr lang="en-US" sz="1200" b="1" dirty="0">
                <a:solidFill>
                  <a:srgbClr val="0B161C"/>
                </a:solidFill>
                <a:latin typeface="Consolas" pitchFamily="34" charset="0"/>
                <a:ea typeface="Consolas" pitchFamily="34" charset="-122"/>
                <a:cs typeface="Consolas" pitchFamily="34" charset="-120"/>
              </a:rPr>
              <a:t>3</a:t>
            </a:r>
            <a:endParaRPr lang="en-US" sz="1200" dirty="0"/>
          </a:p>
        </p:txBody>
      </p:sp>
      <p:sp>
        <p:nvSpPr>
          <p:cNvPr id="16" name="Text 14"/>
          <p:cNvSpPr/>
          <p:nvPr/>
        </p:nvSpPr>
        <p:spPr>
          <a:xfrm>
            <a:off x="4315968" y="2423160"/>
            <a:ext cx="1783080" cy="640080"/>
          </a:xfrm>
          <a:prstGeom prst="rect">
            <a:avLst/>
          </a:prstGeom>
          <a:noFill/>
          <a:ln/>
        </p:spPr>
        <p:txBody>
          <a:bodyPr wrap="square" lIns="0" tIns="0" rIns="0" bIns="0" rtlCol="0" anchor="ctr"/>
          <a:lstStyle/>
          <a:p>
            <a:pPr algn="ctr" indent="0" marL="0">
              <a:buNone/>
            </a:pPr>
            <a:r>
              <a:rPr lang="en-US" sz="1600" dirty="0">
                <a:solidFill>
                  <a:srgbClr val="F6F1E8"/>
                </a:solidFill>
                <a:latin typeface="Georgia" pitchFamily="34" charset="0"/>
                <a:ea typeface="Georgia" pitchFamily="34" charset="-122"/>
                <a:cs typeface="Georgia" pitchFamily="34" charset="-120"/>
              </a:rPr>
              <a:t>03  Peers</a:t>
            </a:r>
            <a:endParaRPr lang="en-US" dirty="0"/>
          </a:p>
        </p:txBody>
      </p:sp>
      <p:sp>
        <p:nvSpPr>
          <p:cNvPr id="17" name="Text 15"/>
          <p:cNvSpPr/>
          <p:nvPr/>
        </p:nvSpPr>
        <p:spPr>
          <a:xfrm>
            <a:off x="4361688" y="3108960"/>
            <a:ext cx="1737360" cy="1463040"/>
          </a:xfrm>
          <a:prstGeom prst="rect">
            <a:avLst/>
          </a:prstGeom>
          <a:noFill/>
          <a:ln/>
        </p:spPr>
        <p:txBody>
          <a:bodyPr wrap="square" lIns="0" tIns="0" rIns="0" bIns="0" rtlCol="0" anchor="t"/>
          <a:lstStyle/>
          <a:p>
            <a:pPr algn="ctr" indent="0" marL="0">
              <a:buNone/>
            </a:pPr>
            <a:r>
              <a:rPr lang="en-US" sz="1300" dirty="0">
                <a:solidFill>
                  <a:srgbClr val="8AA0A6"/>
                </a:solidFill>
                <a:latin typeface="Arial" pitchFamily="34" charset="0"/>
                <a:ea typeface="Arial" pitchFamily="34" charset="-122"/>
                <a:cs typeface="Arial" pitchFamily="34" charset="-120"/>
              </a:rPr>
              <a:t>Robust z vs like-with-like specialty, type, rural. A baseline, never co-subjects.</a:t>
            </a:r>
            <a:endParaRPr lang="en-US" dirty="0"/>
          </a:p>
        </p:txBody>
      </p:sp>
      <p:sp>
        <p:nvSpPr>
          <p:cNvPr id="18" name="Shape 16"/>
          <p:cNvSpPr/>
          <p:nvPr/>
        </p:nvSpPr>
        <p:spPr>
          <a:xfrm>
            <a:off x="6757416" y="1828800"/>
            <a:ext cx="365760" cy="365760"/>
          </a:xfrm>
          <a:prstGeom prst="ellipse">
            <a:avLst/>
          </a:prstGeom>
          <a:solidFill>
            <a:srgbClr val="2A9A8F"/>
          </a:solidFill>
          <a:ln/>
        </p:spPr>
      </p:sp>
      <p:sp>
        <p:nvSpPr>
          <p:cNvPr id="19" name="Text 17"/>
          <p:cNvSpPr/>
          <p:nvPr/>
        </p:nvSpPr>
        <p:spPr>
          <a:xfrm>
            <a:off x="6757416" y="1828800"/>
            <a:ext cx="365760" cy="365760"/>
          </a:xfrm>
          <a:prstGeom prst="rect">
            <a:avLst/>
          </a:prstGeom>
          <a:noFill/>
          <a:ln/>
        </p:spPr>
        <p:txBody>
          <a:bodyPr wrap="square" lIns="0" tIns="0" rIns="0" bIns="0" rtlCol="0" anchor="ctr"/>
          <a:lstStyle/>
          <a:p>
            <a:pPr algn="ctr" indent="0" marL="0">
              <a:buNone/>
            </a:pPr>
            <a:r>
              <a:rPr lang="en-US" sz="1200" b="1" dirty="0">
                <a:solidFill>
                  <a:srgbClr val="0B161C"/>
                </a:solidFill>
                <a:latin typeface="Consolas" pitchFamily="34" charset="0"/>
                <a:ea typeface="Consolas" pitchFamily="34" charset="-122"/>
                <a:cs typeface="Consolas" pitchFamily="34" charset="-120"/>
              </a:rPr>
              <a:t>4</a:t>
            </a:r>
            <a:endParaRPr lang="en-US" sz="1200" dirty="0"/>
          </a:p>
        </p:txBody>
      </p:sp>
      <p:sp>
        <p:nvSpPr>
          <p:cNvPr id="20" name="Text 18"/>
          <p:cNvSpPr/>
          <p:nvPr/>
        </p:nvSpPr>
        <p:spPr>
          <a:xfrm>
            <a:off x="6190488" y="2423160"/>
            <a:ext cx="1783080" cy="640080"/>
          </a:xfrm>
          <a:prstGeom prst="rect">
            <a:avLst/>
          </a:prstGeom>
          <a:noFill/>
          <a:ln/>
        </p:spPr>
        <p:txBody>
          <a:bodyPr wrap="square" lIns="0" tIns="0" rIns="0" bIns="0" rtlCol="0" anchor="ctr"/>
          <a:lstStyle/>
          <a:p>
            <a:pPr algn="ctr" indent="0" marL="0">
              <a:buNone/>
            </a:pPr>
            <a:r>
              <a:rPr lang="en-US" sz="1600" dirty="0">
                <a:solidFill>
                  <a:srgbClr val="F6F1E8"/>
                </a:solidFill>
                <a:latin typeface="Georgia" pitchFamily="34" charset="0"/>
                <a:ea typeface="Georgia" pitchFamily="34" charset="-122"/>
                <a:cs typeface="Georgia" pitchFamily="34" charset="-120"/>
              </a:rPr>
              <a:t>04  Graph</a:t>
            </a:r>
            <a:endParaRPr lang="en-US" dirty="0"/>
          </a:p>
        </p:txBody>
      </p:sp>
      <p:sp>
        <p:nvSpPr>
          <p:cNvPr id="21" name="Text 19"/>
          <p:cNvSpPr/>
          <p:nvPr/>
        </p:nvSpPr>
        <p:spPr>
          <a:xfrm>
            <a:off x="6236208" y="3108960"/>
            <a:ext cx="1737360" cy="1463040"/>
          </a:xfrm>
          <a:prstGeom prst="rect">
            <a:avLst/>
          </a:prstGeom>
          <a:noFill/>
          <a:ln/>
        </p:spPr>
        <p:txBody>
          <a:bodyPr wrap="square" lIns="0" tIns="0" rIns="0" bIns="0" rtlCol="0" anchor="t"/>
          <a:lstStyle/>
          <a:p>
            <a:pPr algn="ctr" indent="0" marL="0">
              <a:buNone/>
            </a:pPr>
            <a:r>
              <a:rPr lang="en-US" sz="1300" dirty="0">
                <a:solidFill>
                  <a:srgbClr val="8AA0A6"/>
                </a:solidFill>
                <a:latin typeface="Arial" pitchFamily="34" charset="0"/>
                <a:ea typeface="Arial" pitchFamily="34" charset="-122"/>
                <a:cs typeface="Arial" pitchFamily="34" charset="-120"/>
              </a:rPr>
              <a:t>NetworkX owner, TIN, contact, referral links. Rings and excluded owners live here.</a:t>
            </a:r>
            <a:endParaRPr lang="en-US" dirty="0"/>
          </a:p>
        </p:txBody>
      </p:sp>
      <p:sp>
        <p:nvSpPr>
          <p:cNvPr id="22" name="Shape 20"/>
          <p:cNvSpPr/>
          <p:nvPr/>
        </p:nvSpPr>
        <p:spPr>
          <a:xfrm>
            <a:off x="8631936" y="1828800"/>
            <a:ext cx="365760" cy="365760"/>
          </a:xfrm>
          <a:prstGeom prst="ellipse">
            <a:avLst/>
          </a:prstGeom>
          <a:solidFill>
            <a:srgbClr val="2A9A8F"/>
          </a:solidFill>
          <a:ln/>
        </p:spPr>
      </p:sp>
      <p:sp>
        <p:nvSpPr>
          <p:cNvPr id="23" name="Text 21"/>
          <p:cNvSpPr/>
          <p:nvPr/>
        </p:nvSpPr>
        <p:spPr>
          <a:xfrm>
            <a:off x="8631936" y="1828800"/>
            <a:ext cx="365760" cy="365760"/>
          </a:xfrm>
          <a:prstGeom prst="rect">
            <a:avLst/>
          </a:prstGeom>
          <a:noFill/>
          <a:ln/>
        </p:spPr>
        <p:txBody>
          <a:bodyPr wrap="square" lIns="0" tIns="0" rIns="0" bIns="0" rtlCol="0" anchor="ctr"/>
          <a:lstStyle/>
          <a:p>
            <a:pPr algn="ctr" indent="0" marL="0">
              <a:buNone/>
            </a:pPr>
            <a:r>
              <a:rPr lang="en-US" sz="1200" b="1" dirty="0">
                <a:solidFill>
                  <a:srgbClr val="0B161C"/>
                </a:solidFill>
                <a:latin typeface="Consolas" pitchFamily="34" charset="0"/>
                <a:ea typeface="Consolas" pitchFamily="34" charset="-122"/>
                <a:cs typeface="Consolas" pitchFamily="34" charset="-120"/>
              </a:rPr>
              <a:t>5</a:t>
            </a:r>
            <a:endParaRPr lang="en-US" sz="1200" dirty="0"/>
          </a:p>
        </p:txBody>
      </p:sp>
      <p:sp>
        <p:nvSpPr>
          <p:cNvPr id="24" name="Text 22"/>
          <p:cNvSpPr/>
          <p:nvPr/>
        </p:nvSpPr>
        <p:spPr>
          <a:xfrm>
            <a:off x="8065008" y="2423160"/>
            <a:ext cx="1783080" cy="640080"/>
          </a:xfrm>
          <a:prstGeom prst="rect">
            <a:avLst/>
          </a:prstGeom>
          <a:noFill/>
          <a:ln/>
        </p:spPr>
        <p:txBody>
          <a:bodyPr wrap="square" lIns="0" tIns="0" rIns="0" bIns="0" rtlCol="0" anchor="ctr"/>
          <a:lstStyle/>
          <a:p>
            <a:pPr algn="ctr" indent="0" marL="0">
              <a:buNone/>
            </a:pPr>
            <a:r>
              <a:rPr lang="en-US" sz="1600" dirty="0">
                <a:solidFill>
                  <a:srgbClr val="F6F1E8"/>
                </a:solidFill>
                <a:latin typeface="Georgia" pitchFamily="34" charset="0"/>
                <a:ea typeface="Georgia" pitchFamily="34" charset="-122"/>
                <a:cs typeface="Georgia" pitchFamily="34" charset="-120"/>
              </a:rPr>
              <a:t>05  Cases</a:t>
            </a:r>
            <a:endParaRPr lang="en-US" dirty="0"/>
          </a:p>
        </p:txBody>
      </p:sp>
      <p:sp>
        <p:nvSpPr>
          <p:cNvPr id="25" name="Text 23"/>
          <p:cNvSpPr/>
          <p:nvPr/>
        </p:nvSpPr>
        <p:spPr>
          <a:xfrm>
            <a:off x="8110728" y="3108960"/>
            <a:ext cx="1737360" cy="1463040"/>
          </a:xfrm>
          <a:prstGeom prst="rect">
            <a:avLst/>
          </a:prstGeom>
          <a:noFill/>
          <a:ln/>
        </p:spPr>
        <p:txBody>
          <a:bodyPr wrap="square" lIns="0" tIns="0" rIns="0" bIns="0" rtlCol="0" anchor="t"/>
          <a:lstStyle/>
          <a:p>
            <a:pPr algn="ctr" indent="0" marL="0">
              <a:buNone/>
            </a:pPr>
            <a:r>
              <a:rPr lang="en-US" sz="1300" dirty="0">
                <a:solidFill>
                  <a:srgbClr val="8AA0A6"/>
                </a:solidFill>
                <a:latin typeface="Arial" pitchFamily="34" charset="0"/>
                <a:ea typeface="Arial" pitchFamily="34" charset="-122"/>
                <a:cs typeface="Arial" pitchFamily="34" charset="-120"/>
              </a:rPr>
              <a:t>One billing NPI, one case. Extra NPIs join only on a visible link.</a:t>
            </a:r>
            <a:endParaRPr lang="en-US" dirty="0"/>
          </a:p>
        </p:txBody>
      </p:sp>
      <p:sp>
        <p:nvSpPr>
          <p:cNvPr id="26" name="Shape 24"/>
          <p:cNvSpPr/>
          <p:nvPr/>
        </p:nvSpPr>
        <p:spPr>
          <a:xfrm>
            <a:off x="10506456" y="1828800"/>
            <a:ext cx="365760" cy="365760"/>
          </a:xfrm>
          <a:prstGeom prst="ellipse">
            <a:avLst/>
          </a:prstGeom>
          <a:solidFill>
            <a:srgbClr val="2A9A8F"/>
          </a:solidFill>
          <a:ln/>
        </p:spPr>
      </p:sp>
      <p:sp>
        <p:nvSpPr>
          <p:cNvPr id="27" name="Text 25"/>
          <p:cNvSpPr/>
          <p:nvPr/>
        </p:nvSpPr>
        <p:spPr>
          <a:xfrm>
            <a:off x="10506456" y="1828800"/>
            <a:ext cx="365760" cy="365760"/>
          </a:xfrm>
          <a:prstGeom prst="rect">
            <a:avLst/>
          </a:prstGeom>
          <a:noFill/>
          <a:ln/>
        </p:spPr>
        <p:txBody>
          <a:bodyPr wrap="square" lIns="0" tIns="0" rIns="0" bIns="0" rtlCol="0" anchor="ctr"/>
          <a:lstStyle/>
          <a:p>
            <a:pPr algn="ctr" indent="0" marL="0">
              <a:buNone/>
            </a:pPr>
            <a:r>
              <a:rPr lang="en-US" sz="1200" b="1" dirty="0">
                <a:solidFill>
                  <a:srgbClr val="0B161C"/>
                </a:solidFill>
                <a:latin typeface="Consolas" pitchFamily="34" charset="0"/>
                <a:ea typeface="Consolas" pitchFamily="34" charset="-122"/>
                <a:cs typeface="Consolas" pitchFamily="34" charset="-120"/>
              </a:rPr>
              <a:t>6</a:t>
            </a:r>
            <a:endParaRPr lang="en-US" sz="1200" dirty="0"/>
          </a:p>
        </p:txBody>
      </p:sp>
      <p:sp>
        <p:nvSpPr>
          <p:cNvPr id="28" name="Text 26"/>
          <p:cNvSpPr/>
          <p:nvPr/>
        </p:nvSpPr>
        <p:spPr>
          <a:xfrm>
            <a:off x="9939528" y="2423160"/>
            <a:ext cx="1783080" cy="640080"/>
          </a:xfrm>
          <a:prstGeom prst="rect">
            <a:avLst/>
          </a:prstGeom>
          <a:noFill/>
          <a:ln/>
        </p:spPr>
        <p:txBody>
          <a:bodyPr wrap="square" lIns="0" tIns="0" rIns="0" bIns="0" rtlCol="0" anchor="ctr"/>
          <a:lstStyle/>
          <a:p>
            <a:pPr algn="ctr" indent="0" marL="0">
              <a:buNone/>
            </a:pPr>
            <a:r>
              <a:rPr lang="en-US" sz="1600" dirty="0">
                <a:solidFill>
                  <a:srgbClr val="F6F1E8"/>
                </a:solidFill>
                <a:latin typeface="Georgia" pitchFamily="34" charset="0"/>
                <a:ea typeface="Georgia" pitchFamily="34" charset="-122"/>
                <a:cs typeface="Georgia" pitchFamily="34" charset="-120"/>
              </a:rPr>
              <a:t>06  Desk</a:t>
            </a:r>
            <a:endParaRPr lang="en-US" dirty="0"/>
          </a:p>
        </p:txBody>
      </p:sp>
      <p:sp>
        <p:nvSpPr>
          <p:cNvPr id="29" name="Text 27"/>
          <p:cNvSpPr/>
          <p:nvPr/>
        </p:nvSpPr>
        <p:spPr>
          <a:xfrm>
            <a:off x="9985248" y="3108960"/>
            <a:ext cx="1737360" cy="1463040"/>
          </a:xfrm>
          <a:prstGeom prst="rect">
            <a:avLst/>
          </a:prstGeom>
          <a:noFill/>
          <a:ln/>
        </p:spPr>
        <p:txBody>
          <a:bodyPr wrap="square" lIns="0" tIns="0" rIns="0" bIns="0" rtlCol="0" anchor="t"/>
          <a:lstStyle/>
          <a:p>
            <a:pPr algn="ctr" indent="0" marL="0">
              <a:buNone/>
            </a:pPr>
            <a:r>
              <a:rPr lang="en-US" sz="1300" dirty="0">
                <a:solidFill>
                  <a:srgbClr val="8AA0A6"/>
                </a:solidFill>
                <a:latin typeface="Arial" pitchFamily="34" charset="0"/>
                <a:ea typeface="Arial" pitchFamily="34" charset="-122"/>
                <a:cs typeface="Arial" pitchFamily="34" charset="-120"/>
              </a:rPr>
              <a:t>Harm ≥ 4 first. Knapsack fills today’s hours. 20 slots; the rest is tracked backlog.</a:t>
            </a:r>
            <a:endParaRPr lang="en-US" dirty="0"/>
          </a:p>
        </p:txBody>
      </p:sp>
      <p:sp>
        <p:nvSpPr>
          <p:cNvPr id="30" name="Text 28"/>
          <p:cNvSpPr/>
          <p:nvPr/>
        </p:nvSpPr>
        <p:spPr>
          <a:xfrm>
            <a:off x="566928" y="4846320"/>
            <a:ext cx="10972800" cy="731520"/>
          </a:xfrm>
          <a:prstGeom prst="rect">
            <a:avLst/>
          </a:prstGeom>
          <a:noFill/>
          <a:ln/>
        </p:spPr>
        <p:txBody>
          <a:bodyPr wrap="square" lIns="0" tIns="0" rIns="0" bIns="0" rtlCol="0" anchor="ctr"/>
          <a:lstStyle/>
          <a:p>
            <a:pPr indent="0" marL="0">
              <a:buNone/>
            </a:pPr>
            <a:r>
              <a:rPr lang="en-US" sz="1300" dirty="0">
                <a:solidFill>
                  <a:srgbClr val="C6A15B"/>
                </a:solidFill>
                <a:latin typeface="Consolas" pitchFamily="34" charset="0"/>
                <a:ea typeface="Consolas" pitchFamily="34" charset="-122"/>
                <a:cs typeface="Consolas" pitchFamily="34" charset="-120"/>
              </a:rPr>
              <a:t>Ground-truth labels are never features. No AMA CPT. Synthetic NPIs pass Luhn.</a:t>
            </a:r>
            <a:endParaRPr lang="en-US" dirty="0"/>
          </a:p>
          <a:p>
            <a:pPr indent="0" marL="0">
              <a:spcBef>
                <a:spcPts val="600"/>
              </a:spcBef>
              <a:buNone/>
            </a:pPr>
            <a:r>
              <a:rPr lang="en-US" sz="1300" dirty="0">
                <a:solidFill>
                  <a:srgbClr val="7ED9CE"/>
                </a:solidFill>
                <a:latin typeface="Consolas" pitchFamily="34" charset="0"/>
                <a:ea typeface="Consolas" pitchFamily="34" charset="-122"/>
                <a:cs typeface="Consolas" pitchFamily="34" charset="-120"/>
              </a:rPr>
              <a:t>Two doors, one engine: POST /api/v1/batches (laptop) or POST /api/v1/aws/ingest (Lambda).</a:t>
            </a:r>
            <a:endParaRPr lang="en-US" dirty="0"/>
          </a:p>
        </p:txBody>
      </p:sp>
      <p:sp>
        <p:nvSpPr>
          <p:cNvPr id="31" name="Text 29"/>
          <p:cNvSpPr/>
          <p:nvPr/>
        </p:nvSpPr>
        <p:spPr>
          <a:xfrm>
            <a:off x="566928" y="6473952"/>
            <a:ext cx="5120640" cy="219456"/>
          </a:xfrm>
          <a:prstGeom prst="rect">
            <a:avLst/>
          </a:prstGeom>
          <a:noFill/>
          <a:ln/>
        </p:spPr>
        <p:txBody>
          <a:bodyPr wrap="square" lIns="0" tIns="0" rIns="0" bIns="0" rtlCol="0" anchor="ctr"/>
          <a:lstStyle/>
          <a:p>
            <a:pPr indent="0" marL="0">
              <a:buNone/>
            </a:pPr>
            <a:r>
              <a:rPr lang="en-US" sz="1000" spc="140" kern="0" dirty="0">
                <a:solidFill>
                  <a:srgbClr val="8AA0A6"/>
                </a:solidFill>
                <a:latin typeface="Consolas" pitchFamily="34" charset="0"/>
                <a:ea typeface="Consolas" pitchFamily="34" charset="-122"/>
                <a:cs typeface="Consolas" pitchFamily="34" charset="-120"/>
              </a:rPr>
              <a:t>TEAM SE7EN  ·  CLAIMSHIELD NEXUS</a:t>
            </a:r>
            <a:endParaRPr lang="en-US" sz="1000" dirty="0"/>
          </a:p>
        </p:txBody>
      </p:sp>
      <p:sp>
        <p:nvSpPr>
          <p:cNvPr id="32" name="Text 30"/>
          <p:cNvSpPr/>
          <p:nvPr/>
        </p:nvSpPr>
        <p:spPr>
          <a:xfrm>
            <a:off x="5120640" y="6473952"/>
            <a:ext cx="4023360" cy="219456"/>
          </a:xfrm>
          <a:prstGeom prst="rect">
            <a:avLst/>
          </a:prstGeom>
          <a:noFill/>
          <a:ln/>
        </p:spPr>
        <p:txBody>
          <a:bodyPr wrap="square" lIns="0" tIns="0" rIns="0" bIns="0" rtlCol="0" anchor="ctr"/>
          <a:lstStyle/>
          <a:p>
            <a:pPr algn="ctr" indent="0" marL="0">
              <a:buNone/>
            </a:pPr>
            <a:r>
              <a:rPr lang="en-US" sz="1000" spc="160" kern="0" dirty="0">
                <a:solidFill>
                  <a:srgbClr val="C6A15B"/>
                </a:solidFill>
                <a:latin typeface="Consolas" pitchFamily="34" charset="0"/>
                <a:ea typeface="Consolas" pitchFamily="34" charset="-122"/>
                <a:cs typeface="Consolas" pitchFamily="34" charset="-120"/>
              </a:rPr>
              <a:t>PIPELINE</a:t>
            </a:r>
            <a:endParaRPr lang="en-US" sz="1000" dirty="0"/>
          </a:p>
        </p:txBody>
      </p:sp>
      <p:sp>
        <p:nvSpPr>
          <p:cNvPr id="33" name="Text 31"/>
          <p:cNvSpPr/>
          <p:nvPr/>
        </p:nvSpPr>
        <p:spPr>
          <a:xfrm>
            <a:off x="9509760" y="6473952"/>
            <a:ext cx="2103120" cy="219456"/>
          </a:xfrm>
          <a:prstGeom prst="rect">
            <a:avLst/>
          </a:prstGeom>
          <a:noFill/>
          <a:ln/>
        </p:spPr>
        <p:txBody>
          <a:bodyPr wrap="square" lIns="0" tIns="0" rIns="0" bIns="0" rtlCol="0" anchor="ctr"/>
          <a:lstStyle/>
          <a:p>
            <a:pPr algn="r" indent="0" marL="0">
              <a:buNone/>
            </a:pPr>
            <a:r>
              <a:rPr lang="en-US" sz="1000" spc="140" kern="0" dirty="0">
                <a:solidFill>
                  <a:srgbClr val="8AA0A6"/>
                </a:solidFill>
                <a:latin typeface="Consolas" pitchFamily="34" charset="0"/>
                <a:ea typeface="Consolas" pitchFamily="34" charset="-122"/>
                <a:cs typeface="Consolas" pitchFamily="34" charset="-120"/>
              </a:rPr>
              <a:t>04  /  10</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292608"/>
            <a:ext cx="10972800" cy="256032"/>
          </a:xfrm>
          <a:prstGeom prst="rect">
            <a:avLst/>
          </a:prstGeom>
          <a:noFill/>
          <a:ln/>
        </p:spPr>
        <p:txBody>
          <a:bodyPr wrap="square" lIns="0" tIns="0" rIns="0" bIns="0" rtlCol="0" anchor="ctr"/>
          <a:lstStyle/>
          <a:p>
            <a:pPr indent="0" marL="0">
              <a:buNone/>
            </a:pPr>
            <a:r>
              <a:rPr lang="en-US" sz="1100" spc="200" kern="0" dirty="0" b="0">
                <a:solidFill>
                  <a:srgbClr val="7A8A90"/>
                </a:solidFill>
                <a:latin typeface="Consolas" pitchFamily="34" charset="0"/>
                <a:ea typeface="Consolas" pitchFamily="34" charset="-122"/>
                <a:cs typeface="Consolas" pitchFamily="34" charset="-120"/>
              </a:rPr>
              <a:t>05   </a:t>
            </a:r>
            <a:r>
              <a:rPr lang="en-US" sz="1100" spc="240" kern="0" dirty="0" b="1">
                <a:solidFill>
                  <a:srgbClr val="2A9A8F"/>
                </a:solidFill>
                <a:latin typeface="Consolas" pitchFamily="34" charset="0"/>
                <a:ea typeface="Consolas" pitchFamily="34" charset="-122"/>
                <a:cs typeface="Consolas" pitchFamily="34" charset="-120"/>
              </a:rPr>
              <a:t>ARCHITECTURE</a:t>
            </a:r>
            <a:endParaRPr lang="en-US" dirty="0"/>
          </a:p>
        </p:txBody>
      </p:sp>
      <p:sp>
        <p:nvSpPr>
          <p:cNvPr id="4" name="Shape 1"/>
          <p:cNvSpPr/>
          <p:nvPr/>
        </p:nvSpPr>
        <p:spPr>
          <a:xfrm>
            <a:off x="566928" y="585216"/>
            <a:ext cx="1234440" cy="32004"/>
          </a:xfrm>
          <a:prstGeom prst="rect">
            <a:avLst/>
          </a:prstGeom>
          <a:solidFill>
            <a:srgbClr val="2A9A8F"/>
          </a:solidFill>
          <a:ln/>
        </p:spPr>
      </p:sp>
      <p:sp>
        <p:nvSpPr>
          <p:cNvPr id="5" name="Text 2"/>
          <p:cNvSpPr/>
          <p:nvPr/>
        </p:nvSpPr>
        <p:spPr>
          <a:xfrm>
            <a:off x="566928" y="777240"/>
            <a:ext cx="10972800" cy="457200"/>
          </a:xfrm>
          <a:prstGeom prst="rect">
            <a:avLst/>
          </a:prstGeom>
          <a:noFill/>
          <a:ln/>
        </p:spPr>
        <p:txBody>
          <a:bodyPr wrap="square" lIns="0" tIns="0" rIns="0" bIns="0" rtlCol="0" anchor="ctr"/>
          <a:lstStyle/>
          <a:p>
            <a:pPr indent="0" marL="0">
              <a:buNone/>
            </a:pPr>
            <a:r>
              <a:rPr lang="en-US" sz="2600" dirty="0">
                <a:solidFill>
                  <a:srgbClr val="0B161C"/>
                </a:solidFill>
                <a:latin typeface="Georgia" pitchFamily="34" charset="0"/>
                <a:ea typeface="Georgia" pitchFamily="34" charset="-122"/>
                <a:cs typeface="Georgia" pitchFamily="34" charset="-120"/>
              </a:rPr>
              <a:t>Thin cloud trigger. One API. One desk. One audit chain.</a:t>
            </a:r>
            <a:endParaRPr lang="en-US" dirty="0"/>
          </a:p>
        </p:txBody>
      </p:sp>
      <p:sp>
        <p:nvSpPr>
          <p:cNvPr id="6" name="Shape 3"/>
          <p:cNvSpPr/>
          <p:nvPr/>
        </p:nvSpPr>
        <p:spPr>
          <a:xfrm>
            <a:off x="566928" y="1298448"/>
            <a:ext cx="11018520" cy="914400"/>
          </a:xfrm>
          <a:prstGeom prst="rect">
            <a:avLst/>
          </a:prstGeom>
          <a:solidFill>
            <a:srgbClr val="0B161C"/>
          </a:solidFill>
          <a:ln/>
        </p:spPr>
      </p:sp>
      <p:sp>
        <p:nvSpPr>
          <p:cNvPr id="7" name="Text 4"/>
          <p:cNvSpPr/>
          <p:nvPr/>
        </p:nvSpPr>
        <p:spPr>
          <a:xfrm>
            <a:off x="841248" y="1298448"/>
            <a:ext cx="640080" cy="914400"/>
          </a:xfrm>
          <a:prstGeom prst="rect">
            <a:avLst/>
          </a:prstGeom>
          <a:noFill/>
          <a:ln/>
        </p:spPr>
        <p:txBody>
          <a:bodyPr wrap="square" lIns="0" tIns="0" rIns="0" bIns="0" rtlCol="0" anchor="ctr"/>
          <a:lstStyle/>
          <a:p>
            <a:pPr indent="0" marL="0">
              <a:buNone/>
            </a:pPr>
            <a:r>
              <a:rPr lang="en-US" sz="1600" dirty="0">
                <a:solidFill>
                  <a:srgbClr val="C6A15B"/>
                </a:solidFill>
                <a:latin typeface="Consolas" pitchFamily="34" charset="0"/>
                <a:ea typeface="Consolas" pitchFamily="34" charset="-122"/>
                <a:cs typeface="Consolas" pitchFamily="34" charset="-120"/>
              </a:rPr>
              <a:t>01</a:t>
            </a:r>
            <a:endParaRPr lang="en-US" dirty="0"/>
          </a:p>
        </p:txBody>
      </p:sp>
      <p:sp>
        <p:nvSpPr>
          <p:cNvPr id="8" name="Text 5"/>
          <p:cNvSpPr/>
          <p:nvPr/>
        </p:nvSpPr>
        <p:spPr>
          <a:xfrm>
            <a:off x="1618488" y="1298448"/>
            <a:ext cx="2103120" cy="91440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Ingest</a:t>
            </a:r>
            <a:endParaRPr lang="en-US" dirty="0"/>
          </a:p>
        </p:txBody>
      </p:sp>
      <p:sp>
        <p:nvSpPr>
          <p:cNvPr id="9" name="Text 6"/>
          <p:cNvSpPr/>
          <p:nvPr/>
        </p:nvSpPr>
        <p:spPr>
          <a:xfrm>
            <a:off x="3858768" y="1298448"/>
            <a:ext cx="7498080" cy="914400"/>
          </a:xfrm>
          <a:prstGeom prst="rect">
            <a:avLst/>
          </a:prstGeom>
          <a:noFill/>
          <a:ln/>
        </p:spPr>
        <p:txBody>
          <a:bodyPr wrap="square" lIns="0" tIns="0" rIns="0" bIns="0" rtlCol="0" anchor="ctr"/>
          <a:lstStyle/>
          <a:p>
            <a:pPr indent="0" marL="0">
              <a:buNone/>
            </a:pPr>
            <a:r>
              <a:rPr lang="en-US" sz="1400" dirty="0">
                <a:solidFill>
                  <a:srgbClr val="7ED9CE"/>
                </a:solidFill>
                <a:latin typeface="Arial" pitchFamily="34" charset="0"/>
                <a:ea typeface="Arial" pitchFamily="34" charset="-122"/>
                <a:cs typeface="Arial" pitchFamily="34" charset="-120"/>
              </a:rPr>
              <a:t>S3 incoming/*.csv → Lambda claimshield-s3-processor → POST /api/v1/aws/ingest</a:t>
            </a:r>
            <a:endParaRPr lang="en-US" dirty="0"/>
          </a:p>
          <a:p>
            <a:pPr indent="0" marL="0">
              <a:buNone/>
            </a:pPr>
            <a:r>
              <a:rPr lang="en-US" sz="1400" dirty="0">
                <a:solidFill>
                  <a:srgbClr val="7ED9CE"/>
                </a:solidFill>
                <a:latin typeface="Arial" pitchFamily="34" charset="0"/>
                <a:ea typeface="Arial" pitchFamily="34" charset="-122"/>
                <a:cs typeface="Arial" pitchFamily="34" charset="-120"/>
              </a:rPr>
              <a:t>or manager Load batch. Waits for 4 required tables; same ETags → already_processed.</a:t>
            </a:r>
            <a:endParaRPr lang="en-US" dirty="0"/>
          </a:p>
        </p:txBody>
      </p:sp>
      <p:sp>
        <p:nvSpPr>
          <p:cNvPr id="10" name="Shape 7"/>
          <p:cNvSpPr/>
          <p:nvPr/>
        </p:nvSpPr>
        <p:spPr>
          <a:xfrm>
            <a:off x="566928" y="2304288"/>
            <a:ext cx="11018520" cy="914400"/>
          </a:xfrm>
          <a:prstGeom prst="rect">
            <a:avLst/>
          </a:prstGeom>
          <a:solidFill>
            <a:srgbClr val="16313C"/>
          </a:solidFill>
          <a:ln/>
        </p:spPr>
      </p:sp>
      <p:sp>
        <p:nvSpPr>
          <p:cNvPr id="11" name="Text 8"/>
          <p:cNvSpPr/>
          <p:nvPr/>
        </p:nvSpPr>
        <p:spPr>
          <a:xfrm>
            <a:off x="841248" y="2304288"/>
            <a:ext cx="640080" cy="914400"/>
          </a:xfrm>
          <a:prstGeom prst="rect">
            <a:avLst/>
          </a:prstGeom>
          <a:noFill/>
          <a:ln/>
        </p:spPr>
        <p:txBody>
          <a:bodyPr wrap="square" lIns="0" tIns="0" rIns="0" bIns="0" rtlCol="0" anchor="ctr"/>
          <a:lstStyle/>
          <a:p>
            <a:pPr indent="0" marL="0">
              <a:buNone/>
            </a:pPr>
            <a:r>
              <a:rPr lang="en-US" sz="1600" dirty="0">
                <a:solidFill>
                  <a:srgbClr val="C6A15B"/>
                </a:solidFill>
                <a:latin typeface="Consolas" pitchFamily="34" charset="0"/>
                <a:ea typeface="Consolas" pitchFamily="34" charset="-122"/>
                <a:cs typeface="Consolas" pitchFamily="34" charset="-120"/>
              </a:rPr>
              <a:t>02</a:t>
            </a:r>
            <a:endParaRPr lang="en-US" dirty="0"/>
          </a:p>
        </p:txBody>
      </p:sp>
      <p:sp>
        <p:nvSpPr>
          <p:cNvPr id="12" name="Text 9"/>
          <p:cNvSpPr/>
          <p:nvPr/>
        </p:nvSpPr>
        <p:spPr>
          <a:xfrm>
            <a:off x="1618488" y="2304288"/>
            <a:ext cx="2103120" cy="91440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API</a:t>
            </a:r>
            <a:endParaRPr lang="en-US" dirty="0"/>
          </a:p>
        </p:txBody>
      </p:sp>
      <p:sp>
        <p:nvSpPr>
          <p:cNvPr id="13" name="Text 10"/>
          <p:cNvSpPr/>
          <p:nvPr/>
        </p:nvSpPr>
        <p:spPr>
          <a:xfrm>
            <a:off x="3858768" y="2304288"/>
            <a:ext cx="7498080" cy="914400"/>
          </a:xfrm>
          <a:prstGeom prst="rect">
            <a:avLst/>
          </a:prstGeom>
          <a:noFill/>
          <a:ln/>
        </p:spPr>
        <p:txBody>
          <a:bodyPr wrap="square" lIns="0" tIns="0" rIns="0" bIns="0" rtlCol="0" anchor="ctr"/>
          <a:lstStyle/>
          <a:p>
            <a:pPr indent="0" marL="0">
              <a:buNone/>
            </a:pPr>
            <a:r>
              <a:rPr lang="en-US" sz="1400" dirty="0">
                <a:solidFill>
                  <a:srgbClr val="7ED9CE"/>
                </a:solidFill>
                <a:latin typeface="Arial" pitchFamily="34" charset="0"/>
                <a:ea typeface="Arial" pitchFamily="34" charset="-122"/>
                <a:cs typeface="Arial" pitchFamily="34" charset="-120"/>
              </a:rPr>
              <a:t>FastAPI + SQLAlchemy. Cookie JWT, Argon2id, RBAC, CSRF header, login rate limits.</a:t>
            </a:r>
            <a:endParaRPr lang="en-US" dirty="0"/>
          </a:p>
          <a:p>
            <a:pPr indent="0" marL="0">
              <a:buNone/>
            </a:pPr>
            <a:r>
              <a:rPr lang="en-US" sz="1400" dirty="0">
                <a:solidFill>
                  <a:srgbClr val="7ED9CE"/>
                </a:solidFill>
                <a:latin typeface="Arial" pitchFamily="34" charset="0"/>
                <a:ea typeface="Arial" pitchFamily="34" charset="-122"/>
                <a:cs typeface="Arial" pitchFamily="34" charset="-120"/>
              </a:rPr>
              <a:t>SQLite by default. Postgres via Docker compose (not yet covered by tests).</a:t>
            </a:r>
            <a:endParaRPr lang="en-US" dirty="0"/>
          </a:p>
        </p:txBody>
      </p:sp>
      <p:sp>
        <p:nvSpPr>
          <p:cNvPr id="14" name="Shape 11"/>
          <p:cNvSpPr/>
          <p:nvPr/>
        </p:nvSpPr>
        <p:spPr>
          <a:xfrm>
            <a:off x="566928" y="3310128"/>
            <a:ext cx="11018520" cy="914400"/>
          </a:xfrm>
          <a:prstGeom prst="rect">
            <a:avLst/>
          </a:prstGeom>
          <a:solidFill>
            <a:srgbClr val="0B161C"/>
          </a:solidFill>
          <a:ln/>
        </p:spPr>
      </p:sp>
      <p:sp>
        <p:nvSpPr>
          <p:cNvPr id="15" name="Text 12"/>
          <p:cNvSpPr/>
          <p:nvPr/>
        </p:nvSpPr>
        <p:spPr>
          <a:xfrm>
            <a:off x="841248" y="3310128"/>
            <a:ext cx="640080" cy="914400"/>
          </a:xfrm>
          <a:prstGeom prst="rect">
            <a:avLst/>
          </a:prstGeom>
          <a:noFill/>
          <a:ln/>
        </p:spPr>
        <p:txBody>
          <a:bodyPr wrap="square" lIns="0" tIns="0" rIns="0" bIns="0" rtlCol="0" anchor="ctr"/>
          <a:lstStyle/>
          <a:p>
            <a:pPr indent="0" marL="0">
              <a:buNone/>
            </a:pPr>
            <a:r>
              <a:rPr lang="en-US" sz="1600" dirty="0">
                <a:solidFill>
                  <a:srgbClr val="C6A15B"/>
                </a:solidFill>
                <a:latin typeface="Consolas" pitchFamily="34" charset="0"/>
                <a:ea typeface="Consolas" pitchFamily="34" charset="-122"/>
                <a:cs typeface="Consolas" pitchFamily="34" charset="-120"/>
              </a:rPr>
              <a:t>03</a:t>
            </a:r>
            <a:endParaRPr lang="en-US" dirty="0"/>
          </a:p>
        </p:txBody>
      </p:sp>
      <p:sp>
        <p:nvSpPr>
          <p:cNvPr id="16" name="Text 13"/>
          <p:cNvSpPr/>
          <p:nvPr/>
        </p:nvSpPr>
        <p:spPr>
          <a:xfrm>
            <a:off x="1618488" y="3310128"/>
            <a:ext cx="2103120" cy="91440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Engines</a:t>
            </a:r>
            <a:endParaRPr lang="en-US" dirty="0"/>
          </a:p>
        </p:txBody>
      </p:sp>
      <p:sp>
        <p:nvSpPr>
          <p:cNvPr id="17" name="Text 14"/>
          <p:cNvSpPr/>
          <p:nvPr/>
        </p:nvSpPr>
        <p:spPr>
          <a:xfrm>
            <a:off x="3858768" y="3310128"/>
            <a:ext cx="7498080" cy="914400"/>
          </a:xfrm>
          <a:prstGeom prst="rect">
            <a:avLst/>
          </a:prstGeom>
          <a:noFill/>
          <a:ln/>
        </p:spPr>
        <p:txBody>
          <a:bodyPr wrap="square" lIns="0" tIns="0" rIns="0" bIns="0" rtlCol="0" anchor="ctr"/>
          <a:lstStyle/>
          <a:p>
            <a:pPr indent="0" marL="0">
              <a:buNone/>
            </a:pPr>
            <a:r>
              <a:rPr lang="en-US" sz="1400" dirty="0">
                <a:solidFill>
                  <a:srgbClr val="7ED9CE"/>
                </a:solidFill>
                <a:latin typeface="Arial" pitchFamily="34" charset="0"/>
                <a:ea typeface="Arial" pitchFamily="34" charset="-122"/>
                <a:cs typeface="Arial" pitchFamily="34" charset="-120"/>
              </a:rPr>
              <a:t>18-rule catalog, peer robust z, NetworkX graph, case builder,</a:t>
            </a:r>
            <a:endParaRPr lang="en-US" dirty="0"/>
          </a:p>
          <a:p>
            <a:pPr indent="0" marL="0">
              <a:buNone/>
            </a:pPr>
            <a:r>
              <a:rPr lang="en-US" sz="1400" dirty="0">
                <a:solidFill>
                  <a:srgbClr val="7ED9CE"/>
                </a:solidFill>
                <a:latin typeface="Arial" pitchFamily="34" charset="0"/>
                <a:ea typeface="Arial" pitchFamily="34" charset="-122"/>
                <a:cs typeface="Arial" pitchFamily="34" charset="-120"/>
              </a:rPr>
              <a:t>trained hazard + P(confirm) as plain JSON, five-factor knapsack.</a:t>
            </a:r>
            <a:endParaRPr lang="en-US" dirty="0"/>
          </a:p>
        </p:txBody>
      </p:sp>
      <p:sp>
        <p:nvSpPr>
          <p:cNvPr id="18" name="Shape 15"/>
          <p:cNvSpPr/>
          <p:nvPr/>
        </p:nvSpPr>
        <p:spPr>
          <a:xfrm>
            <a:off x="566928" y="4315968"/>
            <a:ext cx="11018520" cy="914400"/>
          </a:xfrm>
          <a:prstGeom prst="rect">
            <a:avLst/>
          </a:prstGeom>
          <a:solidFill>
            <a:srgbClr val="16313C"/>
          </a:solidFill>
          <a:ln/>
        </p:spPr>
      </p:sp>
      <p:sp>
        <p:nvSpPr>
          <p:cNvPr id="19" name="Text 16"/>
          <p:cNvSpPr/>
          <p:nvPr/>
        </p:nvSpPr>
        <p:spPr>
          <a:xfrm>
            <a:off x="841248" y="4315968"/>
            <a:ext cx="640080" cy="914400"/>
          </a:xfrm>
          <a:prstGeom prst="rect">
            <a:avLst/>
          </a:prstGeom>
          <a:noFill/>
          <a:ln/>
        </p:spPr>
        <p:txBody>
          <a:bodyPr wrap="square" lIns="0" tIns="0" rIns="0" bIns="0" rtlCol="0" anchor="ctr"/>
          <a:lstStyle/>
          <a:p>
            <a:pPr indent="0" marL="0">
              <a:buNone/>
            </a:pPr>
            <a:r>
              <a:rPr lang="en-US" sz="1600" dirty="0">
                <a:solidFill>
                  <a:srgbClr val="C6A15B"/>
                </a:solidFill>
                <a:latin typeface="Consolas" pitchFamily="34" charset="0"/>
                <a:ea typeface="Consolas" pitchFamily="34" charset="-122"/>
                <a:cs typeface="Consolas" pitchFamily="34" charset="-120"/>
              </a:rPr>
              <a:t>04</a:t>
            </a:r>
            <a:endParaRPr lang="en-US" dirty="0"/>
          </a:p>
        </p:txBody>
      </p:sp>
      <p:sp>
        <p:nvSpPr>
          <p:cNvPr id="20" name="Text 17"/>
          <p:cNvSpPr/>
          <p:nvPr/>
        </p:nvSpPr>
        <p:spPr>
          <a:xfrm>
            <a:off x="1618488" y="4315968"/>
            <a:ext cx="2103120" cy="91440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SIU UI</a:t>
            </a:r>
            <a:endParaRPr lang="en-US" dirty="0"/>
          </a:p>
        </p:txBody>
      </p:sp>
      <p:sp>
        <p:nvSpPr>
          <p:cNvPr id="21" name="Text 18"/>
          <p:cNvSpPr/>
          <p:nvPr/>
        </p:nvSpPr>
        <p:spPr>
          <a:xfrm>
            <a:off x="3858768" y="4315968"/>
            <a:ext cx="7498080" cy="914400"/>
          </a:xfrm>
          <a:prstGeom prst="rect">
            <a:avLst/>
          </a:prstGeom>
          <a:noFill/>
          <a:ln/>
        </p:spPr>
        <p:txBody>
          <a:bodyPr wrap="square" lIns="0" tIns="0" rIns="0" bIns="0" rtlCol="0" anchor="ctr"/>
          <a:lstStyle/>
          <a:p>
            <a:pPr indent="0" marL="0">
              <a:buNone/>
            </a:pPr>
            <a:r>
              <a:rPr lang="en-US" sz="1400" dirty="0">
                <a:solidFill>
                  <a:srgbClr val="7ED9CE"/>
                </a:solidFill>
                <a:latin typeface="Arial" pitchFamily="34" charset="0"/>
                <a:ea typeface="Arial" pitchFamily="34" charset="-122"/>
                <a:cs typeface="Arial" pitchFamily="34" charset="-120"/>
              </a:rPr>
              <a:t>React 19 + TanStack Router / Query: queue, worklist, workspace, wiki, audit.</a:t>
            </a:r>
            <a:endParaRPr lang="en-US" dirty="0"/>
          </a:p>
          <a:p>
            <a:pPr indent="0" marL="0">
              <a:buNone/>
            </a:pPr>
            <a:r>
              <a:rPr lang="en-US" sz="1400" dirty="0">
                <a:solidFill>
                  <a:srgbClr val="7ED9CE"/>
                </a:solidFill>
                <a:latin typeface="Arial" pitchFamily="34" charset="0"/>
                <a:ea typeface="Arial" pitchFamily="34" charset="-122"/>
                <a:cs typeface="Arial" pitchFamily="34" charset="-120"/>
              </a:rPr>
              <a:t>Three.js only on the landing story. App + API on one origin on Render.</a:t>
            </a:r>
            <a:endParaRPr lang="en-US" dirty="0"/>
          </a:p>
        </p:txBody>
      </p:sp>
      <p:sp>
        <p:nvSpPr>
          <p:cNvPr id="26" name="Shape 15b"/>
          <p:cNvSpPr/>
          <p:nvPr/>
        </p:nvSpPr>
        <p:spPr>
          <a:xfrm>
            <a:off x="566928" y="5321808"/>
            <a:ext cx="11018520" cy="914400"/>
          </a:xfrm>
          <a:prstGeom prst="rect">
            <a:avLst/>
          </a:prstGeom>
          <a:solidFill>
            <a:srgbClr val="0B161C"/>
          </a:solidFill>
          <a:ln/>
        </p:spPr>
      </p:sp>
      <p:sp>
        <p:nvSpPr>
          <p:cNvPr id="27" name="Text 16b"/>
          <p:cNvSpPr/>
          <p:nvPr/>
        </p:nvSpPr>
        <p:spPr>
          <a:xfrm>
            <a:off x="841248" y="5321808"/>
            <a:ext cx="640080" cy="914400"/>
          </a:xfrm>
          <a:prstGeom prst="rect">
            <a:avLst/>
          </a:prstGeom>
          <a:noFill/>
          <a:ln/>
        </p:spPr>
        <p:txBody>
          <a:bodyPr wrap="square" lIns="0" tIns="0" rIns="0" bIns="0" rtlCol="0" anchor="ctr"/>
          <a:lstStyle/>
          <a:p>
            <a:pPr indent="0" marL="0">
              <a:buNone/>
            </a:pPr>
            <a:r>
              <a:rPr lang="en-US" sz="1600" dirty="0">
                <a:solidFill>
                  <a:srgbClr val="C6A15B"/>
                </a:solidFill>
                <a:latin typeface="Consolas" pitchFamily="34" charset="0"/>
                <a:ea typeface="Consolas" pitchFamily="34" charset="-122"/>
                <a:cs typeface="Consolas" pitchFamily="34" charset="-120"/>
              </a:rPr>
              <a:t>05</a:t>
            </a:r>
            <a:endParaRPr lang="en-US" dirty="0"/>
          </a:p>
        </p:txBody>
      </p:sp>
      <p:sp>
        <p:nvSpPr>
          <p:cNvPr id="28" name="Text 17b"/>
          <p:cNvSpPr/>
          <p:nvPr/>
        </p:nvSpPr>
        <p:spPr>
          <a:xfrm>
            <a:off x="1618488" y="5321808"/>
            <a:ext cx="2103120" cy="91440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Audit</a:t>
            </a:r>
            <a:endParaRPr lang="en-US" dirty="0"/>
          </a:p>
        </p:txBody>
      </p:sp>
      <p:sp>
        <p:nvSpPr>
          <p:cNvPr id="29" name="Text 18b"/>
          <p:cNvSpPr/>
          <p:nvPr/>
        </p:nvSpPr>
        <p:spPr>
          <a:xfrm>
            <a:off x="3858768" y="5321808"/>
            <a:ext cx="7498080" cy="914400"/>
          </a:xfrm>
          <a:prstGeom prst="rect">
            <a:avLst/>
          </a:prstGeom>
          <a:noFill/>
          <a:ln/>
        </p:spPr>
        <p:txBody>
          <a:bodyPr wrap="square" lIns="0" tIns="0" rIns="0" bIns="0" rtlCol="0" anchor="ctr"/>
          <a:lstStyle/>
          <a:p>
            <a:pPr indent="0" marL="0">
              <a:buNone/>
            </a:pPr>
            <a:r>
              <a:rPr lang="en-US" sz="1400" dirty="0">
                <a:solidFill>
                  <a:srgbClr val="7ED9CE"/>
                </a:solidFill>
                <a:latin typeface="Arial" pitchFamily="34" charset="0"/>
                <a:ea typeface="Arial" pitchFamily="34" charset="-122"/>
                <a:cs typeface="Arial" pitchFamily="34" charset="-120"/>
              </a:rPr>
              <a:t>Append-only and hash-chained: SHA-256 over prev_hash + the canonical row.</a:t>
            </a:r>
            <a:endParaRPr lang="en-US" dirty="0"/>
          </a:p>
          <a:p>
            <a:pPr indent="0" marL="0">
              <a:buNone/>
            </a:pPr>
            <a:r>
              <a:rPr lang="en-US" sz="1400" dirty="0">
                <a:solidFill>
                  <a:srgbClr val="7ED9CE"/>
                </a:solidFill>
                <a:latin typeface="Arial" pitchFamily="34" charset="0"/>
                <a:ea typeface="Arial" pitchFamily="34" charset="-122"/>
                <a:cs typeface="Arial" pitchFamily="34" charset="-120"/>
              </a:rPr>
              <a:t>Unmask, promote, decide, failed logins, token reuse. verify_chain recomputes it.</a:t>
            </a:r>
            <a:endParaRPr lang="en-US" dirty="0"/>
          </a:p>
        </p:txBody>
      </p:sp>
      <p:sp>
        <p:nvSpPr>
          <p:cNvPr id="22" name="Shape 19"/>
          <p:cNvSpPr/>
          <p:nvPr/>
        </p:nvSpPr>
        <p:spPr>
          <a:xfrm>
            <a:off x="0" y="6510528"/>
            <a:ext cx="12191695" cy="347472"/>
          </a:xfrm>
          <a:prstGeom prst="rect">
            <a:avLst/>
          </a:prstGeom>
          <a:solidFill>
            <a:srgbClr val="0B161C"/>
          </a:solidFill>
          <a:ln/>
        </p:spPr>
      </p:sp>
      <p:sp>
        <p:nvSpPr>
          <p:cNvPr id="23" name="Text 20"/>
          <p:cNvSpPr/>
          <p:nvPr/>
        </p:nvSpPr>
        <p:spPr>
          <a:xfrm>
            <a:off x="566928" y="6510528"/>
            <a:ext cx="5120640" cy="347472"/>
          </a:xfrm>
          <a:prstGeom prst="rect">
            <a:avLst/>
          </a:prstGeom>
          <a:noFill/>
          <a:ln/>
        </p:spPr>
        <p:txBody>
          <a:bodyPr wrap="square" lIns="0" tIns="0" rIns="0" bIns="0" rtlCol="0" anchor="ctr"/>
          <a:lstStyle/>
          <a:p>
            <a:pPr indent="0" marL="0">
              <a:buNone/>
            </a:pPr>
            <a:r>
              <a:rPr lang="en-US" sz="1000" spc="120" kern="0" dirty="0">
                <a:solidFill>
                  <a:srgbClr val="7ED9CE"/>
                </a:solidFill>
                <a:latin typeface="Consolas" pitchFamily="34" charset="0"/>
                <a:ea typeface="Consolas" pitchFamily="34" charset="-122"/>
                <a:cs typeface="Consolas" pitchFamily="34" charset="-120"/>
              </a:rPr>
              <a:t>TEAM SE7EN  ·  CLAIMSHIELD NEXUS</a:t>
            </a:r>
            <a:endParaRPr lang="en-US" sz="1000" dirty="0"/>
          </a:p>
        </p:txBody>
      </p:sp>
      <p:sp>
        <p:nvSpPr>
          <p:cNvPr id="24" name="Text 21"/>
          <p:cNvSpPr/>
          <p:nvPr/>
        </p:nvSpPr>
        <p:spPr>
          <a:xfrm>
            <a:off x="5120640" y="6510528"/>
            <a:ext cx="4023360" cy="347472"/>
          </a:xfrm>
          <a:prstGeom prst="rect">
            <a:avLst/>
          </a:prstGeom>
          <a:noFill/>
          <a:ln/>
        </p:spPr>
        <p:txBody>
          <a:bodyPr wrap="square" lIns="0" tIns="0" rIns="0" bIns="0" rtlCol="0" anchor="ctr"/>
          <a:lstStyle/>
          <a:p>
            <a:pPr algn="ctr" indent="0" marL="0">
              <a:buNone/>
            </a:pPr>
            <a:r>
              <a:rPr lang="en-US" sz="1000" spc="140" kern="0" dirty="0">
                <a:solidFill>
                  <a:srgbClr val="C6A15B"/>
                </a:solidFill>
                <a:latin typeface="Consolas" pitchFamily="34" charset="0"/>
                <a:ea typeface="Consolas" pitchFamily="34" charset="-122"/>
                <a:cs typeface="Consolas" pitchFamily="34" charset="-120"/>
              </a:rPr>
              <a:t>ARCHITECTURE</a:t>
            </a:r>
            <a:endParaRPr lang="en-US" sz="1000" dirty="0"/>
          </a:p>
        </p:txBody>
      </p:sp>
      <p:sp>
        <p:nvSpPr>
          <p:cNvPr id="25" name="Text 22"/>
          <p:cNvSpPr/>
          <p:nvPr/>
        </p:nvSpPr>
        <p:spPr>
          <a:xfrm>
            <a:off x="9509760" y="6510528"/>
            <a:ext cx="2103120" cy="347472"/>
          </a:xfrm>
          <a:prstGeom prst="rect">
            <a:avLst/>
          </a:prstGeom>
          <a:noFill/>
          <a:ln/>
        </p:spPr>
        <p:txBody>
          <a:bodyPr wrap="square" lIns="0" tIns="0" rIns="0" bIns="0" rtlCol="0" anchor="ctr"/>
          <a:lstStyle/>
          <a:p>
            <a:pPr algn="r" indent="0" marL="0">
              <a:buNone/>
            </a:pPr>
            <a:r>
              <a:rPr lang="en-US" sz="1000" spc="120" kern="0" dirty="0">
                <a:solidFill>
                  <a:srgbClr val="F6F1E8"/>
                </a:solidFill>
                <a:latin typeface="Consolas" pitchFamily="34" charset="0"/>
                <a:ea typeface="Consolas" pitchFamily="34" charset="-122"/>
                <a:cs typeface="Consolas" pitchFamily="34" charset="-120"/>
              </a:rPr>
              <a:t>05  /  10</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292608"/>
            <a:ext cx="10972800" cy="256032"/>
          </a:xfrm>
          <a:prstGeom prst="rect">
            <a:avLst/>
          </a:prstGeom>
          <a:noFill/>
          <a:ln/>
        </p:spPr>
        <p:txBody>
          <a:bodyPr wrap="square" lIns="0" tIns="0" rIns="0" bIns="0" rtlCol="0" anchor="ctr"/>
          <a:lstStyle/>
          <a:p>
            <a:pPr indent="0" marL="0">
              <a:buNone/>
            </a:pPr>
            <a:r>
              <a:rPr lang="en-US" sz="1100" spc="200" kern="0" dirty="0" b="0">
                <a:solidFill>
                  <a:srgbClr val="7A8A90"/>
                </a:solidFill>
                <a:latin typeface="Consolas" pitchFamily="34" charset="0"/>
                <a:ea typeface="Consolas" pitchFamily="34" charset="-122"/>
                <a:cs typeface="Consolas" pitchFamily="34" charset="-120"/>
              </a:rPr>
              <a:t>07   </a:t>
            </a:r>
            <a:r>
              <a:rPr lang="en-US" sz="1100" spc="240" kern="0" dirty="0" b="1">
                <a:solidFill>
                  <a:srgbClr val="2A9A8F"/>
                </a:solidFill>
                <a:latin typeface="Consolas" pitchFamily="34" charset="0"/>
                <a:ea typeface="Consolas" pitchFamily="34" charset="-122"/>
                <a:cs typeface="Consolas" pitchFamily="34" charset="-120"/>
              </a:rPr>
              <a:t>SCORES</a:t>
            </a:r>
            <a:endParaRPr lang="en-US" dirty="0"/>
          </a:p>
        </p:txBody>
      </p:sp>
      <p:sp>
        <p:nvSpPr>
          <p:cNvPr id="31" name="Text 0b"/>
          <p:cNvSpPr/>
          <p:nvPr/>
        </p:nvSpPr>
        <p:spPr>
          <a:xfrm>
            <a:off x="566928" y="2743200"/>
            <a:ext cx="10972800" cy="237744"/>
          </a:xfrm>
          <a:prstGeom prst="rect">
            <a:avLst/>
          </a:prstGeom>
          <a:noFill/>
          <a:ln/>
        </p:spPr>
        <p:txBody>
          <a:bodyPr wrap="square" lIns="0" tIns="0" rIns="0" bIns="0" rtlCol="0" anchor="ctr"/>
          <a:lstStyle/>
          <a:p>
            <a:pPr indent="0" marL="0">
              <a:buNone/>
            </a:pPr>
            <a:r>
              <a:rPr lang="en-US" sz="1000" spc="100" kern="0" dirty="0" b="0">
                <a:solidFill>
                  <a:srgbClr val="7A8A90"/>
                </a:solidFill>
                <a:latin typeface="Consolas" pitchFamily="34" charset="0"/>
                <a:ea typeface="Consolas" pitchFamily="34" charset="-122"/>
                <a:cs typeface="Consolas" pitchFamily="34" charset="-120"/>
              </a:rPr>
              <a:t>30 / 60 / 90-DAY RISK  ·  HELD-OUT WORLDS  ·  n = 1,423 PROVIDER ROWS  ·  CELLS READ 30d / 60d / 90d</a:t>
            </a:r>
            <a:endParaRPr lang="en-US" dirty="0"/>
          </a:p>
        </p:txBody>
      </p:sp>
      <p:graphicFrame>
        <p:nvGraphicFramePr>
          <p:cNvPr id="32" name="Backtest table"/>
          <p:cNvGraphicFramePr>
            <a:graphicFrameLocks noGrp="1"/>
          </p:cNvGraphicFramePr>
          <p:nvPr/>
        </p:nvGraphicFramePr>
        <p:xfrm>
          <a:off x="566928" y="3017520"/>
          <a:ext cx="11018520" cy="1828800"/>
        </p:xfrm>
        <a:graphic>
          <a:graphicData uri="http://schemas.openxmlformats.org/drawingml/2006/table">
            <a:tbl>
              <a:tblPr firstRow="1" bandRow="1"/>
              <a:tblGrid>
                <a:gridCol w="2240280"/>
                <a:gridCol w="2194560"/>
                <a:gridCol w="2194560"/>
                <a:gridCol w="2194560"/>
                <a:gridCol w="2194560"/>
              </a:tblGrid>
              <a:tr h="365760">
                <a:tc>
                  <a:txBody>
                    <a:bodyPr/>
                    <a:lstStyle/>
                    <a:p>
                      <a:pPr algn="l"/>
                      <a:r>
                        <a:rPr lang="en-US" sz="1200" b="1" i="0" dirty="0">
                          <a:solidFill>
                            <a:srgbClr val="F6F1E8"/>
                          </a:solidFill>
                          <a:latin typeface="Arial"/>
                          <a:cs typeface="Arial"/>
                        </a:rPr>
                        <a:t>Scorer</a:t>
                      </a:r>
                    </a:p>
                  </a:txBody>
                  <a:tcPr marL="91440" marR="91440" marT="45720" marB="45720" anchor="ctr">
                    <a:lnL w="0">
                      <a:noFill/>
                    </a:lnL>
                    <a:lnR w="0">
                      <a:noFill/>
                    </a:lnR>
                    <a:lnT w="6350">
                      <a:solidFill>
                        <a:srgbClr val="D9D2C4"/>
                      </a:solidFill>
                    </a:lnT>
                    <a:lnB w="6350">
                      <a:solidFill>
                        <a:srgbClr val="D9D2C4"/>
                      </a:solidFill>
                    </a:lnB>
                    <a:solidFill>
                      <a:srgbClr val="0B161C"/>
                    </a:solidFill>
                  </a:tcPr>
                </a:tc>
                <a:tc>
                  <a:txBody>
                    <a:bodyPr/>
                    <a:lstStyle/>
                    <a:p>
                      <a:pPr algn="ctr"/>
                      <a:r>
                        <a:rPr lang="en-US" sz="1200" b="1" i="0" dirty="0">
                          <a:solidFill>
                            <a:srgbClr val="F6F1E8"/>
                          </a:solidFill>
                          <a:latin typeface="Arial"/>
                          <a:cs typeface="Arial"/>
                        </a:rPr>
                        <a:t>PR-AUC</a:t>
                      </a:r>
                    </a:p>
                  </a:txBody>
                  <a:tcPr marL="91440" marR="91440" marT="45720" marB="45720" anchor="ctr">
                    <a:lnL w="0">
                      <a:noFill/>
                    </a:lnL>
                    <a:lnR w="0">
                      <a:noFill/>
                    </a:lnR>
                    <a:lnT w="6350">
                      <a:solidFill>
                        <a:srgbClr val="D9D2C4"/>
                      </a:solidFill>
                    </a:lnT>
                    <a:lnB w="6350">
                      <a:solidFill>
                        <a:srgbClr val="D9D2C4"/>
                      </a:solidFill>
                    </a:lnB>
                    <a:solidFill>
                      <a:srgbClr val="0B161C"/>
                    </a:solidFill>
                  </a:tcPr>
                </a:tc>
                <a:tc>
                  <a:txBody>
                    <a:bodyPr/>
                    <a:lstStyle/>
                    <a:p>
                      <a:pPr algn="ctr"/>
                      <a:r>
                        <a:rPr lang="en-US" sz="1200" b="1" i="0" dirty="0">
                          <a:solidFill>
                            <a:srgbClr val="F6F1E8"/>
                          </a:solidFill>
                          <a:latin typeface="Arial"/>
                          <a:cs typeface="Arial"/>
                        </a:rPr>
                        <a:t>ROC-AUC</a:t>
                      </a:r>
                    </a:p>
                  </a:txBody>
                  <a:tcPr marL="91440" marR="91440" marT="45720" marB="45720" anchor="ctr">
                    <a:lnL w="0">
                      <a:noFill/>
                    </a:lnL>
                    <a:lnR w="0">
                      <a:noFill/>
                    </a:lnR>
                    <a:lnT w="6350">
                      <a:solidFill>
                        <a:srgbClr val="D9D2C4"/>
                      </a:solidFill>
                    </a:lnT>
                    <a:lnB w="6350">
                      <a:solidFill>
                        <a:srgbClr val="D9D2C4"/>
                      </a:solidFill>
                    </a:lnB>
                    <a:solidFill>
                      <a:srgbClr val="0B161C"/>
                    </a:solidFill>
                  </a:tcPr>
                </a:tc>
                <a:tc>
                  <a:txBody>
                    <a:bodyPr/>
                    <a:lstStyle/>
                    <a:p>
                      <a:pPr algn="ctr"/>
                      <a:r>
                        <a:rPr lang="en-US" sz="1200" b="1" i="0" dirty="0">
                          <a:solidFill>
                            <a:srgbClr val="F6F1E8"/>
                          </a:solidFill>
                          <a:latin typeface="Arial"/>
                          <a:cs typeface="Arial"/>
                        </a:rPr>
                        <a:t>Brier</a:t>
                      </a:r>
                    </a:p>
                  </a:txBody>
                  <a:tcPr marL="91440" marR="91440" marT="45720" marB="45720" anchor="ctr">
                    <a:lnL w="0">
                      <a:noFill/>
                    </a:lnL>
                    <a:lnR w="0">
                      <a:noFill/>
                    </a:lnR>
                    <a:lnT w="6350">
                      <a:solidFill>
                        <a:srgbClr val="D9D2C4"/>
                      </a:solidFill>
                    </a:lnT>
                    <a:lnB w="6350">
                      <a:solidFill>
                        <a:srgbClr val="D9D2C4"/>
                      </a:solidFill>
                    </a:lnB>
                    <a:solidFill>
                      <a:srgbClr val="0B161C"/>
                    </a:solidFill>
                  </a:tcPr>
                </a:tc>
                <a:tc>
                  <a:txBody>
                    <a:bodyPr/>
                    <a:lstStyle/>
                    <a:p>
                      <a:pPr algn="ctr"/>
                      <a:r>
                        <a:rPr lang="en-US" sz="1200" b="1" i="0" dirty="0">
                          <a:solidFill>
                            <a:srgbClr val="F6F1E8"/>
                          </a:solidFill>
                          <a:latin typeface="Arial"/>
                          <a:cs typeface="Arial"/>
                        </a:rPr>
                        <a:t>ECE</a:t>
                      </a:r>
                    </a:p>
                  </a:txBody>
                  <a:tcPr marL="91440" marR="91440" marT="45720" marB="45720" anchor="ctr">
                    <a:lnL w="0">
                      <a:noFill/>
                    </a:lnL>
                    <a:lnR w="0">
                      <a:noFill/>
                    </a:lnR>
                    <a:lnT w="6350">
                      <a:solidFill>
                        <a:srgbClr val="D9D2C4"/>
                      </a:solidFill>
                    </a:lnT>
                    <a:lnB w="6350">
                      <a:solidFill>
                        <a:srgbClr val="D9D2C4"/>
                      </a:solidFill>
                    </a:lnB>
                    <a:solidFill>
                      <a:srgbClr val="0B161C"/>
                    </a:solidFill>
                  </a:tcPr>
                </a:tc>
              </a:tr>
              <a:tr h="365760">
                <a:tc>
                  <a:txBody>
                    <a:bodyPr/>
                    <a:lstStyle/>
                    <a:p>
                      <a:pPr algn="l"/>
                      <a:r>
                        <a:rPr lang="en-US" sz="1200" b="1" i="0" dirty="0">
                          <a:solidFill>
                            <a:srgbClr val="0B161C"/>
                          </a:solidFill>
                          <a:latin typeface="Arial"/>
                          <a:cs typeface="Arial"/>
                        </a:rPr>
                        <a:t>Trained hazard</a:t>
                      </a:r>
                    </a:p>
                  </a:txBody>
                  <a:tcPr marL="91440" marR="91440" marT="45720" marB="45720" anchor="ctr">
                    <a:lnL w="0">
                      <a:noFill/>
                    </a:lnL>
                    <a:lnR w="0">
                      <a:noFill/>
                    </a:lnR>
                    <a:lnT w="6350">
                      <a:solidFill>
                        <a:srgbClr val="D9D2C4"/>
                      </a:solidFill>
                    </a:lnT>
                    <a:lnB w="6350">
                      <a:solidFill>
                        <a:srgbClr val="D9D2C4"/>
                      </a:solidFill>
                    </a:lnB>
                    <a:solidFill>
                      <a:srgbClr val="E3F1EE"/>
                    </a:solidFill>
                  </a:tcPr>
                </a:tc>
                <a:tc>
                  <a:txBody>
                    <a:bodyPr/>
                    <a:lstStyle/>
                    <a:p>
                      <a:pPr algn="ctr"/>
                      <a:r>
                        <a:rPr lang="en-US" sz="1250" b="1" i="0" dirty="0">
                          <a:solidFill>
                            <a:srgbClr val="0B161C"/>
                          </a:solidFill>
                          <a:latin typeface="Consolas"/>
                          <a:cs typeface="Consolas"/>
                        </a:rPr>
                        <a:t>0.482 / 0.509 / 0.498</a:t>
                      </a:r>
                    </a:p>
                  </a:txBody>
                  <a:tcPr marL="91440" marR="91440" marT="45720" marB="45720" anchor="ctr">
                    <a:lnL w="0">
                      <a:noFill/>
                    </a:lnL>
                    <a:lnR w="0">
                      <a:noFill/>
                    </a:lnR>
                    <a:lnT w="6350">
                      <a:solidFill>
                        <a:srgbClr val="D9D2C4"/>
                      </a:solidFill>
                    </a:lnT>
                    <a:lnB w="6350">
                      <a:solidFill>
                        <a:srgbClr val="D9D2C4"/>
                      </a:solidFill>
                    </a:lnB>
                    <a:solidFill>
                      <a:srgbClr val="E3F1EE"/>
                    </a:solidFill>
                  </a:tcPr>
                </a:tc>
                <a:tc>
                  <a:txBody>
                    <a:bodyPr/>
                    <a:lstStyle/>
                    <a:p>
                      <a:pPr algn="ctr"/>
                      <a:r>
                        <a:rPr lang="en-US" sz="1250" b="1" i="0" dirty="0">
                          <a:solidFill>
                            <a:srgbClr val="0B161C"/>
                          </a:solidFill>
                          <a:latin typeface="Consolas"/>
                          <a:cs typeface="Consolas"/>
                        </a:rPr>
                        <a:t>0.852 / 0.821 / 0.804</a:t>
                      </a:r>
                    </a:p>
                  </a:txBody>
                  <a:tcPr marL="91440" marR="91440" marT="45720" marB="45720" anchor="ctr">
                    <a:lnL w="0">
                      <a:noFill/>
                    </a:lnL>
                    <a:lnR w="0">
                      <a:noFill/>
                    </a:lnR>
                    <a:lnT w="6350">
                      <a:solidFill>
                        <a:srgbClr val="D9D2C4"/>
                      </a:solidFill>
                    </a:lnT>
                    <a:lnB w="6350">
                      <a:solidFill>
                        <a:srgbClr val="D9D2C4"/>
                      </a:solidFill>
                    </a:lnB>
                    <a:solidFill>
                      <a:srgbClr val="E3F1EE"/>
                    </a:solidFill>
                  </a:tcPr>
                </a:tc>
                <a:tc>
                  <a:txBody>
                    <a:bodyPr/>
                    <a:lstStyle/>
                    <a:p>
                      <a:pPr algn="ctr"/>
                      <a:r>
                        <a:rPr lang="en-US" sz="1250" b="1" i="0" dirty="0">
                          <a:solidFill>
                            <a:srgbClr val="0B161C"/>
                          </a:solidFill>
                          <a:latin typeface="Consolas"/>
                          <a:cs typeface="Consolas"/>
                        </a:rPr>
                        <a:t>0.075 / 0.092 / 0.105</a:t>
                      </a:r>
                    </a:p>
                  </a:txBody>
                  <a:tcPr marL="91440" marR="91440" marT="45720" marB="45720" anchor="ctr">
                    <a:lnL w="0">
                      <a:noFill/>
                    </a:lnL>
                    <a:lnR w="0">
                      <a:noFill/>
                    </a:lnR>
                    <a:lnT w="6350">
                      <a:solidFill>
                        <a:srgbClr val="D9D2C4"/>
                      </a:solidFill>
                    </a:lnT>
                    <a:lnB w="6350">
                      <a:solidFill>
                        <a:srgbClr val="D9D2C4"/>
                      </a:solidFill>
                    </a:lnB>
                    <a:solidFill>
                      <a:srgbClr val="E3F1EE"/>
                    </a:solidFill>
                  </a:tcPr>
                </a:tc>
                <a:tc>
                  <a:txBody>
                    <a:bodyPr/>
                    <a:lstStyle/>
                    <a:p>
                      <a:pPr algn="ctr"/>
                      <a:r>
                        <a:rPr lang="en-US" sz="1250" b="1" i="0" dirty="0">
                          <a:solidFill>
                            <a:srgbClr val="0B161C"/>
                          </a:solidFill>
                          <a:latin typeface="Consolas"/>
                          <a:cs typeface="Consolas"/>
                        </a:rPr>
                        <a:t>0.031 / 0.051 / 0.063</a:t>
                      </a:r>
                    </a:p>
                  </a:txBody>
                  <a:tcPr marL="91440" marR="91440" marT="45720" marB="45720" anchor="ctr">
                    <a:lnL w="0">
                      <a:noFill/>
                    </a:lnL>
                    <a:lnR w="0">
                      <a:noFill/>
                    </a:lnR>
                    <a:lnT w="6350">
                      <a:solidFill>
                        <a:srgbClr val="D9D2C4"/>
                      </a:solidFill>
                    </a:lnT>
                    <a:lnB w="6350">
                      <a:solidFill>
                        <a:srgbClr val="D9D2C4"/>
                      </a:solidFill>
                    </a:lnB>
                    <a:solidFill>
                      <a:srgbClr val="E3F1EE"/>
                    </a:solidFill>
                  </a:tcPr>
                </a:tc>
              </a:tr>
              <a:tr h="365760">
                <a:tc>
                  <a:txBody>
                    <a:bodyPr/>
                    <a:lstStyle/>
                    <a:p>
                      <a:pPr algn="l"/>
                      <a:r>
                        <a:rPr lang="en-US" sz="1200" b="0" i="0" dirty="0">
                          <a:solidFill>
                            <a:srgbClr val="2C3A40"/>
                          </a:solidFill>
                          <a:latin typeface="Arial"/>
                          <a:cs typeface="Arial"/>
                        </a:rPr>
                        <a:t>Old heuristic</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c>
                  <a:txBody>
                    <a:bodyPr/>
                    <a:lstStyle/>
                    <a:p>
                      <a:pPr algn="ctr"/>
                      <a:r>
                        <a:rPr lang="en-US" sz="1250" b="0" i="0" dirty="0">
                          <a:solidFill>
                            <a:srgbClr val="2C3A40"/>
                          </a:solidFill>
                          <a:latin typeface="Consolas"/>
                          <a:cs typeface="Consolas"/>
                        </a:rPr>
                        <a:t>0.194 / 0.224 / 0.233</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c>
                  <a:txBody>
                    <a:bodyPr/>
                    <a:lstStyle/>
                    <a:p>
                      <a:pPr algn="ctr"/>
                      <a:r>
                        <a:rPr lang="en-US" sz="1250" b="0" i="0" dirty="0">
                          <a:solidFill>
                            <a:srgbClr val="2C3A40"/>
                          </a:solidFill>
                          <a:latin typeface="Consolas"/>
                          <a:cs typeface="Consolas"/>
                        </a:rPr>
                        <a:t>0.690 / 0.689 / 0.688</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c>
                  <a:txBody>
                    <a:bodyPr/>
                    <a:lstStyle/>
                    <a:p>
                      <a:pPr algn="ctr"/>
                      <a:r>
                        <a:rPr lang="en-US" sz="1250" b="0" i="0" dirty="0">
                          <a:solidFill>
                            <a:srgbClr val="2C3A40"/>
                          </a:solidFill>
                          <a:latin typeface="Consolas"/>
                          <a:cs typeface="Consolas"/>
                        </a:rPr>
                        <a:t>0.096 / 0.136 / 0.180</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c>
                  <a:txBody>
                    <a:bodyPr/>
                    <a:lstStyle/>
                    <a:p>
                      <a:pPr algn="ctr"/>
                      <a:r>
                        <a:rPr lang="en-US" sz="1250" b="0" i="0" dirty="0">
                          <a:solidFill>
                            <a:srgbClr val="2C3A40"/>
                          </a:solidFill>
                          <a:latin typeface="Consolas"/>
                          <a:cs typeface="Consolas"/>
                        </a:rPr>
                        <a:t>0.060 / 0.134 / 0.209</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r>
              <a:tr h="365760">
                <a:tc>
                  <a:txBody>
                    <a:bodyPr/>
                    <a:lstStyle/>
                    <a:p>
                      <a:pPr algn="l"/>
                      <a:r>
                        <a:rPr lang="en-US" sz="1200" b="0" i="0" dirty="0">
                          <a:solidFill>
                            <a:srgbClr val="2C3A40"/>
                          </a:solidFill>
                          <a:latin typeface="Arial"/>
                          <a:cs typeface="Arial"/>
                        </a:rPr>
                        <a:t>Rules-only</a:t>
                      </a:r>
                    </a:p>
                  </a:txBody>
                  <a:tcPr marL="91440" marR="91440" marT="45720" marB="45720" anchor="ctr">
                    <a:lnL w="0">
                      <a:noFill/>
                    </a:lnL>
                    <a:lnR w="0">
                      <a:noFill/>
                    </a:lnR>
                    <a:lnT w="6350">
                      <a:solidFill>
                        <a:srgbClr val="D9D2C4"/>
                      </a:solidFill>
                    </a:lnT>
                    <a:lnB w="6350">
                      <a:solidFill>
                        <a:srgbClr val="D9D2C4"/>
                      </a:solidFill>
                    </a:lnB>
                    <a:solidFill>
                      <a:srgbClr val="FFFDF8"/>
                    </a:solidFill>
                  </a:tcPr>
                </a:tc>
                <a:tc>
                  <a:txBody>
                    <a:bodyPr/>
                    <a:lstStyle/>
                    <a:p>
                      <a:pPr algn="ctr"/>
                      <a:r>
                        <a:rPr lang="en-US" sz="1250" b="0" i="0" dirty="0">
                          <a:solidFill>
                            <a:srgbClr val="2C3A40"/>
                          </a:solidFill>
                          <a:latin typeface="Consolas"/>
                          <a:cs typeface="Consolas"/>
                        </a:rPr>
                        <a:t>0.136 / 0.177 / 0.195</a:t>
                      </a:r>
                    </a:p>
                  </a:txBody>
                  <a:tcPr marL="91440" marR="91440" marT="45720" marB="45720" anchor="ctr">
                    <a:lnL w="0">
                      <a:noFill/>
                    </a:lnL>
                    <a:lnR w="0">
                      <a:noFill/>
                    </a:lnR>
                    <a:lnT w="6350">
                      <a:solidFill>
                        <a:srgbClr val="D9D2C4"/>
                      </a:solidFill>
                    </a:lnT>
                    <a:lnB w="6350">
                      <a:solidFill>
                        <a:srgbClr val="D9D2C4"/>
                      </a:solidFill>
                    </a:lnB>
                    <a:solidFill>
                      <a:srgbClr val="FFFDF8"/>
                    </a:solidFill>
                  </a:tcPr>
                </a:tc>
                <a:tc>
                  <a:txBody>
                    <a:bodyPr/>
                    <a:lstStyle/>
                    <a:p>
                      <a:pPr algn="ctr"/>
                      <a:r>
                        <a:rPr lang="en-US" sz="1250" b="0" i="0" dirty="0">
                          <a:solidFill>
                            <a:srgbClr val="2C3A40"/>
                          </a:solidFill>
                          <a:latin typeface="Consolas"/>
                          <a:cs typeface="Consolas"/>
                        </a:rPr>
                        <a:t>0.553 / 0.573 / 0.577</a:t>
                      </a:r>
                    </a:p>
                  </a:txBody>
                  <a:tcPr marL="91440" marR="91440" marT="45720" marB="45720" anchor="ctr">
                    <a:lnL w="0">
                      <a:noFill/>
                    </a:lnL>
                    <a:lnR w="0">
                      <a:noFill/>
                    </a:lnR>
                    <a:lnT w="6350">
                      <a:solidFill>
                        <a:srgbClr val="D9D2C4"/>
                      </a:solidFill>
                    </a:lnT>
                    <a:lnB w="6350">
                      <a:solidFill>
                        <a:srgbClr val="D9D2C4"/>
                      </a:solidFill>
                    </a:lnB>
                    <a:solidFill>
                      <a:srgbClr val="FFFDF8"/>
                    </a:solidFill>
                  </a:tcPr>
                </a:tc>
                <a:tc>
                  <a:txBody>
                    <a:bodyPr/>
                    <a:lstStyle/>
                    <a:p>
                      <a:pPr algn="ctr"/>
                      <a:r>
                        <a:rPr lang="en-US" sz="1250" b="0" i="0" dirty="0">
                          <a:solidFill>
                            <a:srgbClr val="2C3A40"/>
                          </a:solidFill>
                          <a:latin typeface="Consolas"/>
                          <a:cs typeface="Consolas"/>
                        </a:rPr>
                        <a:t>n/a</a:t>
                      </a:r>
                    </a:p>
                  </a:txBody>
                  <a:tcPr marL="91440" marR="91440" marT="45720" marB="45720" anchor="ctr">
                    <a:lnL w="0">
                      <a:noFill/>
                    </a:lnL>
                    <a:lnR w="0">
                      <a:noFill/>
                    </a:lnR>
                    <a:lnT w="6350">
                      <a:solidFill>
                        <a:srgbClr val="D9D2C4"/>
                      </a:solidFill>
                    </a:lnT>
                    <a:lnB w="6350">
                      <a:solidFill>
                        <a:srgbClr val="D9D2C4"/>
                      </a:solidFill>
                    </a:lnB>
                    <a:solidFill>
                      <a:srgbClr val="FFFDF8"/>
                    </a:solidFill>
                  </a:tcPr>
                </a:tc>
                <a:tc>
                  <a:txBody>
                    <a:bodyPr/>
                    <a:lstStyle/>
                    <a:p>
                      <a:pPr algn="ctr"/>
                      <a:r>
                        <a:rPr lang="en-US" sz="1250" b="0" i="0" dirty="0">
                          <a:solidFill>
                            <a:srgbClr val="2C3A40"/>
                          </a:solidFill>
                          <a:latin typeface="Consolas"/>
                          <a:cs typeface="Consolas"/>
                        </a:rPr>
                        <a:t>n/a</a:t>
                      </a:r>
                    </a:p>
                  </a:txBody>
                  <a:tcPr marL="91440" marR="91440" marT="45720" marB="45720" anchor="ctr">
                    <a:lnL w="0">
                      <a:noFill/>
                    </a:lnL>
                    <a:lnR w="0">
                      <a:noFill/>
                    </a:lnR>
                    <a:lnT w="6350">
                      <a:solidFill>
                        <a:srgbClr val="D9D2C4"/>
                      </a:solidFill>
                    </a:lnT>
                    <a:lnB w="6350">
                      <a:solidFill>
                        <a:srgbClr val="D9D2C4"/>
                      </a:solidFill>
                    </a:lnB>
                    <a:solidFill>
                      <a:srgbClr val="FFFDF8"/>
                    </a:solidFill>
                  </a:tcPr>
                </a:tc>
              </a:tr>
              <a:tr h="365760">
                <a:tc>
                  <a:txBody>
                    <a:bodyPr/>
                    <a:lstStyle/>
                    <a:p>
                      <a:pPr algn="l"/>
                      <a:r>
                        <a:rPr lang="en-US" sz="1200" b="0" i="1" dirty="0">
                          <a:solidFill>
                            <a:srgbClr val="7A8A90"/>
                          </a:solidFill>
                          <a:latin typeface="Arial"/>
                          <a:cs typeface="Arial"/>
                        </a:rPr>
                        <a:t>HGB challenger*</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c>
                  <a:txBody>
                    <a:bodyPr/>
                    <a:lstStyle/>
                    <a:p>
                      <a:pPr algn="ctr"/>
                      <a:r>
                        <a:rPr lang="en-US" sz="1250" b="0" i="1" dirty="0">
                          <a:solidFill>
                            <a:srgbClr val="7A8A90"/>
                          </a:solidFill>
                          <a:latin typeface="Consolas"/>
                          <a:cs typeface="Consolas"/>
                        </a:rPr>
                        <a:t>0.578 / 0.541 / 0.533</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c>
                  <a:txBody>
                    <a:bodyPr/>
                    <a:lstStyle/>
                    <a:p>
                      <a:pPr algn="ctr"/>
                      <a:r>
                        <a:rPr lang="en-US" sz="1250" b="0" i="1" dirty="0">
                          <a:solidFill>
                            <a:srgbClr val="7A8A90"/>
                          </a:solidFill>
                          <a:latin typeface="Consolas"/>
                          <a:cs typeface="Consolas"/>
                        </a:rPr>
                        <a:t>0.877 / 0.843 / 0.831</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c>
                  <a:txBody>
                    <a:bodyPr/>
                    <a:lstStyle/>
                    <a:p>
                      <a:pPr algn="ctr"/>
                      <a:r>
                        <a:rPr lang="en-US" sz="1250" b="0" i="1" dirty="0">
                          <a:solidFill>
                            <a:srgbClr val="7A8A90"/>
                          </a:solidFill>
                          <a:latin typeface="Consolas"/>
                          <a:cs typeface="Consolas"/>
                        </a:rPr>
                        <a:t>0.072 / 0.096 / 0.105</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c>
                  <a:txBody>
                    <a:bodyPr/>
                    <a:lstStyle/>
                    <a:p>
                      <a:pPr algn="ctr"/>
                      <a:r>
                        <a:rPr lang="en-US" sz="1250" b="0" i="1" dirty="0">
                          <a:solidFill>
                            <a:srgbClr val="7A8A90"/>
                          </a:solidFill>
                          <a:latin typeface="Consolas"/>
                          <a:cs typeface="Consolas"/>
                        </a:rPr>
                        <a:t>0.036 / 0.058 / 0.062</a:t>
                      </a:r>
                    </a:p>
                  </a:txBody>
                  <a:tcPr marL="91440" marR="91440" marT="45720" marB="45720" anchor="ctr">
                    <a:lnL w="0">
                      <a:noFill/>
                    </a:lnL>
                    <a:lnR w="0">
                      <a:noFill/>
                    </a:lnR>
                    <a:lnT w="6350">
                      <a:solidFill>
                        <a:srgbClr val="D9D2C4"/>
                      </a:solidFill>
                    </a:lnT>
                    <a:lnB w="6350">
                      <a:solidFill>
                        <a:srgbClr val="D9D2C4"/>
                      </a:solidFill>
                    </a:lnB>
                    <a:solidFill>
                      <a:srgbClr val="F3EEE4"/>
                    </a:solidFill>
                  </a:tcPr>
                </a:tc>
              </a:tr>
            </a:tbl>
          </a:graphicData>
        </a:graphic>
      </p:graphicFrame>
      <p:sp>
        <p:nvSpPr>
          <p:cNvPr id="4" name="Shape 1"/>
          <p:cNvSpPr/>
          <p:nvPr/>
        </p:nvSpPr>
        <p:spPr>
          <a:xfrm>
            <a:off x="566928" y="585216"/>
            <a:ext cx="1234440" cy="32004"/>
          </a:xfrm>
          <a:prstGeom prst="rect">
            <a:avLst/>
          </a:prstGeom>
          <a:solidFill>
            <a:srgbClr val="2A9A8F"/>
          </a:solidFill>
          <a:ln/>
        </p:spPr>
      </p:sp>
      <p:sp>
        <p:nvSpPr>
          <p:cNvPr id="5" name="Text 2"/>
          <p:cNvSpPr/>
          <p:nvPr/>
        </p:nvSpPr>
        <p:spPr>
          <a:xfrm>
            <a:off x="566928" y="749808"/>
            <a:ext cx="10972800" cy="457200"/>
          </a:xfrm>
          <a:prstGeom prst="rect">
            <a:avLst/>
          </a:prstGeom>
          <a:noFill/>
          <a:ln/>
        </p:spPr>
        <p:txBody>
          <a:bodyPr wrap="square" lIns="0" tIns="0" rIns="0" bIns="0" rtlCol="0" anchor="ctr"/>
          <a:lstStyle/>
          <a:p>
            <a:pPr indent="0" marL="0">
              <a:buNone/>
            </a:pPr>
            <a:r>
              <a:rPr lang="en-US" sz="2600" dirty="0">
                <a:solidFill>
                  <a:srgbClr val="0B161C"/>
                </a:solidFill>
                <a:latin typeface="Georgia" pitchFamily="34" charset="0"/>
                <a:ea typeface="Georgia" pitchFamily="34" charset="-122"/>
                <a:cs typeface="Georgia" pitchFamily="34" charset="-120"/>
              </a:rPr>
              <a:t>Measured on worlds the model never saw.</a:t>
            </a:r>
            <a:endParaRPr lang="en-US" dirty="0"/>
          </a:p>
        </p:txBody>
      </p:sp>
      <p:sp>
        <p:nvSpPr>
          <p:cNvPr id="6" name="Shape 3"/>
          <p:cNvSpPr/>
          <p:nvPr/>
        </p:nvSpPr>
        <p:spPr>
          <a:xfrm>
            <a:off x="566928" y="1325880"/>
            <a:ext cx="2121408" cy="1261872"/>
          </a:xfrm>
          <a:prstGeom prst="rect">
            <a:avLst/>
          </a:prstGeom>
          <a:solidFill>
            <a:srgbClr val="0B161C"/>
          </a:solidFill>
          <a:ln/>
        </p:spPr>
      </p:sp>
      <p:sp>
        <p:nvSpPr>
          <p:cNvPr id="7" name="Text 4"/>
          <p:cNvSpPr/>
          <p:nvPr/>
        </p:nvSpPr>
        <p:spPr>
          <a:xfrm>
            <a:off x="566928" y="1399032"/>
            <a:ext cx="2121408" cy="548640"/>
          </a:xfrm>
          <a:prstGeom prst="rect">
            <a:avLst/>
          </a:prstGeom>
          <a:noFill/>
          <a:ln/>
        </p:spPr>
        <p:txBody>
          <a:bodyPr wrap="square" lIns="0" tIns="0" rIns="0" bIns="0" rtlCol="0" anchor="ctr"/>
          <a:lstStyle/>
          <a:p>
            <a:pPr algn="ctr" indent="0" marL="0">
              <a:buNone/>
            </a:pPr>
            <a:r>
              <a:rPr lang="en-US" sz="3000" dirty="0">
                <a:solidFill>
                  <a:srgbClr val="C6A15B"/>
                </a:solidFill>
                <a:latin typeface="Georgia" pitchFamily="34" charset="0"/>
                <a:ea typeface="Georgia" pitchFamily="34" charset="-122"/>
                <a:cs typeface="Georgia" pitchFamily="34" charset="-120"/>
              </a:rPr>
              <a:t>0.952</a:t>
            </a:r>
            <a:endParaRPr lang="en-US" dirty="0"/>
          </a:p>
        </p:txBody>
      </p:sp>
      <p:sp>
        <p:nvSpPr>
          <p:cNvPr id="8" name="Text 5"/>
          <p:cNvSpPr/>
          <p:nvPr/>
        </p:nvSpPr>
        <p:spPr>
          <a:xfrm>
            <a:off x="658368" y="1938528"/>
            <a:ext cx="1938528" cy="292608"/>
          </a:xfrm>
          <a:prstGeom prst="rect">
            <a:avLst/>
          </a:prstGeom>
          <a:noFill/>
          <a:ln/>
        </p:spPr>
        <p:txBody>
          <a:bodyPr wrap="square" lIns="0" tIns="0" rIns="0" bIns="0" rtlCol="0" anchor="ctr"/>
          <a:lstStyle/>
          <a:p>
            <a:pPr algn="ctr" indent="0" marL="0">
              <a:buNone/>
            </a:pPr>
            <a:r>
              <a:rPr lang="en-US" sz="1400" dirty="0">
                <a:solidFill>
                  <a:srgbClr val="F6F1E8"/>
                </a:solidFill>
                <a:latin typeface="Georgia" pitchFamily="34" charset="0"/>
                <a:ea typeface="Georgia" pitchFamily="34" charset="-122"/>
                <a:cs typeface="Georgia" pitchFamily="34" charset="-120"/>
              </a:rPr>
              <a:t>P(confirm) PR-AUC</a:t>
            </a:r>
            <a:endParaRPr lang="en-US" dirty="0"/>
          </a:p>
        </p:txBody>
      </p:sp>
      <p:sp>
        <p:nvSpPr>
          <p:cNvPr id="9" name="Text 6"/>
          <p:cNvSpPr/>
          <p:nvPr/>
        </p:nvSpPr>
        <p:spPr>
          <a:xfrm>
            <a:off x="676656" y="2231136"/>
            <a:ext cx="1901952" cy="274320"/>
          </a:xfrm>
          <a:prstGeom prst="rect">
            <a:avLst/>
          </a:prstGeom>
          <a:noFill/>
          <a:ln/>
        </p:spPr>
        <p:txBody>
          <a:bodyPr wrap="square" lIns="0" tIns="0" rIns="0" bIns="0" rtlCol="0" anchor="ctr"/>
          <a:lstStyle/>
          <a:p>
            <a:pPr algn="ctr" indent="0" marL="0">
              <a:buNone/>
            </a:pPr>
            <a:r>
              <a:rPr lang="en-US" sz="1150" dirty="0">
                <a:solidFill>
                  <a:srgbClr val="7ED9CE"/>
                </a:solidFill>
                <a:latin typeface="Arial" pitchFamily="34" charset="0"/>
                <a:ea typeface="Arial" pitchFamily="34" charset="-122"/>
                <a:cs typeface="Arial" pitchFamily="34" charset="-120"/>
              </a:rPr>
              <a:t>vs 0.801 old heuristic</a:t>
            </a:r>
            <a:endParaRPr lang="en-US" dirty="0"/>
          </a:p>
        </p:txBody>
      </p:sp>
      <p:sp>
        <p:nvSpPr>
          <p:cNvPr id="10" name="Shape 7"/>
          <p:cNvSpPr/>
          <p:nvPr/>
        </p:nvSpPr>
        <p:spPr>
          <a:xfrm>
            <a:off x="2807208" y="1325880"/>
            <a:ext cx="2121408" cy="1261872"/>
          </a:xfrm>
          <a:prstGeom prst="rect">
            <a:avLst/>
          </a:prstGeom>
          <a:solidFill>
            <a:srgbClr val="0B161C"/>
          </a:solidFill>
          <a:ln/>
        </p:spPr>
      </p:sp>
      <p:sp>
        <p:nvSpPr>
          <p:cNvPr id="11" name="Text 8"/>
          <p:cNvSpPr/>
          <p:nvPr/>
        </p:nvSpPr>
        <p:spPr>
          <a:xfrm>
            <a:off x="2807208" y="1399032"/>
            <a:ext cx="2121408" cy="548640"/>
          </a:xfrm>
          <a:prstGeom prst="rect">
            <a:avLst/>
          </a:prstGeom>
          <a:noFill/>
          <a:ln/>
        </p:spPr>
        <p:txBody>
          <a:bodyPr wrap="square" lIns="0" tIns="0" rIns="0" bIns="0" rtlCol="0" anchor="ctr"/>
          <a:lstStyle/>
          <a:p>
            <a:pPr algn="ctr" indent="0" marL="0">
              <a:buNone/>
            </a:pPr>
            <a:r>
              <a:rPr lang="en-US" sz="3000" dirty="0">
                <a:solidFill>
                  <a:srgbClr val="C6A15B"/>
                </a:solidFill>
                <a:latin typeface="Georgia" pitchFamily="34" charset="0"/>
                <a:ea typeface="Georgia" pitchFamily="34" charset="-122"/>
                <a:cs typeface="Georgia" pitchFamily="34" charset="-120"/>
              </a:rPr>
              <a:t>0.892</a:t>
            </a:r>
            <a:endParaRPr lang="en-US" dirty="0"/>
          </a:p>
        </p:txBody>
      </p:sp>
      <p:sp>
        <p:nvSpPr>
          <p:cNvPr id="12" name="Text 9"/>
          <p:cNvSpPr/>
          <p:nvPr/>
        </p:nvSpPr>
        <p:spPr>
          <a:xfrm>
            <a:off x="2898648" y="1938528"/>
            <a:ext cx="1938528" cy="292608"/>
          </a:xfrm>
          <a:prstGeom prst="rect">
            <a:avLst/>
          </a:prstGeom>
          <a:noFill/>
          <a:ln/>
        </p:spPr>
        <p:txBody>
          <a:bodyPr wrap="square" lIns="0" tIns="0" rIns="0" bIns="0" rtlCol="0" anchor="ctr"/>
          <a:lstStyle/>
          <a:p>
            <a:pPr algn="ctr" indent="0" marL="0">
              <a:buNone/>
            </a:pPr>
            <a:r>
              <a:rPr lang="en-US" sz="1400" dirty="0">
                <a:solidFill>
                  <a:srgbClr val="F6F1E8"/>
                </a:solidFill>
                <a:latin typeface="Georgia" pitchFamily="34" charset="0"/>
                <a:ea typeface="Georgia" pitchFamily="34" charset="-122"/>
                <a:cs typeface="Georgia" pitchFamily="34" charset="-120"/>
              </a:rPr>
              <a:t>P(confirm) ROC-AUC</a:t>
            </a:r>
            <a:endParaRPr lang="en-US" dirty="0"/>
          </a:p>
        </p:txBody>
      </p:sp>
      <p:sp>
        <p:nvSpPr>
          <p:cNvPr id="13" name="Text 10"/>
          <p:cNvSpPr/>
          <p:nvPr/>
        </p:nvSpPr>
        <p:spPr>
          <a:xfrm>
            <a:off x="2916936" y="2231136"/>
            <a:ext cx="1901952" cy="274320"/>
          </a:xfrm>
          <a:prstGeom prst="rect">
            <a:avLst/>
          </a:prstGeom>
          <a:noFill/>
          <a:ln/>
        </p:spPr>
        <p:txBody>
          <a:bodyPr wrap="square" lIns="0" tIns="0" rIns="0" bIns="0" rtlCol="0" anchor="ctr"/>
          <a:lstStyle/>
          <a:p>
            <a:pPr algn="ctr" indent="0" marL="0">
              <a:buNone/>
            </a:pPr>
            <a:r>
              <a:rPr lang="en-US" sz="1150" dirty="0">
                <a:solidFill>
                  <a:srgbClr val="7ED9CE"/>
                </a:solidFill>
                <a:latin typeface="Arial" pitchFamily="34" charset="0"/>
                <a:ea typeface="Arial" pitchFamily="34" charset="-122"/>
                <a:cs typeface="Arial" pitchFamily="34" charset="-120"/>
              </a:rPr>
              <a:t>vs 0.646 old heuristic</a:t>
            </a:r>
            <a:endParaRPr lang="en-US" dirty="0"/>
          </a:p>
        </p:txBody>
      </p:sp>
      <p:sp>
        <p:nvSpPr>
          <p:cNvPr id="14" name="Shape 11"/>
          <p:cNvSpPr/>
          <p:nvPr/>
        </p:nvSpPr>
        <p:spPr>
          <a:xfrm>
            <a:off x="5047488" y="1325880"/>
            <a:ext cx="2121408" cy="1261872"/>
          </a:xfrm>
          <a:prstGeom prst="rect">
            <a:avLst/>
          </a:prstGeom>
          <a:solidFill>
            <a:srgbClr val="0B161C"/>
          </a:solidFill>
          <a:ln/>
        </p:spPr>
      </p:sp>
      <p:sp>
        <p:nvSpPr>
          <p:cNvPr id="15" name="Text 12"/>
          <p:cNvSpPr/>
          <p:nvPr/>
        </p:nvSpPr>
        <p:spPr>
          <a:xfrm>
            <a:off x="5047488" y="1399032"/>
            <a:ext cx="2121408" cy="548640"/>
          </a:xfrm>
          <a:prstGeom prst="rect">
            <a:avLst/>
          </a:prstGeom>
          <a:noFill/>
          <a:ln/>
        </p:spPr>
        <p:txBody>
          <a:bodyPr wrap="square" lIns="0" tIns="0" rIns="0" bIns="0" rtlCol="0" anchor="ctr"/>
          <a:lstStyle/>
          <a:p>
            <a:pPr algn="ctr" indent="0" marL="0">
              <a:buNone/>
            </a:pPr>
            <a:r>
              <a:rPr lang="en-US" sz="3000" dirty="0">
                <a:solidFill>
                  <a:srgbClr val="C6A15B"/>
                </a:solidFill>
                <a:latin typeface="Georgia" pitchFamily="34" charset="0"/>
                <a:ea typeface="Georgia" pitchFamily="34" charset="-122"/>
                <a:cs typeface="Georgia" pitchFamily="34" charset="-120"/>
              </a:rPr>
              <a:t>1.000</a:t>
            </a:r>
            <a:endParaRPr lang="en-US" dirty="0"/>
          </a:p>
        </p:txBody>
      </p:sp>
      <p:sp>
        <p:nvSpPr>
          <p:cNvPr id="16" name="Text 13"/>
          <p:cNvSpPr/>
          <p:nvPr/>
        </p:nvSpPr>
        <p:spPr>
          <a:xfrm>
            <a:off x="5138928" y="1938528"/>
            <a:ext cx="1938528" cy="292608"/>
          </a:xfrm>
          <a:prstGeom prst="rect">
            <a:avLst/>
          </a:prstGeom>
          <a:noFill/>
          <a:ln/>
        </p:spPr>
        <p:txBody>
          <a:bodyPr wrap="square" lIns="0" tIns="0" rIns="0" bIns="0" rtlCol="0" anchor="ctr"/>
          <a:lstStyle/>
          <a:p>
            <a:pPr algn="ctr" indent="0" marL="0">
              <a:buNone/>
            </a:pPr>
            <a:r>
              <a:rPr lang="en-US" sz="1400" dirty="0">
                <a:solidFill>
                  <a:srgbClr val="F6F1E8"/>
                </a:solidFill>
                <a:latin typeface="Georgia" pitchFamily="34" charset="0"/>
                <a:ea typeface="Georgia" pitchFamily="34" charset="-122"/>
                <a:cs typeface="Georgia" pitchFamily="34" charset="-120"/>
              </a:rPr>
              <a:t>Precision @ 40 h</a:t>
            </a:r>
            <a:endParaRPr lang="en-US" dirty="0"/>
          </a:p>
        </p:txBody>
      </p:sp>
      <p:sp>
        <p:nvSpPr>
          <p:cNvPr id="17" name="Text 14"/>
          <p:cNvSpPr/>
          <p:nvPr/>
        </p:nvSpPr>
        <p:spPr>
          <a:xfrm>
            <a:off x="5157216" y="2231136"/>
            <a:ext cx="1901952" cy="274320"/>
          </a:xfrm>
          <a:prstGeom prst="rect">
            <a:avLst/>
          </a:prstGeom>
          <a:noFill/>
          <a:ln/>
        </p:spPr>
        <p:txBody>
          <a:bodyPr wrap="square" lIns="0" tIns="0" rIns="0" bIns="0" rtlCol="0" anchor="ctr"/>
          <a:lstStyle/>
          <a:p>
            <a:pPr algn="ctr" indent="0" marL="0">
              <a:buNone/>
            </a:pPr>
            <a:r>
              <a:rPr lang="en-US" sz="1150" dirty="0">
                <a:solidFill>
                  <a:srgbClr val="7ED9CE"/>
                </a:solidFill>
                <a:latin typeface="Arial" pitchFamily="34" charset="0"/>
                <a:ea typeface="Arial" pitchFamily="34" charset="-122"/>
                <a:cs typeface="Arial" pitchFamily="34" charset="-120"/>
              </a:rPr>
              <a:t>75 cases selected</a:t>
            </a:r>
            <a:endParaRPr lang="en-US" dirty="0"/>
          </a:p>
        </p:txBody>
      </p:sp>
      <p:sp>
        <p:nvSpPr>
          <p:cNvPr id="18" name="Shape 15"/>
          <p:cNvSpPr/>
          <p:nvPr/>
        </p:nvSpPr>
        <p:spPr>
          <a:xfrm>
            <a:off x="7287768" y="1325880"/>
            <a:ext cx="2121408" cy="1261872"/>
          </a:xfrm>
          <a:prstGeom prst="rect">
            <a:avLst/>
          </a:prstGeom>
          <a:solidFill>
            <a:srgbClr val="0B161C"/>
          </a:solidFill>
          <a:ln/>
        </p:spPr>
      </p:sp>
      <p:sp>
        <p:nvSpPr>
          <p:cNvPr id="19" name="Text 16"/>
          <p:cNvSpPr/>
          <p:nvPr/>
        </p:nvSpPr>
        <p:spPr>
          <a:xfrm>
            <a:off x="7287768" y="1399032"/>
            <a:ext cx="2121408" cy="548640"/>
          </a:xfrm>
          <a:prstGeom prst="rect">
            <a:avLst/>
          </a:prstGeom>
          <a:noFill/>
          <a:ln/>
        </p:spPr>
        <p:txBody>
          <a:bodyPr wrap="square" lIns="0" tIns="0" rIns="0" bIns="0" rtlCol="0" anchor="ctr"/>
          <a:lstStyle/>
          <a:p>
            <a:pPr algn="ctr" indent="0" marL="0">
              <a:buNone/>
            </a:pPr>
            <a:r>
              <a:rPr lang="en-US" sz="3000" dirty="0">
                <a:solidFill>
                  <a:srgbClr val="C6A15B"/>
                </a:solidFill>
                <a:latin typeface="Georgia" pitchFamily="34" charset="0"/>
                <a:ea typeface="Georgia" pitchFamily="34" charset="-122"/>
                <a:cs typeface="Georgia" pitchFamily="34" charset="-120"/>
              </a:rPr>
              <a:t>22</a:t>
            </a:r>
            <a:endParaRPr lang="en-US" dirty="0"/>
          </a:p>
        </p:txBody>
      </p:sp>
      <p:sp>
        <p:nvSpPr>
          <p:cNvPr id="20" name="Text 17"/>
          <p:cNvSpPr/>
          <p:nvPr/>
        </p:nvSpPr>
        <p:spPr>
          <a:xfrm>
            <a:off x="7379208" y="1938528"/>
            <a:ext cx="1938528" cy="292608"/>
          </a:xfrm>
          <a:prstGeom prst="rect">
            <a:avLst/>
          </a:prstGeom>
          <a:noFill/>
          <a:ln/>
        </p:spPr>
        <p:txBody>
          <a:bodyPr wrap="square" lIns="0" tIns="0" rIns="0" bIns="0" rtlCol="0" anchor="ctr"/>
          <a:lstStyle/>
          <a:p>
            <a:pPr algn="ctr" indent="0" marL="0">
              <a:buNone/>
            </a:pPr>
            <a:r>
              <a:rPr lang="en-US" sz="1400" dirty="0">
                <a:solidFill>
                  <a:srgbClr val="F6F1E8"/>
                </a:solidFill>
                <a:latin typeface="Georgia" pitchFamily="34" charset="0"/>
                <a:ea typeface="Georgia" pitchFamily="34" charset="-122"/>
                <a:cs typeface="Georgia" pitchFamily="34" charset="-120"/>
              </a:rPr>
              <a:t>Leakage tests</a:t>
            </a:r>
            <a:endParaRPr lang="en-US" dirty="0"/>
          </a:p>
        </p:txBody>
      </p:sp>
      <p:sp>
        <p:nvSpPr>
          <p:cNvPr id="21" name="Text 18"/>
          <p:cNvSpPr/>
          <p:nvPr/>
        </p:nvSpPr>
        <p:spPr>
          <a:xfrm>
            <a:off x="7397496" y="2231136"/>
            <a:ext cx="1901952" cy="274320"/>
          </a:xfrm>
          <a:prstGeom prst="rect">
            <a:avLst/>
          </a:prstGeom>
          <a:noFill/>
          <a:ln/>
        </p:spPr>
        <p:txBody>
          <a:bodyPr wrap="square" lIns="0" tIns="0" rIns="0" bIns="0" rtlCol="0" anchor="ctr"/>
          <a:lstStyle/>
          <a:p>
            <a:pPr algn="ctr" indent="0" marL="0">
              <a:buNone/>
            </a:pPr>
            <a:r>
              <a:rPr lang="en-US" sz="1150" dirty="0">
                <a:solidFill>
                  <a:srgbClr val="7ED9CE"/>
                </a:solidFill>
                <a:latin typeface="Arial" pitchFamily="34" charset="0"/>
                <a:ea typeface="Arial" pitchFamily="34" charset="-122"/>
                <a:cs typeface="Arial" pitchFamily="34" charset="-120"/>
              </a:rPr>
              <a:t>all six traps covered</a:t>
            </a:r>
            <a:endParaRPr lang="en-US" dirty="0"/>
          </a:p>
        </p:txBody>
      </p:sp>
      <p:sp>
        <p:nvSpPr>
          <p:cNvPr id="22" name="Shape 19"/>
          <p:cNvSpPr/>
          <p:nvPr/>
        </p:nvSpPr>
        <p:spPr>
          <a:xfrm>
            <a:off x="9528048" y="1325880"/>
            <a:ext cx="2121408" cy="1261872"/>
          </a:xfrm>
          <a:prstGeom prst="rect">
            <a:avLst/>
          </a:prstGeom>
          <a:solidFill>
            <a:srgbClr val="0B161C"/>
          </a:solidFill>
          <a:ln/>
        </p:spPr>
      </p:sp>
      <p:sp>
        <p:nvSpPr>
          <p:cNvPr id="23" name="Text 20"/>
          <p:cNvSpPr/>
          <p:nvPr/>
        </p:nvSpPr>
        <p:spPr>
          <a:xfrm>
            <a:off x="9528048" y="1399032"/>
            <a:ext cx="2121408" cy="548640"/>
          </a:xfrm>
          <a:prstGeom prst="rect">
            <a:avLst/>
          </a:prstGeom>
          <a:noFill/>
          <a:ln/>
        </p:spPr>
        <p:txBody>
          <a:bodyPr wrap="square" lIns="0" tIns="0" rIns="0" bIns="0" rtlCol="0" anchor="ctr"/>
          <a:lstStyle/>
          <a:p>
            <a:pPr algn="ctr" indent="0" marL="0">
              <a:buNone/>
            </a:pPr>
            <a:r>
              <a:rPr lang="en-US" sz="3000" dirty="0">
                <a:solidFill>
                  <a:srgbClr val="C6A15B"/>
                </a:solidFill>
                <a:latin typeface="Georgia" pitchFamily="34" charset="0"/>
                <a:ea typeface="Georgia" pitchFamily="34" charset="-122"/>
                <a:cs typeface="Georgia" pitchFamily="34" charset="-120"/>
              </a:rPr>
              <a:t>0</a:t>
            </a:r>
            <a:endParaRPr lang="en-US" dirty="0"/>
          </a:p>
        </p:txBody>
      </p:sp>
      <p:sp>
        <p:nvSpPr>
          <p:cNvPr id="24" name="Text 21"/>
          <p:cNvSpPr/>
          <p:nvPr/>
        </p:nvSpPr>
        <p:spPr>
          <a:xfrm>
            <a:off x="9619488" y="1938528"/>
            <a:ext cx="1938528" cy="292608"/>
          </a:xfrm>
          <a:prstGeom prst="rect">
            <a:avLst/>
          </a:prstGeom>
          <a:noFill/>
          <a:ln/>
        </p:spPr>
        <p:txBody>
          <a:bodyPr wrap="square" lIns="0" tIns="0" rIns="0" bIns="0" rtlCol="0" anchor="ctr"/>
          <a:lstStyle/>
          <a:p>
            <a:pPr algn="ctr" indent="0" marL="0">
              <a:buNone/>
            </a:pPr>
            <a:r>
              <a:rPr lang="en-US" sz="1400" dirty="0">
                <a:solidFill>
                  <a:srgbClr val="F6F1E8"/>
                </a:solidFill>
                <a:latin typeface="Georgia" pitchFamily="34" charset="0"/>
                <a:ea typeface="Georgia" pitchFamily="34" charset="-122"/>
                <a:cs typeface="Georgia" pitchFamily="34" charset="-120"/>
              </a:rPr>
              <a:t>Monotone violations</a:t>
            </a:r>
            <a:endParaRPr lang="en-US" dirty="0"/>
          </a:p>
        </p:txBody>
      </p:sp>
      <p:sp>
        <p:nvSpPr>
          <p:cNvPr id="25" name="Text 22"/>
          <p:cNvSpPr/>
          <p:nvPr/>
        </p:nvSpPr>
        <p:spPr>
          <a:xfrm>
            <a:off x="9637776" y="2231136"/>
            <a:ext cx="1901952" cy="274320"/>
          </a:xfrm>
          <a:prstGeom prst="rect">
            <a:avLst/>
          </a:prstGeom>
          <a:noFill/>
          <a:ln/>
        </p:spPr>
        <p:txBody>
          <a:bodyPr wrap="square" lIns="0" tIns="0" rIns="0" bIns="0" rtlCol="0" anchor="ctr"/>
          <a:lstStyle/>
          <a:p>
            <a:pPr algn="ctr" indent="0" marL="0">
              <a:buNone/>
            </a:pPr>
            <a:r>
              <a:rPr lang="en-US" sz="1150" dirty="0">
                <a:solidFill>
                  <a:srgbClr val="7ED9CE"/>
                </a:solidFill>
                <a:latin typeface="Arial" pitchFamily="34" charset="0"/>
                <a:ea typeface="Arial" pitchFamily="34" charset="-122"/>
                <a:cs typeface="Arial" pitchFamily="34" charset="-120"/>
              </a:rPr>
              <a:t>30 ≤ 60 ≤ 90-day risk</a:t>
            </a:r>
            <a:endParaRPr lang="en-US" dirty="0"/>
          </a:p>
        </p:txBody>
      </p:sp>
      <p:sp>
        <p:nvSpPr>
          <p:cNvPr id="26" name="Text 23"/>
          <p:cNvSpPr/>
          <p:nvPr/>
        </p:nvSpPr>
        <p:spPr>
          <a:xfrm>
            <a:off x="566928" y="5010912"/>
            <a:ext cx="11018520" cy="1371600"/>
          </a:xfrm>
          <a:prstGeom prst="rect">
            <a:avLst/>
          </a:prstGeom>
          <a:noFill/>
          <a:ln/>
        </p:spPr>
        <p:txBody>
          <a:bodyPr wrap="square" lIns="0" tIns="0" rIns="0" bIns="0" rtlCol="0" anchor="ctr"/>
          <a:lstStyle/>
          <a:p>
            <a:pPr indent="0" marL="0">
              <a:buNone/>
            </a:pPr>
            <a:r>
              <a:rPr lang="en-US" sz="1300" dirty="0" b="1">
                <a:solidFill>
                  <a:srgbClr val="0B161C"/>
                </a:solidFill>
                <a:latin typeface="Arial" pitchFamily="34" charset="0"/>
                <a:ea typeface="Arial" pitchFamily="34" charset="-122"/>
                <a:cs typeface="Arial" pitchFamily="34" charset="-120"/>
              </a:rPr>
              <a:t>Synthetic data only. </a:t>
            </a:r>
            <a:r>
              <a:rPr lang="en-US" sz="1300" dirty="0">
                <a:solidFill>
                  <a:srgbClr val="2C3A40"/>
                </a:solidFill>
                <a:latin typeface="Arial" pitchFamily="34" charset="0"/>
                <a:ea typeface="Arial" pitchFamily="34" charset="-122"/>
                <a:cs typeface="Arial" pitchFamily="34" charset="-120"/>
              </a:rPr>
              <a:t>24 seeded worlds; test on 5 unseen worlds at later cutoffs; P(confirm) on 339 held-out cases. Nothing here is a real-claims result.</a:t>
            </a:r>
            <a:endParaRPr lang="en-US" dirty="0"/>
          </a:p>
          <a:p>
            <a:pPr indent="0" marL="0">
              <a:spcBef>
                <a:spcPts val="500"/>
              </a:spcBef>
              <a:buNone/>
            </a:pPr>
            <a:r>
              <a:rPr lang="en-US" sz="1200" dirty="0">
                <a:solidFill>
                  <a:srgbClr val="56666C"/>
                </a:solidFill>
                <a:latin typeface="Arial" pitchFamily="34" charset="0"/>
                <a:ea typeface="Arial" pitchFamily="34" charset="-122"/>
                <a:cs typeface="Arial" pitchFamily="34" charset="-120"/>
              </a:rPr>
              <a:t>*HGB challenger scores higher but is backtest-only, not in production. </a:t>
            </a:r>
            <a:r>
              <a:rPr lang="en-US" sz="1200" dirty="0" b="1">
                <a:solidFill>
                  <a:srgbClr val="C45C4A"/>
                </a:solidFill>
                <a:latin typeface="Arial" pitchFamily="34" charset="0"/>
                <a:ea typeface="Arial" pitchFamily="34" charset="-122"/>
                <a:cs typeface="Arial" pitchFamily="34" charset="-120"/>
              </a:rPr>
              <a:t>Honest limit: </a:t>
            </a:r>
            <a:r>
              <a:rPr lang="en-US" sz="1200" dirty="0">
                <a:solidFill>
                  <a:srgbClr val="2C3A40"/>
                </a:solidFill>
                <a:latin typeface="Arial" pitchFamily="34" charset="0"/>
                <a:ea typeface="Arial" pitchFamily="34" charset="-122"/>
                <a:cs typeface="Arial" pitchFamily="34" charset="-120"/>
              </a:rPr>
              <a:t>S06 ambulance, held out of training, is missed by the learned scores (recall at capacity 0.0; 0 of 24 cases made the 40 h cut). The S06 rule still fires.</a:t>
            </a:r>
            <a:endParaRPr lang="en-US" dirty="0"/>
          </a:p>
        </p:txBody>
      </p:sp>
      <p:sp>
        <p:nvSpPr>
          <p:cNvPr id="27" name="Shape 24"/>
          <p:cNvSpPr/>
          <p:nvPr/>
        </p:nvSpPr>
        <p:spPr>
          <a:xfrm>
            <a:off x="0" y="6510528"/>
            <a:ext cx="12191695" cy="347472"/>
          </a:xfrm>
          <a:prstGeom prst="rect">
            <a:avLst/>
          </a:prstGeom>
          <a:solidFill>
            <a:srgbClr val="0B161C"/>
          </a:solidFill>
          <a:ln/>
        </p:spPr>
      </p:sp>
      <p:sp>
        <p:nvSpPr>
          <p:cNvPr id="28" name="Text 25"/>
          <p:cNvSpPr/>
          <p:nvPr/>
        </p:nvSpPr>
        <p:spPr>
          <a:xfrm>
            <a:off x="566928" y="6510528"/>
            <a:ext cx="5120640" cy="347472"/>
          </a:xfrm>
          <a:prstGeom prst="rect">
            <a:avLst/>
          </a:prstGeom>
          <a:noFill/>
          <a:ln/>
        </p:spPr>
        <p:txBody>
          <a:bodyPr wrap="square" lIns="0" tIns="0" rIns="0" bIns="0" rtlCol="0" anchor="ctr"/>
          <a:lstStyle/>
          <a:p>
            <a:pPr indent="0" marL="0">
              <a:buNone/>
            </a:pPr>
            <a:r>
              <a:rPr lang="en-US" sz="1000" spc="120" kern="0" dirty="0">
                <a:solidFill>
                  <a:srgbClr val="7ED9CE"/>
                </a:solidFill>
                <a:latin typeface="Consolas" pitchFamily="34" charset="0"/>
                <a:ea typeface="Consolas" pitchFamily="34" charset="-122"/>
                <a:cs typeface="Consolas" pitchFamily="34" charset="-120"/>
              </a:rPr>
              <a:t>TEAM SE7EN  ·  CLAIMSHIELD NEXUS</a:t>
            </a:r>
            <a:endParaRPr lang="en-US" sz="1000" dirty="0"/>
          </a:p>
        </p:txBody>
      </p:sp>
      <p:sp>
        <p:nvSpPr>
          <p:cNvPr id="29" name="Text 26"/>
          <p:cNvSpPr/>
          <p:nvPr/>
        </p:nvSpPr>
        <p:spPr>
          <a:xfrm>
            <a:off x="5120640" y="6510528"/>
            <a:ext cx="4023360" cy="347472"/>
          </a:xfrm>
          <a:prstGeom prst="rect">
            <a:avLst/>
          </a:prstGeom>
          <a:noFill/>
          <a:ln/>
        </p:spPr>
        <p:txBody>
          <a:bodyPr wrap="square" lIns="0" tIns="0" rIns="0" bIns="0" rtlCol="0" anchor="ctr"/>
          <a:lstStyle/>
          <a:p>
            <a:pPr algn="ctr" indent="0" marL="0">
              <a:buNone/>
            </a:pPr>
            <a:r>
              <a:rPr lang="en-US" sz="1000" spc="140" kern="0" dirty="0">
                <a:solidFill>
                  <a:srgbClr val="C6A15B"/>
                </a:solidFill>
                <a:latin typeface="Consolas" pitchFamily="34" charset="0"/>
                <a:ea typeface="Consolas" pitchFamily="34" charset="-122"/>
                <a:cs typeface="Consolas" pitchFamily="34" charset="-120"/>
              </a:rPr>
              <a:t>SCORES</a:t>
            </a:r>
            <a:endParaRPr lang="en-US" dirty="0"/>
          </a:p>
        </p:txBody>
      </p:sp>
      <p:sp>
        <p:nvSpPr>
          <p:cNvPr id="30" name="Text 27"/>
          <p:cNvSpPr/>
          <p:nvPr/>
        </p:nvSpPr>
        <p:spPr>
          <a:xfrm>
            <a:off x="9509760" y="6510528"/>
            <a:ext cx="2103120" cy="347472"/>
          </a:xfrm>
          <a:prstGeom prst="rect">
            <a:avLst/>
          </a:prstGeom>
          <a:noFill/>
          <a:ln/>
        </p:spPr>
        <p:txBody>
          <a:bodyPr wrap="square" lIns="0" tIns="0" rIns="0" bIns="0" rtlCol="0" anchor="ctr"/>
          <a:lstStyle/>
          <a:p>
            <a:pPr algn="r" indent="0" marL="0">
              <a:buNone/>
            </a:pPr>
            <a:r>
              <a:rPr lang="en-US" sz="1000" spc="120" kern="0" dirty="0">
                <a:solidFill>
                  <a:srgbClr val="F6F1E8"/>
                </a:solidFill>
                <a:latin typeface="Consolas" pitchFamily="34" charset="0"/>
                <a:ea typeface="Consolas" pitchFamily="34" charset="-122"/>
                <a:cs typeface="Consolas" pitchFamily="34" charset="-120"/>
              </a:rPr>
              <a:t>07  /  10</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61C"/>
        </a:solidFill>
      </p:bgPr>
    </p:bg>
    <p:spTree>
      <p:nvGrpSpPr>
        <p:cNvPr id="1" name=""/>
        <p:cNvGrpSpPr/>
        <p:nvPr/>
      </p:nvGrpSpPr>
      <p:grpSpPr>
        <a:xfrm>
          <a:off x="0" y="0"/>
          <a:ext cx="0" cy="0"/>
          <a:chOff x="0" y="0"/>
          <a:chExt cx="0" cy="0"/>
        </a:xfrm>
      </p:grpSpPr>
      <p:sp>
        <p:nvSpPr>
          <p:cNvPr id="2" name="Text 0"/>
          <p:cNvSpPr/>
          <p:nvPr/>
        </p:nvSpPr>
        <p:spPr>
          <a:xfrm>
            <a:off x="566928" y="292608"/>
            <a:ext cx="10972800" cy="256032"/>
          </a:xfrm>
          <a:prstGeom prst="rect">
            <a:avLst/>
          </a:prstGeom>
          <a:noFill/>
          <a:ln/>
        </p:spPr>
        <p:txBody>
          <a:bodyPr wrap="square" lIns="0" tIns="0" rIns="0" bIns="0" rtlCol="0" anchor="ctr"/>
          <a:lstStyle/>
          <a:p>
            <a:pPr indent="0" marL="0">
              <a:buNone/>
            </a:pPr>
            <a:r>
              <a:rPr lang="en-US" sz="1100" spc="200" kern="0" dirty="0" b="0">
                <a:solidFill>
                  <a:srgbClr val="8AA0A6"/>
                </a:solidFill>
                <a:latin typeface="Consolas" pitchFamily="34" charset="0"/>
                <a:ea typeface="Consolas" pitchFamily="34" charset="-122"/>
                <a:cs typeface="Consolas" pitchFamily="34" charset="-120"/>
              </a:rPr>
              <a:t>08   </a:t>
            </a:r>
            <a:r>
              <a:rPr lang="en-US" sz="1100" spc="240" kern="0" dirty="0" b="1">
                <a:solidFill>
                  <a:srgbClr val="C6A15B"/>
                </a:solidFill>
                <a:latin typeface="Consolas" pitchFamily="34" charset="0"/>
                <a:ea typeface="Consolas" pitchFamily="34" charset="-122"/>
                <a:cs typeface="Consolas" pitchFamily="34" charset="-120"/>
              </a:rPr>
              <a:t>BUSINESS NEED</a:t>
            </a:r>
            <a:endParaRPr lang="en-US" dirty="0"/>
          </a:p>
        </p:txBody>
      </p:sp>
      <p:sp>
        <p:nvSpPr>
          <p:cNvPr id="3" name="Shape 1"/>
          <p:cNvSpPr/>
          <p:nvPr/>
        </p:nvSpPr>
        <p:spPr>
          <a:xfrm>
            <a:off x="566928" y="585216"/>
            <a:ext cx="1234440" cy="32004"/>
          </a:xfrm>
          <a:prstGeom prst="rect">
            <a:avLst/>
          </a:prstGeom>
          <a:solidFill>
            <a:srgbClr val="C6A15B"/>
          </a:solidFill>
          <a:ln/>
        </p:spPr>
      </p:sp>
      <p:sp>
        <p:nvSpPr>
          <p:cNvPr id="4" name="Text 2"/>
          <p:cNvSpPr/>
          <p:nvPr/>
        </p:nvSpPr>
        <p:spPr>
          <a:xfrm>
            <a:off x="566928" y="777240"/>
            <a:ext cx="10972800" cy="457200"/>
          </a:xfrm>
          <a:prstGeom prst="rect">
            <a:avLst/>
          </a:prstGeom>
          <a:noFill/>
          <a:ln/>
        </p:spPr>
        <p:txBody>
          <a:bodyPr wrap="square" lIns="0" tIns="0" rIns="0" bIns="0" rtlCol="0" anchor="ctr"/>
          <a:lstStyle/>
          <a:p>
            <a:pPr indent="0" marL="0">
              <a:buNone/>
            </a:pPr>
            <a:r>
              <a:rPr lang="en-US" sz="2600" dirty="0">
                <a:solidFill>
                  <a:srgbClr val="F6F1E8"/>
                </a:solidFill>
                <a:latin typeface="Georgia" pitchFamily="34" charset="0"/>
                <a:ea typeface="Georgia" pitchFamily="34" charset="-122"/>
                <a:cs typeface="Georgia" pitchFamily="34" charset="-120"/>
              </a:rPr>
              <a:t>Who buys it, and the two costs it cuts.</a:t>
            </a:r>
            <a:endParaRPr lang="en-US" dirty="0"/>
          </a:p>
        </p:txBody>
      </p:sp>
      <p:sp>
        <p:nvSpPr>
          <p:cNvPr id="28" name="Text 2b"/>
          <p:cNvSpPr/>
          <p:nvPr/>
        </p:nvSpPr>
        <p:spPr>
          <a:xfrm>
            <a:off x="566928" y="4983480"/>
            <a:ext cx="10972800" cy="868680"/>
          </a:xfrm>
          <a:prstGeom prst="rect">
            <a:avLst/>
          </a:prstGeom>
          <a:noFill/>
          <a:ln/>
        </p:spPr>
        <p:txBody>
          <a:bodyPr wrap="square" lIns="0" tIns="0" rIns="0" bIns="0" rtlCol="0" anchor="ctr"/>
          <a:lstStyle/>
          <a:p>
            <a:pPr indent="0" marL="0">
              <a:buNone/>
            </a:pPr>
            <a:r>
              <a:rPr lang="en-US" sz="1100" dirty="0" b="1">
                <a:solidFill>
                  <a:srgbClr val="C6A15B"/>
                </a:solidFill>
                <a:latin typeface="Consolas" pitchFamily="34" charset="0"/>
                <a:ea typeface="Consolas" pitchFamily="34" charset="-122"/>
                <a:cs typeface="Consolas" pitchFamily="34" charset="-120"/>
              </a:rPr>
              <a:t>VALUE ON THE DESK   </a:t>
            </a:r>
            <a:r>
              <a:rPr lang="en-US" sz="1300" dirty="0" b="0">
                <a:solidFill>
                  <a:srgbClr val="7ED9CE"/>
                </a:solidFill>
                <a:latin typeface="Consolas" pitchFamily="34" charset="0"/>
                <a:ea typeface="Consolas" pitchFamily="34" charset="-122"/>
                <a:cs typeface="Consolas" pitchFamily="34" charset="-120"/>
              </a:rPr>
              <a:t>35 alerts → 17 cases → 16 on today’s desk</a:t>
            </a:r>
            <a:r>
              <a:rPr lang="en-US" sz="1000" dirty="0" b="0">
                <a:solidFill>
                  <a:srgbClr val="8AA0A6"/>
                </a:solidFill>
                <a:latin typeface="Consolas" pitchFamily="34" charset="0"/>
                <a:ea typeface="Consolas" pitchFamily="34" charset="-122"/>
                <a:cs typeface="Consolas" pitchFamily="34" charset="-120"/>
              </a:rPr>
              <a:t>   tiny / seed 7 · 40 h · 20 slots</a:t>
            </a:r>
            <a:endParaRPr lang="en-US" dirty="0"/>
          </a:p>
          <a:p>
            <a:pPr indent="0" marL="0">
              <a:spcBef>
                <a:spcPts val="600"/>
              </a:spcBef>
              <a:buNone/>
            </a:pPr>
            <a:r>
              <a:rPr lang="en-US" sz="1300" dirty="0" b="0">
                <a:solidFill>
                  <a:srgbClr val="B8C7CB"/>
                </a:solidFill>
                <a:latin typeface="Arial" pitchFamily="34" charset="0"/>
                <a:ea typeface="Arial" pitchFamily="34" charset="-122"/>
                <a:cs typeface="Arial" pitchFamily="34" charset="-120"/>
              </a:rPr>
              <a:t>Capacity fit at a 40-hour desk: precision 1.000 (model) vs 0.840 (rules-only) vs 0.833 (old heuristic), held-out synthetic worlds.</a:t>
            </a:r>
            <a:endParaRPr lang="en-US" dirty="0"/>
          </a:p>
        </p:txBody>
      </p:sp>
      <p:sp>
        <p:nvSpPr>
          <p:cNvPr id="5" name="Shape 3"/>
          <p:cNvSpPr/>
          <p:nvPr/>
        </p:nvSpPr>
        <p:spPr>
          <a:xfrm>
            <a:off x="566928" y="1463040"/>
            <a:ext cx="2670048" cy="3291840"/>
          </a:xfrm>
          <a:prstGeom prst="rect">
            <a:avLst/>
          </a:prstGeom>
          <a:solidFill>
            <a:srgbClr val="12242C"/>
          </a:solidFill>
          <a:ln/>
        </p:spPr>
      </p:sp>
      <p:sp>
        <p:nvSpPr>
          <p:cNvPr id="6" name="Shape 4"/>
          <p:cNvSpPr/>
          <p:nvPr/>
        </p:nvSpPr>
        <p:spPr>
          <a:xfrm>
            <a:off x="566928" y="1463040"/>
            <a:ext cx="2670048" cy="91440"/>
          </a:xfrm>
          <a:prstGeom prst="rect">
            <a:avLst/>
          </a:prstGeom>
          <a:solidFill>
            <a:srgbClr val="2A9A8F"/>
          </a:solidFill>
          <a:ln/>
        </p:spPr>
      </p:sp>
      <p:sp>
        <p:nvSpPr>
          <p:cNvPr id="7" name="Text 5"/>
          <p:cNvSpPr/>
          <p:nvPr/>
        </p:nvSpPr>
        <p:spPr>
          <a:xfrm>
            <a:off x="768096" y="1783080"/>
            <a:ext cx="2267712" cy="365760"/>
          </a:xfrm>
          <a:prstGeom prst="rect">
            <a:avLst/>
          </a:prstGeom>
          <a:noFill/>
          <a:ln/>
        </p:spPr>
        <p:txBody>
          <a:bodyPr wrap="square" lIns="0" tIns="0" rIns="0" bIns="0" rtlCol="0" anchor="ctr"/>
          <a:lstStyle/>
          <a:p>
            <a:pPr indent="0" marL="0">
              <a:buNone/>
            </a:pPr>
            <a:r>
              <a:rPr lang="en-US" sz="1300" spc="200" kern="0" dirty="0">
                <a:solidFill>
                  <a:srgbClr val="2A9A8F"/>
                </a:solidFill>
                <a:latin typeface="Consolas" pitchFamily="34" charset="0"/>
                <a:ea typeface="Consolas" pitchFamily="34" charset="-122"/>
                <a:cs typeface="Consolas" pitchFamily="34" charset="-120"/>
              </a:rPr>
              <a:t>01  BUYER</a:t>
            </a:r>
            <a:endParaRPr lang="en-US" dirty="0"/>
          </a:p>
        </p:txBody>
      </p:sp>
      <p:sp>
        <p:nvSpPr>
          <p:cNvPr id="8" name="Text 6"/>
          <p:cNvSpPr/>
          <p:nvPr/>
        </p:nvSpPr>
        <p:spPr>
          <a:xfrm>
            <a:off x="768096" y="2194560"/>
            <a:ext cx="2267712" cy="77724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SIU teams</a:t>
            </a:r>
            <a:endParaRPr lang="en-US" dirty="0"/>
          </a:p>
        </p:txBody>
      </p:sp>
      <p:sp>
        <p:nvSpPr>
          <p:cNvPr id="9" name="Text 7"/>
          <p:cNvSpPr/>
          <p:nvPr/>
        </p:nvSpPr>
        <p:spPr>
          <a:xfrm>
            <a:off x="768096" y="3017520"/>
            <a:ext cx="2267712" cy="1965960"/>
          </a:xfrm>
          <a:prstGeom prst="rect">
            <a:avLst/>
          </a:prstGeom>
          <a:noFill/>
          <a:ln/>
        </p:spPr>
        <p:txBody>
          <a:bodyPr wrap="square" lIns="0" tIns="0" rIns="0" bIns="0" rtlCol="0" anchor="t"/>
          <a:lstStyle/>
          <a:p>
            <a:pPr indent="0" marL="0">
              <a:buNone/>
            </a:pPr>
            <a:r>
              <a:rPr lang="en-US" sz="1350" dirty="0">
                <a:solidFill>
                  <a:srgbClr val="8AA0A6"/>
                </a:solidFill>
                <a:latin typeface="Arial" pitchFamily="34" charset="0"/>
                <a:ea typeface="Arial" pitchFamily="34" charset="-122"/>
                <a:cs typeface="Arial" pitchFamily="34" charset="-120"/>
              </a:rPr>
              <a:t>Payer and Medicaid program-integrity SIUs: investigators who work cases, managers who own the hours.</a:t>
            </a:r>
            <a:endParaRPr lang="en-US" dirty="0"/>
          </a:p>
          <a:p>
            <a:pPr indent="0" marL="0">
              <a:spcBef>
                <a:spcPts val="600"/>
              </a:spcBef>
              <a:buNone/>
            </a:pPr>
            <a:r>
              <a:rPr lang="en-US" sz="1350" dirty="0">
                <a:solidFill>
                  <a:srgbClr val="B8C7CB"/>
                </a:solidFill>
                <a:latin typeface="Arial" pitchFamily="34" charset="0"/>
                <a:ea typeface="Arial" pitchFamily="34" charset="-122"/>
                <a:cs typeface="Arial" pitchFamily="34" charset="-120"/>
              </a:rPr>
              <a:t>Sits downstream of eCAMS; feeds program integrity.</a:t>
            </a:r>
            <a:endParaRPr lang="en-US" dirty="0"/>
          </a:p>
        </p:txBody>
      </p:sp>
      <p:sp>
        <p:nvSpPr>
          <p:cNvPr id="10" name="Shape 8"/>
          <p:cNvSpPr/>
          <p:nvPr/>
        </p:nvSpPr>
        <p:spPr>
          <a:xfrm>
            <a:off x="3355848" y="1463040"/>
            <a:ext cx="2670048" cy="3291840"/>
          </a:xfrm>
          <a:prstGeom prst="rect">
            <a:avLst/>
          </a:prstGeom>
          <a:solidFill>
            <a:srgbClr val="12242C"/>
          </a:solidFill>
          <a:ln/>
        </p:spPr>
      </p:sp>
      <p:sp>
        <p:nvSpPr>
          <p:cNvPr id="11" name="Shape 9"/>
          <p:cNvSpPr/>
          <p:nvPr/>
        </p:nvSpPr>
        <p:spPr>
          <a:xfrm>
            <a:off x="3355848" y="1463040"/>
            <a:ext cx="2670048" cy="91440"/>
          </a:xfrm>
          <a:prstGeom prst="rect">
            <a:avLst/>
          </a:prstGeom>
          <a:solidFill>
            <a:srgbClr val="C45C4A"/>
          </a:solidFill>
          <a:ln/>
        </p:spPr>
      </p:sp>
      <p:sp>
        <p:nvSpPr>
          <p:cNvPr id="12" name="Text 10"/>
          <p:cNvSpPr/>
          <p:nvPr/>
        </p:nvSpPr>
        <p:spPr>
          <a:xfrm>
            <a:off x="3557016" y="1783080"/>
            <a:ext cx="2267712" cy="365760"/>
          </a:xfrm>
          <a:prstGeom prst="rect">
            <a:avLst/>
          </a:prstGeom>
          <a:noFill/>
          <a:ln/>
        </p:spPr>
        <p:txBody>
          <a:bodyPr wrap="square" lIns="0" tIns="0" rIns="0" bIns="0" rtlCol="0" anchor="ctr"/>
          <a:lstStyle/>
          <a:p>
            <a:pPr indent="0" marL="0">
              <a:buNone/>
            </a:pPr>
            <a:r>
              <a:rPr lang="en-US" sz="1300" spc="200" kern="0" dirty="0">
                <a:solidFill>
                  <a:srgbClr val="C45C4A"/>
                </a:solidFill>
                <a:latin typeface="Consolas" pitchFamily="34" charset="0"/>
                <a:ea typeface="Consolas" pitchFamily="34" charset="-122"/>
                <a:cs typeface="Consolas" pitchFamily="34" charset="-120"/>
              </a:rPr>
              <a:t>02  COST</a:t>
            </a:r>
            <a:endParaRPr lang="en-US" dirty="0"/>
          </a:p>
        </p:txBody>
      </p:sp>
      <p:sp>
        <p:nvSpPr>
          <p:cNvPr id="13" name="Text 11"/>
          <p:cNvSpPr/>
          <p:nvPr/>
        </p:nvSpPr>
        <p:spPr>
          <a:xfrm>
            <a:off x="3557016" y="2194560"/>
            <a:ext cx="2267712" cy="77724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Missed schemes</a:t>
            </a:r>
            <a:endParaRPr lang="en-US" dirty="0"/>
          </a:p>
        </p:txBody>
      </p:sp>
      <p:sp>
        <p:nvSpPr>
          <p:cNvPr id="14" name="Text 12"/>
          <p:cNvSpPr/>
          <p:nvPr/>
        </p:nvSpPr>
        <p:spPr>
          <a:xfrm>
            <a:off x="3557016" y="3017520"/>
            <a:ext cx="2267712" cy="1965960"/>
          </a:xfrm>
          <a:prstGeom prst="rect">
            <a:avLst/>
          </a:prstGeom>
          <a:noFill/>
          <a:ln/>
        </p:spPr>
        <p:txBody>
          <a:bodyPr wrap="square" lIns="0" tIns="0" rIns="0" bIns="0" rtlCol="0" anchor="t"/>
          <a:lstStyle/>
          <a:p>
            <a:pPr indent="0" marL="0">
              <a:buNone/>
            </a:pPr>
            <a:r>
              <a:rPr lang="en-US" sz="1350" dirty="0">
                <a:solidFill>
                  <a:srgbClr val="8AA0A6"/>
                </a:solidFill>
                <a:latin typeface="Arial" pitchFamily="34" charset="0"/>
                <a:ea typeface="Arial" pitchFamily="34" charset="-122"/>
                <a:cs typeface="Arial" pitchFamily="34" charset="-120"/>
              </a:rPr>
              <a:t>A few dozen cases a month against thousands of alerts.</a:t>
            </a:r>
            <a:endParaRPr lang="en-US" dirty="0"/>
          </a:p>
          <a:p>
            <a:pPr indent="0" marL="0">
              <a:spcBef>
                <a:spcPts val="600"/>
              </a:spcBef>
              <a:buNone/>
            </a:pPr>
            <a:r>
              <a:rPr lang="en-US" sz="1350" dirty="0">
                <a:solidFill>
                  <a:srgbClr val="B8C7CB"/>
                </a:solidFill>
                <a:latin typeface="Arial" pitchFamily="34" charset="0"/>
                <a:ea typeface="Arial" pitchFamily="34" charset="-122"/>
                <a:cs typeface="Arial" pitchFamily="34" charset="-120"/>
              </a:rPr>
              <a:t>Rings, shared owners and timing only show across claims.</a:t>
            </a:r>
            <a:endParaRPr lang="en-US" dirty="0"/>
          </a:p>
        </p:txBody>
      </p:sp>
      <p:sp>
        <p:nvSpPr>
          <p:cNvPr id="15" name="Shape 13"/>
          <p:cNvSpPr/>
          <p:nvPr/>
        </p:nvSpPr>
        <p:spPr>
          <a:xfrm>
            <a:off x="6144768" y="1463040"/>
            <a:ext cx="2670048" cy="3291840"/>
          </a:xfrm>
          <a:prstGeom prst="rect">
            <a:avLst/>
          </a:prstGeom>
          <a:solidFill>
            <a:srgbClr val="12242C"/>
          </a:solidFill>
          <a:ln/>
        </p:spPr>
      </p:sp>
      <p:sp>
        <p:nvSpPr>
          <p:cNvPr id="16" name="Shape 14"/>
          <p:cNvSpPr/>
          <p:nvPr/>
        </p:nvSpPr>
        <p:spPr>
          <a:xfrm>
            <a:off x="6144768" y="1463040"/>
            <a:ext cx="2670048" cy="91440"/>
          </a:xfrm>
          <a:prstGeom prst="rect">
            <a:avLst/>
          </a:prstGeom>
          <a:solidFill>
            <a:srgbClr val="C6A15B"/>
          </a:solidFill>
          <a:ln/>
        </p:spPr>
      </p:sp>
      <p:sp>
        <p:nvSpPr>
          <p:cNvPr id="17" name="Text 15"/>
          <p:cNvSpPr/>
          <p:nvPr/>
        </p:nvSpPr>
        <p:spPr>
          <a:xfrm>
            <a:off x="6345936" y="1783080"/>
            <a:ext cx="2267712" cy="365760"/>
          </a:xfrm>
          <a:prstGeom prst="rect">
            <a:avLst/>
          </a:prstGeom>
          <a:noFill/>
          <a:ln/>
        </p:spPr>
        <p:txBody>
          <a:bodyPr wrap="square" lIns="0" tIns="0" rIns="0" bIns="0" rtlCol="0" anchor="ctr"/>
          <a:lstStyle/>
          <a:p>
            <a:pPr indent="0" marL="0">
              <a:buNone/>
            </a:pPr>
            <a:r>
              <a:rPr lang="en-US" sz="1300" spc="200" kern="0" dirty="0">
                <a:solidFill>
                  <a:srgbClr val="C6A15B"/>
                </a:solidFill>
                <a:latin typeface="Consolas" pitchFamily="34" charset="0"/>
                <a:ea typeface="Consolas" pitchFamily="34" charset="-122"/>
                <a:cs typeface="Consolas" pitchFamily="34" charset="-120"/>
              </a:rPr>
              <a:t>03  COST</a:t>
            </a:r>
            <a:endParaRPr lang="en-US" dirty="0"/>
          </a:p>
        </p:txBody>
      </p:sp>
      <p:sp>
        <p:nvSpPr>
          <p:cNvPr id="18" name="Text 16"/>
          <p:cNvSpPr/>
          <p:nvPr/>
        </p:nvSpPr>
        <p:spPr>
          <a:xfrm>
            <a:off x="6345936" y="2194560"/>
            <a:ext cx="2267712" cy="77724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Honest providers</a:t>
            </a:r>
            <a:endParaRPr lang="en-US" dirty="0"/>
          </a:p>
        </p:txBody>
      </p:sp>
      <p:sp>
        <p:nvSpPr>
          <p:cNvPr id="19" name="Text 17"/>
          <p:cNvSpPr/>
          <p:nvPr/>
        </p:nvSpPr>
        <p:spPr>
          <a:xfrm>
            <a:off x="6345936" y="3017520"/>
            <a:ext cx="2267712" cy="1965960"/>
          </a:xfrm>
          <a:prstGeom prst="rect">
            <a:avLst/>
          </a:prstGeom>
          <a:noFill/>
          <a:ln/>
        </p:spPr>
        <p:txBody>
          <a:bodyPr wrap="square" lIns="0" tIns="0" rIns="0" bIns="0" rtlCol="0" anchor="t"/>
          <a:lstStyle/>
          <a:p>
            <a:pPr indent="0" marL="0">
              <a:buNone/>
            </a:pPr>
            <a:r>
              <a:rPr lang="en-US" sz="1350" dirty="0">
                <a:solidFill>
                  <a:srgbClr val="8AA0A6"/>
                </a:solidFill>
                <a:latin typeface="Arial" pitchFamily="34" charset="0"/>
                <a:ea typeface="Arial" pitchFamily="34" charset="-122"/>
                <a:cs typeface="Arial" pitchFamily="34" charset="-120"/>
              </a:rPr>
              <a:t>Weak or unexplained flags disrupt care.</a:t>
            </a:r>
            <a:endParaRPr lang="en-US" dirty="0"/>
          </a:p>
          <a:p>
            <a:pPr indent="0" marL="0">
              <a:spcBef>
                <a:spcPts val="600"/>
              </a:spcBef>
              <a:buNone/>
            </a:pPr>
            <a:r>
              <a:rPr lang="en-US" sz="1350" dirty="0">
                <a:solidFill>
                  <a:srgbClr val="B8C7CB"/>
                </a:solidFill>
                <a:latin typeface="Arial" pitchFamily="34" charset="0"/>
                <a:ea typeface="Arial" pitchFamily="34" charset="-122"/>
                <a:cs typeface="Arial" pitchFamily="34" charset="-120"/>
              </a:rPr>
              <a:t>Strength below 0.40 goes to gather evidence, never to a fraud label.</a:t>
            </a:r>
            <a:endParaRPr lang="en-US" dirty="0"/>
          </a:p>
        </p:txBody>
      </p:sp>
      <p:sp>
        <p:nvSpPr>
          <p:cNvPr id="20" name="Shape 18"/>
          <p:cNvSpPr/>
          <p:nvPr/>
        </p:nvSpPr>
        <p:spPr>
          <a:xfrm>
            <a:off x="8933688" y="1463040"/>
            <a:ext cx="2670048" cy="3291840"/>
          </a:xfrm>
          <a:prstGeom prst="rect">
            <a:avLst/>
          </a:prstGeom>
          <a:solidFill>
            <a:srgbClr val="12242C"/>
          </a:solidFill>
          <a:ln/>
        </p:spPr>
      </p:sp>
      <p:sp>
        <p:nvSpPr>
          <p:cNvPr id="21" name="Shape 19"/>
          <p:cNvSpPr/>
          <p:nvPr/>
        </p:nvSpPr>
        <p:spPr>
          <a:xfrm>
            <a:off x="8933688" y="1463040"/>
            <a:ext cx="2670048" cy="91440"/>
          </a:xfrm>
          <a:prstGeom prst="rect">
            <a:avLst/>
          </a:prstGeom>
          <a:solidFill>
            <a:srgbClr val="8AA0A6"/>
          </a:solidFill>
          <a:ln/>
        </p:spPr>
      </p:sp>
      <p:sp>
        <p:nvSpPr>
          <p:cNvPr id="22" name="Text 20"/>
          <p:cNvSpPr/>
          <p:nvPr/>
        </p:nvSpPr>
        <p:spPr>
          <a:xfrm>
            <a:off x="9134856" y="1783080"/>
            <a:ext cx="2267712" cy="365760"/>
          </a:xfrm>
          <a:prstGeom prst="rect">
            <a:avLst/>
          </a:prstGeom>
          <a:noFill/>
          <a:ln/>
        </p:spPr>
        <p:txBody>
          <a:bodyPr wrap="square" lIns="0" tIns="0" rIns="0" bIns="0" rtlCol="0" anchor="ctr"/>
          <a:lstStyle/>
          <a:p>
            <a:pPr indent="0" marL="0">
              <a:buNone/>
            </a:pPr>
            <a:r>
              <a:rPr lang="en-US" sz="1300" spc="200" kern="0" dirty="0">
                <a:solidFill>
                  <a:srgbClr val="8AA0A6"/>
                </a:solidFill>
                <a:latin typeface="Consolas" pitchFamily="34" charset="0"/>
                <a:ea typeface="Consolas" pitchFamily="34" charset="-122"/>
                <a:cs typeface="Consolas" pitchFamily="34" charset="-120"/>
              </a:rPr>
              <a:t>04  GUARD</a:t>
            </a:r>
            <a:endParaRPr lang="en-US" dirty="0"/>
          </a:p>
        </p:txBody>
      </p:sp>
      <p:sp>
        <p:nvSpPr>
          <p:cNvPr id="23" name="Text 21"/>
          <p:cNvSpPr/>
          <p:nvPr/>
        </p:nvSpPr>
        <p:spPr>
          <a:xfrm>
            <a:off x="9134856" y="2194560"/>
            <a:ext cx="2267712" cy="777240"/>
          </a:xfrm>
          <a:prstGeom prst="rect">
            <a:avLst/>
          </a:prstGeom>
          <a:noFill/>
          <a:ln/>
        </p:spPr>
        <p:txBody>
          <a:bodyPr wrap="square" lIns="0" tIns="0" rIns="0" bIns="0" rtlCol="0" anchor="ctr"/>
          <a:lstStyle/>
          <a:p>
            <a:pPr indent="0" marL="0">
              <a:buNone/>
            </a:pPr>
            <a:r>
              <a:rPr lang="en-US" sz="2000" dirty="0">
                <a:solidFill>
                  <a:srgbClr val="F6F1E8"/>
                </a:solidFill>
                <a:latin typeface="Georgia" pitchFamily="34" charset="0"/>
                <a:ea typeface="Georgia" pitchFamily="34" charset="-122"/>
                <a:cs typeface="Georgia" pitchFamily="34" charset="-120"/>
              </a:rPr>
              <a:t>Recommend only</a:t>
            </a:r>
            <a:endParaRPr lang="en-US" dirty="0"/>
          </a:p>
        </p:txBody>
      </p:sp>
      <p:sp>
        <p:nvSpPr>
          <p:cNvPr id="24" name="Text 22"/>
          <p:cNvSpPr/>
          <p:nvPr/>
        </p:nvSpPr>
        <p:spPr>
          <a:xfrm>
            <a:off x="9134856" y="3017520"/>
            <a:ext cx="2267712" cy="1965960"/>
          </a:xfrm>
          <a:prstGeom prst="rect">
            <a:avLst/>
          </a:prstGeom>
          <a:noFill/>
          <a:ln/>
        </p:spPr>
        <p:txBody>
          <a:bodyPr wrap="square" lIns="0" tIns="0" rIns="0" bIns="0" rtlCol="0" anchor="t"/>
          <a:lstStyle/>
          <a:p>
            <a:pPr indent="0" marL="0">
              <a:buNone/>
            </a:pPr>
            <a:r>
              <a:rPr lang="en-US" sz="1350" dirty="0">
                <a:solidFill>
                  <a:srgbClr val="8AA0A6"/>
                </a:solidFill>
                <a:latin typeface="Arial" pitchFamily="34" charset="0"/>
                <a:ea typeface="Arial" pitchFamily="34" charset="-122"/>
                <a:cs typeface="Arial" pitchFamily="34" charset="-120"/>
              </a:rPr>
              <a:t>42 CFR 455.23 suspension is a state finding with good-cause exceptions.</a:t>
            </a:r>
            <a:endParaRPr lang="en-US" dirty="0"/>
          </a:p>
          <a:p>
            <a:pPr indent="0" marL="0">
              <a:spcBef>
                <a:spcPts val="600"/>
              </a:spcBef>
              <a:buNone/>
            </a:pPr>
            <a:r>
              <a:rPr lang="en-US" sz="1350" dirty="0">
                <a:solidFill>
                  <a:srgbClr val="B8C7CB"/>
                </a:solidFill>
                <a:latin typeface="Arial" pitchFamily="34" charset="0"/>
                <a:ea typeface="Arial" pitchFamily="34" charset="-122"/>
                <a:cs typeface="Arial" pitchFamily="34" charset="-120"/>
              </a:rPr>
              <a:t>We rank and explain. A human decides.</a:t>
            </a:r>
            <a:endParaRPr lang="en-US" dirty="0"/>
          </a:p>
        </p:txBody>
      </p:sp>
      <p:sp>
        <p:nvSpPr>
          <p:cNvPr id="25" name="Text 23"/>
          <p:cNvSpPr/>
          <p:nvPr/>
        </p:nvSpPr>
        <p:spPr>
          <a:xfrm>
            <a:off x="566928" y="6473952"/>
            <a:ext cx="5120640" cy="219456"/>
          </a:xfrm>
          <a:prstGeom prst="rect">
            <a:avLst/>
          </a:prstGeom>
          <a:noFill/>
          <a:ln/>
        </p:spPr>
        <p:txBody>
          <a:bodyPr wrap="square" lIns="0" tIns="0" rIns="0" bIns="0" rtlCol="0" anchor="ctr"/>
          <a:lstStyle/>
          <a:p>
            <a:pPr indent="0" marL="0">
              <a:buNone/>
            </a:pPr>
            <a:r>
              <a:rPr lang="en-US" sz="1000" spc="140" kern="0" dirty="0">
                <a:solidFill>
                  <a:srgbClr val="8AA0A6"/>
                </a:solidFill>
                <a:latin typeface="Consolas" pitchFamily="34" charset="0"/>
                <a:ea typeface="Consolas" pitchFamily="34" charset="-122"/>
                <a:cs typeface="Consolas" pitchFamily="34" charset="-120"/>
              </a:rPr>
              <a:t>TEAM SE7EN  ·  CLAIMSHIELD NEXUS</a:t>
            </a:r>
            <a:endParaRPr lang="en-US" sz="1000" dirty="0"/>
          </a:p>
        </p:txBody>
      </p:sp>
      <p:sp>
        <p:nvSpPr>
          <p:cNvPr id="26" name="Text 24"/>
          <p:cNvSpPr/>
          <p:nvPr/>
        </p:nvSpPr>
        <p:spPr>
          <a:xfrm>
            <a:off x="5120640" y="6473952"/>
            <a:ext cx="4023360" cy="219456"/>
          </a:xfrm>
          <a:prstGeom prst="rect">
            <a:avLst/>
          </a:prstGeom>
          <a:noFill/>
          <a:ln/>
        </p:spPr>
        <p:txBody>
          <a:bodyPr wrap="square" lIns="0" tIns="0" rIns="0" bIns="0" rtlCol="0" anchor="ctr"/>
          <a:lstStyle/>
          <a:p>
            <a:pPr algn="ctr" indent="0" marL="0">
              <a:buNone/>
            </a:pPr>
            <a:r>
              <a:rPr lang="en-US" sz="1000" spc="160" kern="0" dirty="0">
                <a:solidFill>
                  <a:srgbClr val="C6A15B"/>
                </a:solidFill>
                <a:latin typeface="Consolas" pitchFamily="34" charset="0"/>
                <a:ea typeface="Consolas" pitchFamily="34" charset="-122"/>
                <a:cs typeface="Consolas" pitchFamily="34" charset="-120"/>
              </a:rPr>
              <a:t>BUSINESS</a:t>
            </a:r>
            <a:endParaRPr lang="en-US" dirty="0"/>
          </a:p>
        </p:txBody>
      </p:sp>
      <p:sp>
        <p:nvSpPr>
          <p:cNvPr id="27" name="Text 25"/>
          <p:cNvSpPr/>
          <p:nvPr/>
        </p:nvSpPr>
        <p:spPr>
          <a:xfrm>
            <a:off x="9509760" y="6473952"/>
            <a:ext cx="2103120" cy="219456"/>
          </a:xfrm>
          <a:prstGeom prst="rect">
            <a:avLst/>
          </a:prstGeom>
          <a:noFill/>
          <a:ln/>
        </p:spPr>
        <p:txBody>
          <a:bodyPr wrap="square" lIns="0" tIns="0" rIns="0" bIns="0" rtlCol="0" anchor="ctr"/>
          <a:lstStyle/>
          <a:p>
            <a:pPr algn="r" indent="0" marL="0">
              <a:buNone/>
            </a:pPr>
            <a:r>
              <a:rPr lang="en-US" sz="1000" spc="140" kern="0" dirty="0">
                <a:solidFill>
                  <a:srgbClr val="8AA0A6"/>
                </a:solidFill>
                <a:latin typeface="Consolas" pitchFamily="34" charset="0"/>
                <a:ea typeface="Consolas" pitchFamily="34" charset="-122"/>
                <a:cs typeface="Consolas" pitchFamily="34" charset="-120"/>
              </a:rPr>
              <a:t>08  /  10</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292608"/>
            <a:ext cx="10972800" cy="256032"/>
          </a:xfrm>
          <a:prstGeom prst="rect">
            <a:avLst/>
          </a:prstGeom>
          <a:noFill/>
          <a:ln/>
        </p:spPr>
        <p:txBody>
          <a:bodyPr wrap="square" lIns="0" tIns="0" rIns="0" bIns="0" rtlCol="0" anchor="ctr"/>
          <a:lstStyle/>
          <a:p>
            <a:pPr indent="0" marL="0">
              <a:buNone/>
            </a:pPr>
            <a:r>
              <a:rPr lang="en-US" sz="1100" spc="200" kern="0" dirty="0" b="0">
                <a:solidFill>
                  <a:srgbClr val="7A8A90"/>
                </a:solidFill>
                <a:latin typeface="Consolas" pitchFamily="34" charset="0"/>
                <a:ea typeface="Consolas" pitchFamily="34" charset="-122"/>
                <a:cs typeface="Consolas" pitchFamily="34" charset="-120"/>
              </a:rPr>
              <a:t>09   </a:t>
            </a:r>
            <a:r>
              <a:rPr lang="en-US" sz="1100" spc="240" kern="0" dirty="0" b="1">
                <a:solidFill>
                  <a:srgbClr val="2A9A8F"/>
                </a:solidFill>
                <a:latin typeface="Consolas" pitchFamily="34" charset="0"/>
                <a:ea typeface="Consolas" pitchFamily="34" charset="-122"/>
                <a:cs typeface="Consolas" pitchFamily="34" charset="-120"/>
              </a:rPr>
              <a:t>SCALABILITY  ·  ROADMAP</a:t>
            </a:r>
            <a:endParaRPr lang="en-US" dirty="0"/>
          </a:p>
        </p:txBody>
      </p:sp>
      <p:sp>
        <p:nvSpPr>
          <p:cNvPr id="45" name="Text 0c"/>
          <p:cNvSpPr/>
          <p:nvPr/>
        </p:nvSpPr>
        <p:spPr>
          <a:xfrm>
            <a:off x="566928" y="5623560"/>
            <a:ext cx="10972800" cy="548640"/>
          </a:xfrm>
          <a:prstGeom prst="rect">
            <a:avLst/>
          </a:prstGeom>
          <a:noFill/>
          <a:ln/>
        </p:spPr>
        <p:txBody>
          <a:bodyPr wrap="square" lIns="0" tIns="0" rIns="0" bIns="0" rtlCol="0" anchor="ctr"/>
          <a:lstStyle/>
          <a:p>
            <a:pPr indent="0" marL="0">
              <a:buNone/>
            </a:pPr>
            <a:r>
              <a:rPr lang="en-US" sz="1050" spc="100" kern="0" dirty="0" b="1">
                <a:solidFill>
                  <a:srgbClr val="2A9A8F"/>
                </a:solidFill>
                <a:latin typeface="Consolas" pitchFamily="34" charset="0"/>
                <a:ea typeface="Consolas" pitchFamily="34" charset="-122"/>
                <a:cs typeface="Consolas" pitchFamily="34" charset="-120"/>
              </a:rPr>
              <a:t>LEAST PRIVILEGE   </a:t>
            </a:r>
            <a:r>
              <a:rPr lang="en-US" sz="1100" spc="0" kern="0" dirty="0" b="0">
                <a:solidFill>
                  <a:srgbClr val="2C3A40"/>
                </a:solidFill>
                <a:latin typeface="Consolas" pitchFamily="34" charset="0"/>
                <a:ea typeface="Consolas" pitchFamily="34" charset="-122"/>
                <a:cs typeface="Consolas" pitchFamily="34" charset="-120"/>
              </a:rPr>
              <a:t>API role: s3:GetObject + s3:ListBucket on incoming/, s3:PutObject on processed/ and results/.</a:t>
            </a:r>
            <a:endParaRPr lang="en-US" dirty="0"/>
          </a:p>
          <a:p>
            <a:pPr indent="0" marL="0">
              <a:spcBef>
                <a:spcPts val="300"/>
              </a:spcBef>
              <a:buNone/>
            </a:pPr>
            <a:r>
              <a:rPr lang="en-US" sz="1050" spc="100" kern="0" dirty="0" b="1">
                <a:solidFill>
                  <a:srgbClr val="2A9A8F"/>
                </a:solidFill>
                <a:latin typeface="Consolas" pitchFamily="34" charset="0"/>
                <a:ea typeface="Consolas" pitchFamily="34" charset="-122"/>
                <a:cs typeface="Consolas" pitchFamily="34" charset="-120"/>
              </a:rPr>
              <a:t>INTERNAL TOKEN    </a:t>
            </a:r>
            <a:r>
              <a:rPr lang="en-US" sz="1100" spc="0" kern="0" dirty="0" b="0">
                <a:solidFill>
                  <a:srgbClr val="2C3A40"/>
                </a:solidFill>
                <a:latin typeface="Consolas" pitchFamily="34" charset="0"/>
                <a:ea typeface="Consolas" pitchFamily="34" charset="-122"/>
                <a:cs typeface="Consolas" pitchFamily="34" charset="-120"/>
              </a:rPr>
              <a:t>set on Lambda and FastAPI, never committed, never returned, never logged.</a:t>
            </a:r>
            <a:endParaRPr lang="en-US" dirty="0"/>
          </a:p>
        </p:txBody>
      </p:sp>
      <p:sp>
        <p:nvSpPr>
          <p:cNvPr id="4" name="Shape 1"/>
          <p:cNvSpPr/>
          <p:nvPr/>
        </p:nvSpPr>
        <p:spPr>
          <a:xfrm>
            <a:off x="566928" y="585216"/>
            <a:ext cx="1234440" cy="32004"/>
          </a:xfrm>
          <a:prstGeom prst="rect">
            <a:avLst/>
          </a:prstGeom>
          <a:solidFill>
            <a:srgbClr val="2A9A8F"/>
          </a:solidFill>
          <a:ln/>
        </p:spPr>
      </p:sp>
      <p:sp>
        <p:nvSpPr>
          <p:cNvPr id="5" name="Text 2"/>
          <p:cNvSpPr/>
          <p:nvPr/>
        </p:nvSpPr>
        <p:spPr>
          <a:xfrm>
            <a:off x="566928" y="777240"/>
            <a:ext cx="10972800" cy="457200"/>
          </a:xfrm>
          <a:prstGeom prst="rect">
            <a:avLst/>
          </a:prstGeom>
          <a:noFill/>
          <a:ln/>
        </p:spPr>
        <p:txBody>
          <a:bodyPr wrap="square" lIns="0" tIns="0" rIns="0" bIns="0" rtlCol="0" anchor="ctr"/>
          <a:lstStyle/>
          <a:p>
            <a:pPr indent="0" marL="0">
              <a:buNone/>
            </a:pPr>
            <a:r>
              <a:rPr lang="en-US" sz="2400" dirty="0">
                <a:solidFill>
                  <a:srgbClr val="0B161C"/>
                </a:solidFill>
                <a:latin typeface="Georgia" pitchFamily="34" charset="0"/>
                <a:ea typeface="Georgia" pitchFamily="34" charset="-122"/>
                <a:cs typeface="Georgia" pitchFamily="34" charset="-120"/>
              </a:rPr>
              <a:t>From a laptop load to a payer’s S3 drop, same engine.</a:t>
            </a:r>
            <a:endParaRPr lang="en-US" dirty="0"/>
          </a:p>
        </p:txBody>
      </p:sp>
      <p:sp>
        <p:nvSpPr>
          <p:cNvPr id="6" name="Shape 3"/>
          <p:cNvSpPr/>
          <p:nvPr/>
        </p:nvSpPr>
        <p:spPr>
          <a:xfrm>
            <a:off x="1225296" y="1417320"/>
            <a:ext cx="384048" cy="384048"/>
          </a:xfrm>
          <a:prstGeom prst="ellipse">
            <a:avLst/>
          </a:prstGeom>
          <a:solidFill>
            <a:srgbClr val="0B161C"/>
          </a:solidFill>
          <a:ln/>
        </p:spPr>
      </p:sp>
      <p:sp>
        <p:nvSpPr>
          <p:cNvPr id="7" name="Text 4"/>
          <p:cNvSpPr/>
          <p:nvPr/>
        </p:nvSpPr>
        <p:spPr>
          <a:xfrm>
            <a:off x="1225296" y="1417320"/>
            <a:ext cx="384048" cy="384048"/>
          </a:xfrm>
          <a:prstGeom prst="rect">
            <a:avLst/>
          </a:prstGeom>
          <a:noFill/>
          <a:ln/>
        </p:spPr>
        <p:txBody>
          <a:bodyPr wrap="square" lIns="0" tIns="0" rIns="0" bIns="0" rtlCol="0" anchor="ctr"/>
          <a:lstStyle/>
          <a:p>
            <a:pPr algn="ctr" indent="0" marL="0">
              <a:buNone/>
            </a:pPr>
            <a:r>
              <a:rPr lang="en-US" sz="1200" dirty="0">
                <a:solidFill>
                  <a:srgbClr val="F6F1E8"/>
                </a:solidFill>
                <a:latin typeface="Consolas" pitchFamily="34" charset="0"/>
                <a:ea typeface="Consolas" pitchFamily="34" charset="-122"/>
                <a:cs typeface="Consolas" pitchFamily="34" charset="-120"/>
              </a:rPr>
              <a:t>1</a:t>
            </a:r>
            <a:endParaRPr lang="en-US" sz="1200" dirty="0"/>
          </a:p>
        </p:txBody>
      </p:sp>
      <p:sp>
        <p:nvSpPr>
          <p:cNvPr id="8" name="Shape 5"/>
          <p:cNvSpPr/>
          <p:nvPr/>
        </p:nvSpPr>
        <p:spPr>
          <a:xfrm>
            <a:off x="1664208" y="1581912"/>
            <a:ext cx="1371600" cy="36576"/>
          </a:xfrm>
          <a:prstGeom prst="rect">
            <a:avLst/>
          </a:prstGeom>
          <a:solidFill>
            <a:srgbClr val="2A9A8F"/>
          </a:solidFill>
          <a:ln/>
        </p:spPr>
      </p:sp>
      <p:sp>
        <p:nvSpPr>
          <p:cNvPr id="9" name="Text 6"/>
          <p:cNvSpPr/>
          <p:nvPr/>
        </p:nvSpPr>
        <p:spPr>
          <a:xfrm>
            <a:off x="566928" y="1920240"/>
            <a:ext cx="1783080" cy="502920"/>
          </a:xfrm>
          <a:prstGeom prst="rect">
            <a:avLst/>
          </a:prstGeom>
          <a:noFill/>
          <a:ln/>
        </p:spPr>
        <p:txBody>
          <a:bodyPr wrap="square" lIns="0" tIns="0" rIns="0" bIns="0" rtlCol="0" anchor="ctr"/>
          <a:lstStyle/>
          <a:p>
            <a:pPr algn="ctr" indent="0" marL="0">
              <a:buNone/>
            </a:pPr>
            <a:r>
              <a:rPr lang="en-US" sz="1300" dirty="0">
                <a:solidFill>
                  <a:srgbClr val="2C3A40"/>
                </a:solidFill>
                <a:latin typeface="Arial" pitchFamily="34" charset="0"/>
                <a:ea typeface="Arial" pitchFamily="34" charset="-122"/>
                <a:cs typeface="Arial" pitchFamily="34" charset="-120"/>
              </a:rPr>
              <a:t>S3 incoming/</a:t>
            </a:r>
            <a:endParaRPr lang="en-US" dirty="0"/>
          </a:p>
        </p:txBody>
      </p:sp>
      <p:sp>
        <p:nvSpPr>
          <p:cNvPr id="10" name="Shape 7"/>
          <p:cNvSpPr/>
          <p:nvPr/>
        </p:nvSpPr>
        <p:spPr>
          <a:xfrm>
            <a:off x="3099816" y="1417320"/>
            <a:ext cx="384048" cy="384048"/>
          </a:xfrm>
          <a:prstGeom prst="ellipse">
            <a:avLst/>
          </a:prstGeom>
          <a:solidFill>
            <a:srgbClr val="0B161C"/>
          </a:solidFill>
          <a:ln/>
        </p:spPr>
      </p:sp>
      <p:sp>
        <p:nvSpPr>
          <p:cNvPr id="11" name="Text 8"/>
          <p:cNvSpPr/>
          <p:nvPr/>
        </p:nvSpPr>
        <p:spPr>
          <a:xfrm>
            <a:off x="3099816" y="1417320"/>
            <a:ext cx="384048" cy="384048"/>
          </a:xfrm>
          <a:prstGeom prst="rect">
            <a:avLst/>
          </a:prstGeom>
          <a:noFill/>
          <a:ln/>
        </p:spPr>
        <p:txBody>
          <a:bodyPr wrap="square" lIns="0" tIns="0" rIns="0" bIns="0" rtlCol="0" anchor="ctr"/>
          <a:lstStyle/>
          <a:p>
            <a:pPr algn="ctr" indent="0" marL="0">
              <a:buNone/>
            </a:pPr>
            <a:r>
              <a:rPr lang="en-US" sz="1200" dirty="0">
                <a:solidFill>
                  <a:srgbClr val="F6F1E8"/>
                </a:solidFill>
                <a:latin typeface="Consolas" pitchFamily="34" charset="0"/>
                <a:ea typeface="Consolas" pitchFamily="34" charset="-122"/>
                <a:cs typeface="Consolas" pitchFamily="34" charset="-120"/>
              </a:rPr>
              <a:t>2</a:t>
            </a:r>
            <a:endParaRPr lang="en-US" sz="1200" dirty="0"/>
          </a:p>
        </p:txBody>
      </p:sp>
      <p:sp>
        <p:nvSpPr>
          <p:cNvPr id="12" name="Shape 9"/>
          <p:cNvSpPr/>
          <p:nvPr/>
        </p:nvSpPr>
        <p:spPr>
          <a:xfrm>
            <a:off x="3538728" y="1581912"/>
            <a:ext cx="1371600" cy="36576"/>
          </a:xfrm>
          <a:prstGeom prst="rect">
            <a:avLst/>
          </a:prstGeom>
          <a:solidFill>
            <a:srgbClr val="2A9A8F"/>
          </a:solidFill>
          <a:ln/>
        </p:spPr>
      </p:sp>
      <p:sp>
        <p:nvSpPr>
          <p:cNvPr id="13" name="Text 10"/>
          <p:cNvSpPr/>
          <p:nvPr/>
        </p:nvSpPr>
        <p:spPr>
          <a:xfrm>
            <a:off x="2441448" y="1920240"/>
            <a:ext cx="1783080" cy="502920"/>
          </a:xfrm>
          <a:prstGeom prst="rect">
            <a:avLst/>
          </a:prstGeom>
          <a:noFill/>
          <a:ln/>
        </p:spPr>
        <p:txBody>
          <a:bodyPr wrap="square" lIns="0" tIns="0" rIns="0" bIns="0" rtlCol="0" anchor="ctr"/>
          <a:lstStyle/>
          <a:p>
            <a:pPr algn="ctr" indent="0" marL="0">
              <a:buNone/>
            </a:pPr>
            <a:r>
              <a:rPr lang="en-US" sz="1300" dirty="0">
                <a:solidFill>
                  <a:srgbClr val="2C3A40"/>
                </a:solidFill>
                <a:latin typeface="Arial" pitchFamily="34" charset="0"/>
                <a:ea typeface="Arial" pitchFamily="34" charset="-122"/>
                <a:cs typeface="Arial" pitchFamily="34" charset="-120"/>
              </a:rPr>
              <a:t>Lambda trigger</a:t>
            </a:r>
            <a:endParaRPr lang="en-US" dirty="0"/>
          </a:p>
        </p:txBody>
      </p:sp>
      <p:sp>
        <p:nvSpPr>
          <p:cNvPr id="14" name="Shape 11"/>
          <p:cNvSpPr/>
          <p:nvPr/>
        </p:nvSpPr>
        <p:spPr>
          <a:xfrm>
            <a:off x="4974336" y="1417320"/>
            <a:ext cx="384048" cy="384048"/>
          </a:xfrm>
          <a:prstGeom prst="ellipse">
            <a:avLst/>
          </a:prstGeom>
          <a:solidFill>
            <a:srgbClr val="0B161C"/>
          </a:solidFill>
          <a:ln/>
        </p:spPr>
      </p:sp>
      <p:sp>
        <p:nvSpPr>
          <p:cNvPr id="15" name="Text 12"/>
          <p:cNvSpPr/>
          <p:nvPr/>
        </p:nvSpPr>
        <p:spPr>
          <a:xfrm>
            <a:off x="4974336" y="1417320"/>
            <a:ext cx="384048" cy="384048"/>
          </a:xfrm>
          <a:prstGeom prst="rect">
            <a:avLst/>
          </a:prstGeom>
          <a:noFill/>
          <a:ln/>
        </p:spPr>
        <p:txBody>
          <a:bodyPr wrap="square" lIns="0" tIns="0" rIns="0" bIns="0" rtlCol="0" anchor="ctr"/>
          <a:lstStyle/>
          <a:p>
            <a:pPr algn="ctr" indent="0" marL="0">
              <a:buNone/>
            </a:pPr>
            <a:r>
              <a:rPr lang="en-US" sz="1200" dirty="0">
                <a:solidFill>
                  <a:srgbClr val="F6F1E8"/>
                </a:solidFill>
                <a:latin typeface="Consolas" pitchFamily="34" charset="0"/>
                <a:ea typeface="Consolas" pitchFamily="34" charset="-122"/>
                <a:cs typeface="Consolas" pitchFamily="34" charset="-120"/>
              </a:rPr>
              <a:t>3</a:t>
            </a:r>
            <a:endParaRPr lang="en-US" sz="1200" dirty="0"/>
          </a:p>
        </p:txBody>
      </p:sp>
      <p:sp>
        <p:nvSpPr>
          <p:cNvPr id="16" name="Shape 13"/>
          <p:cNvSpPr/>
          <p:nvPr/>
        </p:nvSpPr>
        <p:spPr>
          <a:xfrm>
            <a:off x="5413248" y="1581912"/>
            <a:ext cx="1371600" cy="36576"/>
          </a:xfrm>
          <a:prstGeom prst="rect">
            <a:avLst/>
          </a:prstGeom>
          <a:solidFill>
            <a:srgbClr val="2A9A8F"/>
          </a:solidFill>
          <a:ln/>
        </p:spPr>
      </p:sp>
      <p:sp>
        <p:nvSpPr>
          <p:cNvPr id="17" name="Text 14"/>
          <p:cNvSpPr/>
          <p:nvPr/>
        </p:nvSpPr>
        <p:spPr>
          <a:xfrm>
            <a:off x="4315968" y="1920240"/>
            <a:ext cx="1783080" cy="502920"/>
          </a:xfrm>
          <a:prstGeom prst="rect">
            <a:avLst/>
          </a:prstGeom>
          <a:noFill/>
          <a:ln/>
        </p:spPr>
        <p:txBody>
          <a:bodyPr wrap="square" lIns="0" tIns="0" rIns="0" bIns="0" rtlCol="0" anchor="ctr"/>
          <a:lstStyle/>
          <a:p>
            <a:pPr algn="ctr" indent="0" marL="0">
              <a:buNone/>
            </a:pPr>
            <a:r>
              <a:rPr lang="en-US" sz="1300" dirty="0">
                <a:solidFill>
                  <a:srgbClr val="2C3A40"/>
                </a:solidFill>
                <a:latin typeface="Arial" pitchFamily="34" charset="0"/>
                <a:ea typeface="Arial" pitchFamily="34" charset="-122"/>
                <a:cs typeface="Arial" pitchFamily="34" charset="-120"/>
              </a:rPr>
              <a:t>/aws/ingest</a:t>
            </a:r>
            <a:endParaRPr lang="en-US" dirty="0"/>
          </a:p>
        </p:txBody>
      </p:sp>
      <p:sp>
        <p:nvSpPr>
          <p:cNvPr id="18" name="Shape 15"/>
          <p:cNvSpPr/>
          <p:nvPr/>
        </p:nvSpPr>
        <p:spPr>
          <a:xfrm>
            <a:off x="6848856" y="1417320"/>
            <a:ext cx="384048" cy="384048"/>
          </a:xfrm>
          <a:prstGeom prst="ellipse">
            <a:avLst/>
          </a:prstGeom>
          <a:solidFill>
            <a:srgbClr val="0B161C"/>
          </a:solidFill>
          <a:ln/>
        </p:spPr>
      </p:sp>
      <p:sp>
        <p:nvSpPr>
          <p:cNvPr id="19" name="Text 16"/>
          <p:cNvSpPr/>
          <p:nvPr/>
        </p:nvSpPr>
        <p:spPr>
          <a:xfrm>
            <a:off x="6848856" y="1417320"/>
            <a:ext cx="384048" cy="384048"/>
          </a:xfrm>
          <a:prstGeom prst="rect">
            <a:avLst/>
          </a:prstGeom>
          <a:noFill/>
          <a:ln/>
        </p:spPr>
        <p:txBody>
          <a:bodyPr wrap="square" lIns="0" tIns="0" rIns="0" bIns="0" rtlCol="0" anchor="ctr"/>
          <a:lstStyle/>
          <a:p>
            <a:pPr algn="ctr" indent="0" marL="0">
              <a:buNone/>
            </a:pPr>
            <a:r>
              <a:rPr lang="en-US" sz="1200" dirty="0">
                <a:solidFill>
                  <a:srgbClr val="F6F1E8"/>
                </a:solidFill>
                <a:latin typeface="Consolas" pitchFamily="34" charset="0"/>
                <a:ea typeface="Consolas" pitchFamily="34" charset="-122"/>
                <a:cs typeface="Consolas" pitchFamily="34" charset="-120"/>
              </a:rPr>
              <a:t>4</a:t>
            </a:r>
            <a:endParaRPr lang="en-US" sz="1200" dirty="0"/>
          </a:p>
        </p:txBody>
      </p:sp>
      <p:sp>
        <p:nvSpPr>
          <p:cNvPr id="20" name="Shape 17"/>
          <p:cNvSpPr/>
          <p:nvPr/>
        </p:nvSpPr>
        <p:spPr>
          <a:xfrm>
            <a:off x="7287768" y="1581912"/>
            <a:ext cx="1371600" cy="36576"/>
          </a:xfrm>
          <a:prstGeom prst="rect">
            <a:avLst/>
          </a:prstGeom>
          <a:solidFill>
            <a:srgbClr val="2A9A8F"/>
          </a:solidFill>
          <a:ln/>
        </p:spPr>
      </p:sp>
      <p:sp>
        <p:nvSpPr>
          <p:cNvPr id="21" name="Text 18"/>
          <p:cNvSpPr/>
          <p:nvPr/>
        </p:nvSpPr>
        <p:spPr>
          <a:xfrm>
            <a:off x="6190488" y="1920240"/>
            <a:ext cx="1783080" cy="502920"/>
          </a:xfrm>
          <a:prstGeom prst="rect">
            <a:avLst/>
          </a:prstGeom>
          <a:noFill/>
          <a:ln/>
        </p:spPr>
        <p:txBody>
          <a:bodyPr wrap="square" lIns="0" tIns="0" rIns="0" bIns="0" rtlCol="0" anchor="ctr"/>
          <a:lstStyle/>
          <a:p>
            <a:pPr algn="ctr" indent="0" marL="0">
              <a:buNone/>
            </a:pPr>
            <a:r>
              <a:rPr lang="en-US" sz="1300" dirty="0">
                <a:solidFill>
                  <a:srgbClr val="2C3A40"/>
                </a:solidFill>
                <a:latin typeface="Arial" pitchFamily="34" charset="0"/>
                <a:ea typeface="Arial" pitchFamily="34" charset="-122"/>
                <a:cs typeface="Arial" pitchFamily="34" charset="-120"/>
              </a:rPr>
              <a:t>persist + run</a:t>
            </a:r>
            <a:endParaRPr lang="en-US" dirty="0"/>
          </a:p>
        </p:txBody>
      </p:sp>
      <p:sp>
        <p:nvSpPr>
          <p:cNvPr id="22" name="Shape 19"/>
          <p:cNvSpPr/>
          <p:nvPr/>
        </p:nvSpPr>
        <p:spPr>
          <a:xfrm>
            <a:off x="8723376" y="1417320"/>
            <a:ext cx="384048" cy="384048"/>
          </a:xfrm>
          <a:prstGeom prst="ellipse">
            <a:avLst/>
          </a:prstGeom>
          <a:solidFill>
            <a:srgbClr val="0B161C"/>
          </a:solidFill>
          <a:ln/>
        </p:spPr>
      </p:sp>
      <p:sp>
        <p:nvSpPr>
          <p:cNvPr id="23" name="Text 20"/>
          <p:cNvSpPr/>
          <p:nvPr/>
        </p:nvSpPr>
        <p:spPr>
          <a:xfrm>
            <a:off x="8723376" y="1417320"/>
            <a:ext cx="384048" cy="384048"/>
          </a:xfrm>
          <a:prstGeom prst="rect">
            <a:avLst/>
          </a:prstGeom>
          <a:noFill/>
          <a:ln/>
        </p:spPr>
        <p:txBody>
          <a:bodyPr wrap="square" lIns="0" tIns="0" rIns="0" bIns="0" rtlCol="0" anchor="ctr"/>
          <a:lstStyle/>
          <a:p>
            <a:pPr algn="ctr" indent="0" marL="0">
              <a:buNone/>
            </a:pPr>
            <a:r>
              <a:rPr lang="en-US" sz="1200" dirty="0">
                <a:solidFill>
                  <a:srgbClr val="F6F1E8"/>
                </a:solidFill>
                <a:latin typeface="Consolas" pitchFamily="34" charset="0"/>
                <a:ea typeface="Consolas" pitchFamily="34" charset="-122"/>
                <a:cs typeface="Consolas" pitchFamily="34" charset="-120"/>
              </a:rPr>
              <a:t>5</a:t>
            </a:r>
            <a:endParaRPr lang="en-US" sz="1200" dirty="0"/>
          </a:p>
        </p:txBody>
      </p:sp>
      <p:sp>
        <p:nvSpPr>
          <p:cNvPr id="24" name="Shape 21"/>
          <p:cNvSpPr/>
          <p:nvPr/>
        </p:nvSpPr>
        <p:spPr>
          <a:xfrm>
            <a:off x="9162288" y="1581912"/>
            <a:ext cx="1371600" cy="36576"/>
          </a:xfrm>
          <a:prstGeom prst="rect">
            <a:avLst/>
          </a:prstGeom>
          <a:solidFill>
            <a:srgbClr val="2A9A8F"/>
          </a:solidFill>
          <a:ln/>
        </p:spPr>
      </p:sp>
      <p:sp>
        <p:nvSpPr>
          <p:cNvPr id="25" name="Text 22"/>
          <p:cNvSpPr/>
          <p:nvPr/>
        </p:nvSpPr>
        <p:spPr>
          <a:xfrm>
            <a:off x="8065008" y="1920240"/>
            <a:ext cx="1783080" cy="502920"/>
          </a:xfrm>
          <a:prstGeom prst="rect">
            <a:avLst/>
          </a:prstGeom>
          <a:noFill/>
          <a:ln/>
        </p:spPr>
        <p:txBody>
          <a:bodyPr wrap="square" lIns="0" tIns="0" rIns="0" bIns="0" rtlCol="0" anchor="ctr"/>
          <a:lstStyle/>
          <a:p>
            <a:pPr algn="ctr" indent="0" marL="0">
              <a:buNone/>
            </a:pPr>
            <a:r>
              <a:rPr lang="en-US" sz="1300" dirty="0">
                <a:solidFill>
                  <a:srgbClr val="2C3A40"/>
                </a:solidFill>
                <a:latin typeface="Arial" pitchFamily="34" charset="0"/>
                <a:ea typeface="Arial" pitchFamily="34" charset="-122"/>
                <a:cs typeface="Arial" pitchFamily="34" charset="-120"/>
              </a:rPr>
              <a:t>PostgreSQL</a:t>
            </a:r>
            <a:endParaRPr lang="en-US" dirty="0"/>
          </a:p>
        </p:txBody>
      </p:sp>
      <p:sp>
        <p:nvSpPr>
          <p:cNvPr id="26" name="Shape 23"/>
          <p:cNvSpPr/>
          <p:nvPr/>
        </p:nvSpPr>
        <p:spPr>
          <a:xfrm>
            <a:off x="10597896" y="1417320"/>
            <a:ext cx="384048" cy="384048"/>
          </a:xfrm>
          <a:prstGeom prst="ellipse">
            <a:avLst/>
          </a:prstGeom>
          <a:solidFill>
            <a:srgbClr val="0B161C"/>
          </a:solidFill>
          <a:ln/>
        </p:spPr>
      </p:sp>
      <p:sp>
        <p:nvSpPr>
          <p:cNvPr id="27" name="Text 24"/>
          <p:cNvSpPr/>
          <p:nvPr/>
        </p:nvSpPr>
        <p:spPr>
          <a:xfrm>
            <a:off x="10597896" y="1417320"/>
            <a:ext cx="384048" cy="384048"/>
          </a:xfrm>
          <a:prstGeom prst="rect">
            <a:avLst/>
          </a:prstGeom>
          <a:noFill/>
          <a:ln/>
        </p:spPr>
        <p:txBody>
          <a:bodyPr wrap="square" lIns="0" tIns="0" rIns="0" bIns="0" rtlCol="0" anchor="ctr"/>
          <a:lstStyle/>
          <a:p>
            <a:pPr algn="ctr" indent="0" marL="0">
              <a:buNone/>
            </a:pPr>
            <a:r>
              <a:rPr lang="en-US" sz="1200" dirty="0">
                <a:solidFill>
                  <a:srgbClr val="F6F1E8"/>
                </a:solidFill>
                <a:latin typeface="Consolas" pitchFamily="34" charset="0"/>
                <a:ea typeface="Consolas" pitchFamily="34" charset="-122"/>
                <a:cs typeface="Consolas" pitchFamily="34" charset="-120"/>
              </a:rPr>
              <a:t>6</a:t>
            </a:r>
            <a:endParaRPr lang="en-US" sz="1200" dirty="0"/>
          </a:p>
        </p:txBody>
      </p:sp>
      <p:sp>
        <p:nvSpPr>
          <p:cNvPr id="28" name="Text 25"/>
          <p:cNvSpPr/>
          <p:nvPr/>
        </p:nvSpPr>
        <p:spPr>
          <a:xfrm>
            <a:off x="9939528" y="1920240"/>
            <a:ext cx="1783080" cy="502920"/>
          </a:xfrm>
          <a:prstGeom prst="rect">
            <a:avLst/>
          </a:prstGeom>
          <a:noFill/>
          <a:ln/>
        </p:spPr>
        <p:txBody>
          <a:bodyPr wrap="square" lIns="0" tIns="0" rIns="0" bIns="0" rtlCol="0" anchor="ctr"/>
          <a:lstStyle/>
          <a:p>
            <a:pPr algn="ctr" indent="0" marL="0">
              <a:buNone/>
            </a:pPr>
            <a:r>
              <a:rPr lang="en-US" sz="1300" dirty="0">
                <a:solidFill>
                  <a:srgbClr val="2C3A40"/>
                </a:solidFill>
                <a:latin typeface="Arial" pitchFamily="34" charset="0"/>
                <a:ea typeface="Arial" pitchFamily="34" charset="-122"/>
                <a:cs typeface="Arial" pitchFamily="34" charset="-120"/>
              </a:rPr>
              <a:t>React desk</a:t>
            </a:r>
            <a:endParaRPr lang="en-US" dirty="0"/>
          </a:p>
        </p:txBody>
      </p:sp>
      <p:sp>
        <p:nvSpPr>
          <p:cNvPr id="29" name="Shape 26"/>
          <p:cNvSpPr/>
          <p:nvPr/>
        </p:nvSpPr>
        <p:spPr>
          <a:xfrm>
            <a:off x="566928" y="2514600"/>
            <a:ext cx="2670048" cy="2788920"/>
          </a:xfrm>
          <a:prstGeom prst="rect">
            <a:avLst/>
          </a:prstGeom>
          <a:solidFill>
            <a:srgbClr val="FFFBF5"/>
          </a:solidFill>
          <a:ln/>
        </p:spPr>
      </p:sp>
      <p:sp>
        <p:nvSpPr>
          <p:cNvPr id="30" name="Text 27"/>
          <p:cNvSpPr/>
          <p:nvPr/>
        </p:nvSpPr>
        <p:spPr>
          <a:xfrm>
            <a:off x="749808" y="2697480"/>
            <a:ext cx="2304288" cy="384048"/>
          </a:xfrm>
          <a:prstGeom prst="rect">
            <a:avLst/>
          </a:prstGeom>
          <a:noFill/>
          <a:ln/>
        </p:spPr>
        <p:txBody>
          <a:bodyPr wrap="square" lIns="0" tIns="0" rIns="0" bIns="0" rtlCol="0" anchor="t"/>
          <a:lstStyle/>
          <a:p>
            <a:pPr indent="0" marL="0">
              <a:buNone/>
            </a:pPr>
            <a:r>
              <a:rPr lang="en-US" sz="1800" dirty="0">
                <a:solidFill>
                  <a:srgbClr val="2A9A8F"/>
                </a:solidFill>
                <a:latin typeface="Georgia" pitchFamily="34" charset="0"/>
                <a:ea typeface="Georgia" pitchFamily="34" charset="-122"/>
                <a:cs typeface="Georgia" pitchFamily="34" charset="-120"/>
              </a:rPr>
              <a:t>Idempotent ingest</a:t>
            </a:r>
            <a:endParaRPr lang="en-US" dirty="0"/>
          </a:p>
        </p:txBody>
      </p:sp>
      <p:sp>
        <p:nvSpPr>
          <p:cNvPr id="31" name="Text 28"/>
          <p:cNvSpPr/>
          <p:nvPr/>
        </p:nvSpPr>
        <p:spPr>
          <a:xfrm>
            <a:off x="749808" y="3127248"/>
            <a:ext cx="2304288" cy="2057400"/>
          </a:xfrm>
          <a:prstGeom prst="rect">
            <a:avLst/>
          </a:prstGeom>
          <a:noFill/>
          <a:ln/>
        </p:spPr>
        <p:txBody>
          <a:bodyPr wrap="square" lIns="0" tIns="0" rIns="0" bIns="0" rtlCol="0" anchor="t"/>
          <a:lstStyle/>
          <a:p>
            <a:pPr indent="0" marL="0">
              <a:buNone/>
            </a:pPr>
            <a:r>
              <a:rPr lang="en-US" sz="1350" dirty="0">
                <a:solidFill>
                  <a:srgbClr val="2C3A40"/>
                </a:solidFill>
                <a:latin typeface="Arial" pitchFamily="34" charset="0"/>
                <a:ea typeface="Arial" pitchFamily="34" charset="-122"/>
                <a:cs typeface="Arial" pitchFamily="34" charset="-120"/>
              </a:rPr>
              <a:t>Lambda fires per object. Until member, provider, claim and claim_line land: waiting_for_tables.</a:t>
            </a:r>
            <a:endParaRPr lang="en-US" dirty="0"/>
          </a:p>
          <a:p>
            <a:pPr indent="0" marL="0">
              <a:spcBef>
                <a:spcPts val="900"/>
              </a:spcBef>
              <a:buNone/>
            </a:pPr>
            <a:r>
              <a:rPr lang="en-US" sz="1350" dirty="0">
                <a:solidFill>
                  <a:srgbClr val="56666C"/>
                </a:solidFill>
                <a:latin typeface="Arial" pitchFamily="34" charset="0"/>
                <a:ea typeface="Arial" pitchFamily="34" charset="-122"/>
                <a:cs typeface="Arial" pitchFamily="34" charset="-120"/>
              </a:rPr>
              <a:t>Same ETags → already_processed. Outputs go to results/ and processed/, never incoming/.</a:t>
            </a:r>
            <a:endParaRPr lang="en-US" dirty="0"/>
          </a:p>
        </p:txBody>
      </p:sp>
      <p:sp>
        <p:nvSpPr>
          <p:cNvPr id="32" name="Shape 29"/>
          <p:cNvSpPr/>
          <p:nvPr/>
        </p:nvSpPr>
        <p:spPr>
          <a:xfrm>
            <a:off x="3355848" y="2514600"/>
            <a:ext cx="2670048" cy="2788920"/>
          </a:xfrm>
          <a:prstGeom prst="rect">
            <a:avLst/>
          </a:prstGeom>
          <a:solidFill>
            <a:srgbClr val="FFFBF5"/>
          </a:solidFill>
          <a:ln/>
        </p:spPr>
      </p:sp>
      <p:sp>
        <p:nvSpPr>
          <p:cNvPr id="33" name="Text 30"/>
          <p:cNvSpPr/>
          <p:nvPr/>
        </p:nvSpPr>
        <p:spPr>
          <a:xfrm>
            <a:off x="3538728" y="2697480"/>
            <a:ext cx="2304288" cy="384048"/>
          </a:xfrm>
          <a:prstGeom prst="rect">
            <a:avLst/>
          </a:prstGeom>
          <a:noFill/>
          <a:ln/>
        </p:spPr>
        <p:txBody>
          <a:bodyPr wrap="square" lIns="0" tIns="0" rIns="0" bIns="0" rtlCol="0" anchor="t"/>
          <a:lstStyle/>
          <a:p>
            <a:pPr indent="0" marL="0">
              <a:buNone/>
            </a:pPr>
            <a:r>
              <a:rPr lang="en-US" sz="1800" dirty="0">
                <a:solidFill>
                  <a:srgbClr val="2A9A8F"/>
                </a:solidFill>
                <a:latin typeface="Georgia" pitchFamily="34" charset="0"/>
                <a:ea typeface="Georgia" pitchFamily="34" charset="-122"/>
                <a:cs typeface="Georgia" pitchFamily="34" charset="-120"/>
              </a:rPr>
              <a:t>Storage + deploy</a:t>
            </a:r>
            <a:endParaRPr lang="en-US" dirty="0"/>
          </a:p>
        </p:txBody>
      </p:sp>
      <p:sp>
        <p:nvSpPr>
          <p:cNvPr id="34" name="Text 31"/>
          <p:cNvSpPr/>
          <p:nvPr/>
        </p:nvSpPr>
        <p:spPr>
          <a:xfrm>
            <a:off x="3538728" y="3127248"/>
            <a:ext cx="2304288" cy="2057400"/>
          </a:xfrm>
          <a:prstGeom prst="rect">
            <a:avLst/>
          </a:prstGeom>
          <a:noFill/>
          <a:ln/>
        </p:spPr>
        <p:txBody>
          <a:bodyPr wrap="square" lIns="0" tIns="0" rIns="0" bIns="0" rtlCol="0" anchor="t"/>
          <a:lstStyle/>
          <a:p>
            <a:pPr indent="0" marL="0">
              <a:buNone/>
            </a:pPr>
            <a:r>
              <a:rPr lang="en-US" sz="1350" dirty="0">
                <a:solidFill>
                  <a:srgbClr val="2C3A40"/>
                </a:solidFill>
                <a:latin typeface="Arial" pitchFamily="34" charset="0"/>
                <a:ea typeface="Arial" pitchFamily="34" charset="-122"/>
                <a:cs typeface="Arial" pitchFamily="34" charset="-120"/>
              </a:rPr>
              <a:t>SQLite by default. Postgres + API via docker compose (not yet covered by tests).</a:t>
            </a:r>
            <a:endParaRPr lang="en-US" dirty="0"/>
          </a:p>
          <a:p>
            <a:pPr indent="0" marL="0">
              <a:spcBef>
                <a:spcPts val="900"/>
              </a:spcBef>
              <a:buNone/>
            </a:pPr>
            <a:r>
              <a:rPr lang="en-US" sz="1350" dirty="0">
                <a:solidFill>
                  <a:srgbClr val="56666C"/>
                </a:solidFill>
                <a:latin typeface="Arial" pitchFamily="34" charset="0"/>
                <a:ea typeface="Arial" pitchFamily="34" charset="-122"/>
                <a:cs typeface="Arial" pitchFamily="34" charset="-120"/>
              </a:rPr>
              <a:t>Live on Render, app + API on one origin. Vercel pair auto-seeds tiny / 7.</a:t>
            </a:r>
            <a:endParaRPr lang="en-US" dirty="0"/>
          </a:p>
        </p:txBody>
      </p:sp>
      <p:sp>
        <p:nvSpPr>
          <p:cNvPr id="35" name="Shape 32"/>
          <p:cNvSpPr/>
          <p:nvPr/>
        </p:nvSpPr>
        <p:spPr>
          <a:xfrm>
            <a:off x="6144768" y="2514600"/>
            <a:ext cx="2670048" cy="2788920"/>
          </a:xfrm>
          <a:prstGeom prst="rect">
            <a:avLst/>
          </a:prstGeom>
          <a:solidFill>
            <a:srgbClr val="FFFBF5"/>
          </a:solidFill>
          <a:ln/>
        </p:spPr>
      </p:sp>
      <p:sp>
        <p:nvSpPr>
          <p:cNvPr id="36" name="Text 33"/>
          <p:cNvSpPr/>
          <p:nvPr/>
        </p:nvSpPr>
        <p:spPr>
          <a:xfrm>
            <a:off x="6327648" y="2697480"/>
            <a:ext cx="2304288" cy="384048"/>
          </a:xfrm>
          <a:prstGeom prst="rect">
            <a:avLst/>
          </a:prstGeom>
          <a:noFill/>
          <a:ln/>
        </p:spPr>
        <p:txBody>
          <a:bodyPr wrap="square" lIns="0" tIns="0" rIns="0" bIns="0" rtlCol="0" anchor="t"/>
          <a:lstStyle/>
          <a:p>
            <a:pPr indent="0" marL="0">
              <a:buNone/>
            </a:pPr>
            <a:r>
              <a:rPr lang="en-US" sz="1800" dirty="0">
                <a:solidFill>
                  <a:srgbClr val="2A9A8F"/>
                </a:solidFill>
                <a:latin typeface="Georgia" pitchFamily="34" charset="0"/>
                <a:ea typeface="Georgia" pitchFamily="34" charset="-122"/>
                <a:cs typeface="Georgia" pitchFamily="34" charset="-120"/>
              </a:rPr>
              <a:t>Detectors + models</a:t>
            </a:r>
            <a:endParaRPr lang="en-US" dirty="0"/>
          </a:p>
        </p:txBody>
      </p:sp>
      <p:sp>
        <p:nvSpPr>
          <p:cNvPr id="37" name="Text 34"/>
          <p:cNvSpPr/>
          <p:nvPr/>
        </p:nvSpPr>
        <p:spPr>
          <a:xfrm>
            <a:off x="6327648" y="3127248"/>
            <a:ext cx="2304288" cy="2057400"/>
          </a:xfrm>
          <a:prstGeom prst="rect">
            <a:avLst/>
          </a:prstGeom>
          <a:noFill/>
          <a:ln/>
        </p:spPr>
        <p:txBody>
          <a:bodyPr wrap="square" lIns="0" tIns="0" rIns="0" bIns="0" rtlCol="0" anchor="t"/>
          <a:lstStyle/>
          <a:p>
            <a:pPr indent="0" marL="0">
              <a:buNone/>
            </a:pPr>
            <a:r>
              <a:rPr lang="en-US" sz="1350" dirty="0">
                <a:solidFill>
                  <a:srgbClr val="2C3A40"/>
                </a:solidFill>
                <a:latin typeface="Arial" pitchFamily="34" charset="0"/>
                <a:ea typeface="Arial" pitchFamily="34" charset="-122"/>
                <a:cs typeface="Arial" pitchFamily="34" charset="-120"/>
              </a:rPr>
              <a:t>18 rules in rules.yaml, each with severity and policy_ref. Add a rule, not a service.</a:t>
            </a:r>
            <a:endParaRPr lang="en-US" dirty="0"/>
          </a:p>
          <a:p>
            <a:pPr indent="0" marL="0">
              <a:spcBef>
                <a:spcPts val="900"/>
              </a:spcBef>
              <a:buNone/>
            </a:pPr>
            <a:r>
              <a:rPr lang="en-US" sz="1350" dirty="0">
                <a:solidFill>
                  <a:srgbClr val="56666C"/>
                </a:solidFill>
                <a:latin typeface="Arial" pitchFamily="34" charset="0"/>
                <a:ea typeface="Arial" pitchFamily="34" charset="-122"/>
                <a:cs typeface="Arial" pitchFamily="34" charset="-120"/>
              </a:rPr>
              <a:t>Panel worlds: ~40–60 s generate + detect on 8 cores. make train rebuilt the artifact in 51 s.</a:t>
            </a:r>
            <a:endParaRPr lang="en-US" dirty="0"/>
          </a:p>
        </p:txBody>
      </p:sp>
      <p:sp>
        <p:nvSpPr>
          <p:cNvPr id="38" name="Shape 35"/>
          <p:cNvSpPr/>
          <p:nvPr/>
        </p:nvSpPr>
        <p:spPr>
          <a:xfrm>
            <a:off x="8933688" y="2514600"/>
            <a:ext cx="2670048" cy="2788920"/>
          </a:xfrm>
          <a:prstGeom prst="rect">
            <a:avLst/>
          </a:prstGeom>
          <a:solidFill>
            <a:srgbClr val="FFFBF5"/>
          </a:solidFill>
          <a:ln/>
        </p:spPr>
      </p:sp>
      <p:sp>
        <p:nvSpPr>
          <p:cNvPr id="39" name="Text 36"/>
          <p:cNvSpPr/>
          <p:nvPr/>
        </p:nvSpPr>
        <p:spPr>
          <a:xfrm>
            <a:off x="9116568" y="2697480"/>
            <a:ext cx="2304288" cy="384048"/>
          </a:xfrm>
          <a:prstGeom prst="rect">
            <a:avLst/>
          </a:prstGeom>
          <a:noFill/>
          <a:ln/>
        </p:spPr>
        <p:txBody>
          <a:bodyPr wrap="square" lIns="0" tIns="0" rIns="0" bIns="0" rtlCol="0" anchor="t"/>
          <a:lstStyle/>
          <a:p>
            <a:pPr indent="0" marL="0">
              <a:buNone/>
            </a:pPr>
            <a:r>
              <a:rPr lang="en-US" sz="1800" dirty="0">
                <a:solidFill>
                  <a:srgbClr val="2A9A8F"/>
                </a:solidFill>
                <a:latin typeface="Georgia" pitchFamily="34" charset="0"/>
                <a:ea typeface="Georgia" pitchFamily="34" charset="-122"/>
                <a:cs typeface="Georgia" pitchFamily="34" charset="-120"/>
              </a:rPr>
              <a:t>Next steps</a:t>
            </a:r>
            <a:endParaRPr lang="en-US" dirty="0"/>
          </a:p>
        </p:txBody>
      </p:sp>
      <p:sp>
        <p:nvSpPr>
          <p:cNvPr id="40" name="Text 37"/>
          <p:cNvSpPr/>
          <p:nvPr/>
        </p:nvSpPr>
        <p:spPr>
          <a:xfrm>
            <a:off x="9116568" y="3127248"/>
            <a:ext cx="2304288" cy="2057400"/>
          </a:xfrm>
          <a:prstGeom prst="rect">
            <a:avLst/>
          </a:prstGeom>
          <a:noFill/>
          <a:ln/>
        </p:spPr>
        <p:txBody>
          <a:bodyPr wrap="square" lIns="0" tIns="0" rIns="0" bIns="0" rtlCol="0" anchor="t"/>
          <a:lstStyle/>
          <a:p>
            <a:pPr indent="0" marL="0">
              <a:buNone/>
            </a:pPr>
            <a:r>
              <a:rPr lang="en-US" sz="1350" dirty="0">
                <a:solidFill>
                  <a:srgbClr val="2C3A40"/>
                </a:solidFill>
                <a:latin typeface="Arial" pitchFamily="34" charset="0"/>
                <a:ea typeface="Arial" pitchFamily="34" charset="-122"/>
                <a:cs typeface="Arial" pitchFamily="34" charset="-120"/>
              </a:rPr>
              <a:t>Wire typed network edges and decision options into the UI. Show risk factors and model version.</a:t>
            </a:r>
            <a:endParaRPr lang="en-US" dirty="0"/>
          </a:p>
          <a:p>
            <a:pPr indent="0" marL="0">
              <a:spcBef>
                <a:spcPts val="900"/>
              </a:spcBef>
              <a:buNone/>
            </a:pPr>
            <a:r>
              <a:rPr lang="en-US" sz="1350" dirty="0">
                <a:solidFill>
                  <a:srgbClr val="56666C"/>
                </a:solidFill>
                <a:latin typeface="Arial" pitchFamily="34" charset="0"/>
                <a:ea typeface="Arial" pitchFamily="34" charset="-122"/>
                <a:cs typeface="Arial" pitchFamily="34" charset="-120"/>
              </a:rPr>
              <a:t>New P(confirm) bands. Add CI. Real PS3 data is an open question.</a:t>
            </a:r>
            <a:endParaRPr lang="en-US" dirty="0"/>
          </a:p>
        </p:txBody>
      </p:sp>
      <p:sp>
        <p:nvSpPr>
          <p:cNvPr id="41" name="Shape 38"/>
          <p:cNvSpPr/>
          <p:nvPr/>
        </p:nvSpPr>
        <p:spPr>
          <a:xfrm>
            <a:off x="0" y="6510528"/>
            <a:ext cx="12191695" cy="347472"/>
          </a:xfrm>
          <a:prstGeom prst="rect">
            <a:avLst/>
          </a:prstGeom>
          <a:solidFill>
            <a:srgbClr val="0B161C"/>
          </a:solidFill>
          <a:ln/>
        </p:spPr>
      </p:sp>
      <p:sp>
        <p:nvSpPr>
          <p:cNvPr id="42" name="Text 39"/>
          <p:cNvSpPr/>
          <p:nvPr/>
        </p:nvSpPr>
        <p:spPr>
          <a:xfrm>
            <a:off x="566928" y="6510528"/>
            <a:ext cx="5120640" cy="347472"/>
          </a:xfrm>
          <a:prstGeom prst="rect">
            <a:avLst/>
          </a:prstGeom>
          <a:noFill/>
          <a:ln/>
        </p:spPr>
        <p:txBody>
          <a:bodyPr wrap="square" lIns="0" tIns="0" rIns="0" bIns="0" rtlCol="0" anchor="ctr"/>
          <a:lstStyle/>
          <a:p>
            <a:pPr indent="0" marL="0">
              <a:buNone/>
            </a:pPr>
            <a:r>
              <a:rPr lang="en-US" sz="1000" spc="120" kern="0" dirty="0">
                <a:solidFill>
                  <a:srgbClr val="7ED9CE"/>
                </a:solidFill>
                <a:latin typeface="Consolas" pitchFamily="34" charset="0"/>
                <a:ea typeface="Consolas" pitchFamily="34" charset="-122"/>
                <a:cs typeface="Consolas" pitchFamily="34" charset="-120"/>
              </a:rPr>
              <a:t>TEAM SE7EN  ·  CLAIMSHIELD NEXUS</a:t>
            </a:r>
            <a:endParaRPr lang="en-US" sz="1000" dirty="0"/>
          </a:p>
        </p:txBody>
      </p:sp>
      <p:sp>
        <p:nvSpPr>
          <p:cNvPr id="43" name="Text 40"/>
          <p:cNvSpPr/>
          <p:nvPr/>
        </p:nvSpPr>
        <p:spPr>
          <a:xfrm>
            <a:off x="5120640" y="6510528"/>
            <a:ext cx="4023360" cy="347472"/>
          </a:xfrm>
          <a:prstGeom prst="rect">
            <a:avLst/>
          </a:prstGeom>
          <a:noFill/>
          <a:ln/>
        </p:spPr>
        <p:txBody>
          <a:bodyPr wrap="square" lIns="0" tIns="0" rIns="0" bIns="0" rtlCol="0" anchor="ctr"/>
          <a:lstStyle/>
          <a:p>
            <a:pPr algn="ctr" indent="0" marL="0">
              <a:buNone/>
            </a:pPr>
            <a:r>
              <a:rPr lang="en-US" sz="1000" spc="140" kern="0" dirty="0">
                <a:solidFill>
                  <a:srgbClr val="C6A15B"/>
                </a:solidFill>
                <a:latin typeface="Consolas" pitchFamily="34" charset="0"/>
                <a:ea typeface="Consolas" pitchFamily="34" charset="-122"/>
                <a:cs typeface="Consolas" pitchFamily="34" charset="-120"/>
              </a:rPr>
              <a:t>SCALE</a:t>
            </a:r>
            <a:endParaRPr lang="en-US" dirty="0"/>
          </a:p>
        </p:txBody>
      </p:sp>
      <p:sp>
        <p:nvSpPr>
          <p:cNvPr id="44" name="Text 41"/>
          <p:cNvSpPr/>
          <p:nvPr/>
        </p:nvSpPr>
        <p:spPr>
          <a:xfrm>
            <a:off x="9509760" y="6510528"/>
            <a:ext cx="2103120" cy="347472"/>
          </a:xfrm>
          <a:prstGeom prst="rect">
            <a:avLst/>
          </a:prstGeom>
          <a:noFill/>
          <a:ln/>
        </p:spPr>
        <p:txBody>
          <a:bodyPr wrap="square" lIns="0" tIns="0" rIns="0" bIns="0" rtlCol="0" anchor="ctr"/>
          <a:lstStyle/>
          <a:p>
            <a:pPr algn="r" indent="0" marL="0">
              <a:buNone/>
            </a:pPr>
            <a:r>
              <a:rPr lang="en-US" sz="1000" spc="120" kern="0" dirty="0">
                <a:solidFill>
                  <a:srgbClr val="F6F1E8"/>
                </a:solidFill>
                <a:latin typeface="Consolas" pitchFamily="34" charset="0"/>
                <a:ea typeface="Consolas" pitchFamily="34" charset="-122"/>
                <a:cs typeface="Consolas" pitchFamily="34" charset="-120"/>
              </a:rPr>
              <a:t>09  /  10</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61C"/>
        </a:solidFill>
      </p:bgPr>
    </p:bg>
    <p:spTree>
      <p:nvGrpSpPr>
        <p:cNvPr id="1" name=""/>
        <p:cNvGrpSpPr/>
        <p:nvPr/>
      </p:nvGrpSpPr>
      <p:grpSpPr>
        <a:xfrm>
          <a:off x="0" y="0"/>
          <a:ext cx="0" cy="0"/>
          <a:chOff x="0" y="0"/>
          <a:chExt cx="0" cy="0"/>
        </a:xfrm>
      </p:grpSpPr>
      <p:sp>
        <p:nvSpPr>
          <p:cNvPr id="2" name="Text 0"/>
          <p:cNvSpPr/>
          <p:nvPr/>
        </p:nvSpPr>
        <p:spPr>
          <a:xfrm>
            <a:off x="566928" y="292608"/>
            <a:ext cx="10972800" cy="256032"/>
          </a:xfrm>
          <a:prstGeom prst="rect">
            <a:avLst/>
          </a:prstGeom>
          <a:noFill/>
          <a:ln/>
        </p:spPr>
        <p:txBody>
          <a:bodyPr wrap="square" lIns="0" tIns="0" rIns="0" bIns="0" rtlCol="0" anchor="ctr"/>
          <a:lstStyle/>
          <a:p>
            <a:pPr indent="0" marL="0">
              <a:buNone/>
            </a:pPr>
            <a:r>
              <a:rPr lang="en-US" sz="1100" spc="200" kern="0" dirty="0" b="0">
                <a:solidFill>
                  <a:srgbClr val="8AA0A6"/>
                </a:solidFill>
                <a:latin typeface="Consolas" pitchFamily="34" charset="0"/>
                <a:ea typeface="Consolas" pitchFamily="34" charset="-122"/>
                <a:cs typeface="Consolas" pitchFamily="34" charset="-120"/>
              </a:rPr>
              <a:t>06   </a:t>
            </a:r>
            <a:r>
              <a:rPr lang="en-US" sz="1100" spc="240" kern="0" dirty="0" b="1">
                <a:solidFill>
                  <a:srgbClr val="C6A15B"/>
                </a:solidFill>
                <a:latin typeface="Consolas" pitchFamily="34" charset="0"/>
                <a:ea typeface="Consolas" pitchFamily="34" charset="-122"/>
                <a:cs typeface="Consolas" pitchFamily="34" charset="-120"/>
              </a:rPr>
              <a:t>THE MATH</a:t>
            </a:r>
            <a:endParaRPr lang="en-US" dirty="0"/>
          </a:p>
        </p:txBody>
      </p:sp>
      <p:sp>
        <p:nvSpPr>
          <p:cNvPr id="3" name="Shape 1"/>
          <p:cNvSpPr/>
          <p:nvPr/>
        </p:nvSpPr>
        <p:spPr>
          <a:xfrm>
            <a:off x="566928" y="585216"/>
            <a:ext cx="1234440" cy="32004"/>
          </a:xfrm>
          <a:prstGeom prst="rect">
            <a:avLst/>
          </a:prstGeom>
          <a:solidFill>
            <a:srgbClr val="C6A15B"/>
          </a:solidFill>
          <a:ln/>
        </p:spPr>
      </p:sp>
      <p:sp>
        <p:nvSpPr>
          <p:cNvPr id="4" name="Text 2"/>
          <p:cNvSpPr/>
          <p:nvPr/>
        </p:nvSpPr>
        <p:spPr>
          <a:xfrm>
            <a:off x="566928" y="777240"/>
            <a:ext cx="10972800" cy="457200"/>
          </a:xfrm>
          <a:prstGeom prst="rect">
            <a:avLst/>
          </a:prstGeom>
          <a:noFill/>
          <a:ln/>
        </p:spPr>
        <p:txBody>
          <a:bodyPr wrap="square" lIns="0" tIns="0" rIns="0" bIns="0" rtlCol="0" anchor="ctr"/>
          <a:lstStyle/>
          <a:p>
            <a:pPr indent="0" marL="0">
              <a:buNone/>
            </a:pPr>
            <a:r>
              <a:rPr lang="en-US" sz="2400" dirty="0">
                <a:solidFill>
                  <a:srgbClr val="F6F1E8"/>
                </a:solidFill>
                <a:latin typeface="Georgia" pitchFamily="34" charset="0"/>
                <a:ea typeface="Georgia" pitchFamily="34" charset="-122"/>
                <a:cs typeface="Georgia" pitchFamily="34" charset="-120"/>
              </a:rPr>
              <a:t>Every score is a formula you can read back.</a:t>
            </a:r>
            <a:endParaRPr lang="en-US" dirty="0"/>
          </a:p>
        </p:txBody>
      </p:sp>
      <p:sp>
        <p:nvSpPr>
          <p:cNvPr id="5" name="Text 3"/>
          <p:cNvSpPr/>
          <p:nvPr/>
        </p:nvSpPr>
        <p:spPr>
          <a:xfrm>
            <a:off x="566928" y="1417320"/>
            <a:ext cx="548640" cy="566928"/>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01</a:t>
            </a:r>
            <a:endParaRPr lang="en-US" sz="1400" dirty="0"/>
          </a:p>
        </p:txBody>
      </p:sp>
      <p:sp>
        <p:nvSpPr>
          <p:cNvPr id="6" name="Text 4"/>
          <p:cNvSpPr/>
          <p:nvPr/>
        </p:nvSpPr>
        <p:spPr>
          <a:xfrm>
            <a:off x="1188720" y="1417320"/>
            <a:ext cx="2011680" cy="566928"/>
          </a:xfrm>
          <a:prstGeom prst="rect">
            <a:avLst/>
          </a:prstGeom>
          <a:noFill/>
          <a:ln/>
        </p:spPr>
        <p:txBody>
          <a:bodyPr wrap="square" lIns="0" tIns="0" rIns="0" bIns="0" rtlCol="0" anchor="ctr"/>
          <a:lstStyle/>
          <a:p>
            <a:pPr indent="0" marL="0">
              <a:buNone/>
            </a:pPr>
            <a:r>
              <a:rPr lang="en-US" sz="1800" dirty="0">
                <a:solidFill>
                  <a:srgbClr val="F6F1E8"/>
                </a:solidFill>
                <a:latin typeface="Georgia" pitchFamily="34" charset="0"/>
                <a:ea typeface="Georgia" pitchFamily="34" charset="-122"/>
                <a:cs typeface="Georgia" pitchFamily="34" charset="-120"/>
              </a:rPr>
              <a:t>Hazard</a:t>
            </a:r>
            <a:endParaRPr lang="en-US" dirty="0"/>
          </a:p>
        </p:txBody>
      </p:sp>
      <p:sp>
        <p:nvSpPr>
          <p:cNvPr id="7" name="Text 5"/>
          <p:cNvSpPr/>
          <p:nvPr/>
        </p:nvSpPr>
        <p:spPr>
          <a:xfrm>
            <a:off x="3246120" y="1417320"/>
            <a:ext cx="4160520" cy="603504"/>
          </a:xfrm>
          <a:prstGeom prst="rect">
            <a:avLst/>
          </a:prstGeom>
          <a:noFill/>
          <a:ln/>
        </p:spPr>
        <p:txBody>
          <a:bodyPr wrap="square" lIns="0" tIns="0" rIns="0" bIns="0" rtlCol="0" anchor="ctr"/>
          <a:lstStyle/>
          <a:p>
            <a:pPr indent="0" marL="0">
              <a:buNone/>
            </a:pPr>
            <a:r>
              <a:rPr lang="en-US" sz="1300" dirty="0">
                <a:solidFill>
                  <a:srgbClr val="7ED9CE"/>
                </a:solidFill>
                <a:latin typeface="Consolas" pitchFamily="34" charset="0"/>
                <a:ea typeface="Consolas" pitchFamily="34" charset="-122"/>
                <a:cs typeface="Consolas" pitchFamily="34" charset="-120"/>
              </a:rPr>
              <a:t>F(k) = 1 − ∏</a:t>
            </a:r>
            <a:r>
              <a:rPr lang="en-US" sz="1100" dirty="0" baseline="-25000">
                <a:solidFill>
                  <a:srgbClr val="7ED9CE"/>
                </a:solidFill>
                <a:latin typeface="Consolas" pitchFamily="34" charset="0"/>
                <a:ea typeface="Consolas" pitchFamily="34" charset="-122"/>
                <a:cs typeface="Consolas" pitchFamily="34" charset="-120"/>
              </a:rPr>
              <a:t>j≤k</a:t>
            </a:r>
            <a:r>
              <a:rPr lang="en-US" sz="1300" dirty="0">
                <a:solidFill>
                  <a:srgbClr val="7ED9CE"/>
                </a:solidFill>
                <a:latin typeface="Consolas" pitchFamily="34" charset="0"/>
                <a:ea typeface="Consolas" pitchFamily="34" charset="-122"/>
                <a:cs typeface="Consolas" pitchFamily="34" charset="-120"/>
              </a:rPr>
              <a:t> (1 − h</a:t>
            </a:r>
            <a:r>
              <a:rPr lang="en-US" sz="1100" dirty="0" baseline="-25000">
                <a:solidFill>
                  <a:srgbClr val="7ED9CE"/>
                </a:solidFill>
                <a:latin typeface="Consolas" pitchFamily="34" charset="0"/>
                <a:ea typeface="Consolas" pitchFamily="34" charset="-122"/>
                <a:cs typeface="Consolas" pitchFamily="34" charset="-120"/>
              </a:rPr>
              <a:t>j</a:t>
            </a:r>
            <a:r>
              <a:rPr lang="en-US" sz="1300" dirty="0">
                <a:solidFill>
                  <a:srgbClr val="7ED9CE"/>
                </a:solidFill>
                <a:latin typeface="Consolas" pitchFamily="34" charset="0"/>
                <a:ea typeface="Consolas" pitchFamily="34" charset="-122"/>
                <a:cs typeface="Consolas" pitchFamily="34" charset="-120"/>
              </a:rPr>
              <a:t>)</a:t>
            </a:r>
            <a:endParaRPr lang="en-US" dirty="0"/>
          </a:p>
          <a:p>
            <a:pPr indent="0" marL="0">
              <a:spcBef>
                <a:spcPts val="200"/>
              </a:spcBef>
              <a:buNone/>
            </a:pPr>
            <a:r>
              <a:rPr lang="en-US" sz="1100" dirty="0">
                <a:solidFill>
                  <a:srgbClr val="8AA0A6"/>
                </a:solidFill>
                <a:latin typeface="Arial" pitchFamily="34" charset="0"/>
                <a:ea typeface="Arial" pitchFamily="34" charset="-122"/>
                <a:cs typeface="Arial" pitchFamily="34" charset="-120"/>
              </a:rPr>
              <a:t>Discrete-time logistic. k = 1, 2, 3 → 30 / 60 / 90 days.</a:t>
            </a:r>
            <a:endParaRPr lang="en-US" dirty="0"/>
          </a:p>
        </p:txBody>
      </p:sp>
      <p:sp>
        <p:nvSpPr>
          <p:cNvPr id="8" name="Text 6"/>
          <p:cNvSpPr/>
          <p:nvPr/>
        </p:nvSpPr>
        <p:spPr>
          <a:xfrm>
            <a:off x="566928" y="2057400"/>
            <a:ext cx="548640" cy="566928"/>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02</a:t>
            </a:r>
            <a:endParaRPr lang="en-US" sz="1400" dirty="0"/>
          </a:p>
        </p:txBody>
      </p:sp>
      <p:sp>
        <p:nvSpPr>
          <p:cNvPr id="9" name="Text 7"/>
          <p:cNvSpPr/>
          <p:nvPr/>
        </p:nvSpPr>
        <p:spPr>
          <a:xfrm>
            <a:off x="1188720" y="2057400"/>
            <a:ext cx="2011680" cy="566928"/>
          </a:xfrm>
          <a:prstGeom prst="rect">
            <a:avLst/>
          </a:prstGeom>
          <a:noFill/>
          <a:ln/>
        </p:spPr>
        <p:txBody>
          <a:bodyPr wrap="square" lIns="0" tIns="0" rIns="0" bIns="0" rtlCol="0" anchor="ctr"/>
          <a:lstStyle/>
          <a:p>
            <a:pPr indent="0" marL="0">
              <a:buNone/>
            </a:pPr>
            <a:r>
              <a:rPr lang="en-US" sz="1800" dirty="0">
                <a:solidFill>
                  <a:srgbClr val="F6F1E8"/>
                </a:solidFill>
                <a:latin typeface="Georgia" pitchFamily="34" charset="0"/>
                <a:ea typeface="Georgia" pitchFamily="34" charset="-122"/>
                <a:cs typeface="Georgia" pitchFamily="34" charset="-120"/>
              </a:rPr>
              <a:t>P(confirm)</a:t>
            </a:r>
            <a:endParaRPr lang="en-US" dirty="0"/>
          </a:p>
        </p:txBody>
      </p:sp>
      <p:sp>
        <p:nvSpPr>
          <p:cNvPr id="10" name="Text 8"/>
          <p:cNvSpPr/>
          <p:nvPr/>
        </p:nvSpPr>
        <p:spPr>
          <a:xfrm>
            <a:off x="3246120" y="2057400"/>
            <a:ext cx="4160520" cy="603504"/>
          </a:xfrm>
          <a:prstGeom prst="rect">
            <a:avLst/>
          </a:prstGeom>
          <a:noFill/>
          <a:ln/>
        </p:spPr>
        <p:txBody>
          <a:bodyPr wrap="square" lIns="0" tIns="0" rIns="0" bIns="0" rtlCol="0" anchor="ctr"/>
          <a:lstStyle/>
          <a:p>
            <a:pPr indent="0" marL="0">
              <a:buNone/>
            </a:pPr>
            <a:r>
              <a:rPr lang="en-US" sz="1300" dirty="0">
                <a:solidFill>
                  <a:srgbClr val="7ED9CE"/>
                </a:solidFill>
                <a:latin typeface="Consolas" pitchFamily="34" charset="0"/>
                <a:ea typeface="Consolas" pitchFamily="34" charset="-122"/>
                <a:cs typeface="Consolas" pitchFamily="34" charset="-120"/>
              </a:rPr>
              <a:t>P = sigmoid(a · logit + b)</a:t>
            </a:r>
            <a:endParaRPr lang="en-US" dirty="0"/>
          </a:p>
          <a:p>
            <a:pPr indent="0" marL="0">
              <a:spcBef>
                <a:spcPts val="200"/>
              </a:spcBef>
              <a:buNone/>
            </a:pPr>
            <a:r>
              <a:rPr lang="en-US" sz="1100" dirty="0">
                <a:solidFill>
                  <a:srgbClr val="8AA0A6"/>
                </a:solidFill>
                <a:latin typeface="Arial" pitchFamily="34" charset="0"/>
                <a:ea typeface="Arial" pitchFamily="34" charset="-122"/>
                <a:cs typeface="Arial" pitchFamily="34" charset="-120"/>
              </a:rPr>
              <a:t>Logistic on case rows. Platt fit on held-out worlds.</a:t>
            </a:r>
            <a:endParaRPr lang="en-US" dirty="0"/>
          </a:p>
        </p:txBody>
      </p:sp>
      <p:sp>
        <p:nvSpPr>
          <p:cNvPr id="11" name="Text 9"/>
          <p:cNvSpPr/>
          <p:nvPr/>
        </p:nvSpPr>
        <p:spPr>
          <a:xfrm>
            <a:off x="566928" y="2697480"/>
            <a:ext cx="548640" cy="566928"/>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03</a:t>
            </a:r>
            <a:endParaRPr lang="en-US" sz="1400" dirty="0"/>
          </a:p>
        </p:txBody>
      </p:sp>
      <p:sp>
        <p:nvSpPr>
          <p:cNvPr id="12" name="Text 10"/>
          <p:cNvSpPr/>
          <p:nvPr/>
        </p:nvSpPr>
        <p:spPr>
          <a:xfrm>
            <a:off x="1188720" y="2697480"/>
            <a:ext cx="2011680" cy="566928"/>
          </a:xfrm>
          <a:prstGeom prst="rect">
            <a:avLst/>
          </a:prstGeom>
          <a:noFill/>
          <a:ln/>
        </p:spPr>
        <p:txBody>
          <a:bodyPr wrap="square" lIns="0" tIns="0" rIns="0" bIns="0" rtlCol="0" anchor="ctr"/>
          <a:lstStyle/>
          <a:p>
            <a:pPr indent="0" marL="0">
              <a:buNone/>
            </a:pPr>
            <a:r>
              <a:rPr lang="en-US" sz="1800" dirty="0">
                <a:solidFill>
                  <a:srgbClr val="F6F1E8"/>
                </a:solidFill>
                <a:latin typeface="Georgia" pitchFamily="34" charset="0"/>
                <a:ea typeface="Georgia" pitchFamily="34" charset="-122"/>
                <a:cs typeface="Georgia" pitchFamily="34" charset="-120"/>
              </a:rPr>
              <a:t>Features</a:t>
            </a:r>
            <a:endParaRPr lang="en-US" dirty="0"/>
          </a:p>
        </p:txBody>
      </p:sp>
      <p:sp>
        <p:nvSpPr>
          <p:cNvPr id="13" name="Text 11"/>
          <p:cNvSpPr/>
          <p:nvPr/>
        </p:nvSpPr>
        <p:spPr>
          <a:xfrm>
            <a:off x="3246120" y="2697480"/>
            <a:ext cx="4160520" cy="603504"/>
          </a:xfrm>
          <a:prstGeom prst="rect">
            <a:avLst/>
          </a:prstGeom>
          <a:noFill/>
          <a:ln/>
        </p:spPr>
        <p:txBody>
          <a:bodyPr wrap="square" lIns="0" tIns="0" rIns="0" bIns="0" rtlCol="0" anchor="ctr"/>
          <a:lstStyle/>
          <a:p>
            <a:pPr indent="0" marL="0">
              <a:buNone/>
            </a:pPr>
            <a:r>
              <a:rPr lang="en-US" sz="1300" dirty="0">
                <a:solidFill>
                  <a:srgbClr val="7ED9CE"/>
                </a:solidFill>
                <a:latin typeface="Consolas" pitchFamily="34" charset="0"/>
                <a:ea typeface="Consolas" pitchFamily="34" charset="-122"/>
                <a:cs typeface="Consolas" pitchFamily="34" charset="-120"/>
              </a:rPr>
              <a:t>clip(z, ±4 SD)  ·  L2, C = 0.5</a:t>
            </a:r>
            <a:endParaRPr lang="en-US" dirty="0"/>
          </a:p>
          <a:p>
            <a:pPr indent="0" marL="0">
              <a:spcBef>
                <a:spcPts val="200"/>
              </a:spcBef>
              <a:buNone/>
            </a:pPr>
            <a:r>
              <a:rPr lang="en-US" sz="1100" dirty="0">
                <a:solidFill>
                  <a:srgbClr val="8AA0A6"/>
                </a:solidFill>
                <a:latin typeface="Arial" pitchFamily="34" charset="0"/>
                <a:ea typeface="Arial" pitchFamily="34" charset="-122"/>
                <a:cs typeface="Arial" pitchFamily="34" charset="-120"/>
              </a:rPr>
              <a:t>41 provider + 33 case features, as of the cutoff only.</a:t>
            </a:r>
            <a:endParaRPr lang="en-US" dirty="0"/>
          </a:p>
        </p:txBody>
      </p:sp>
      <p:sp>
        <p:nvSpPr>
          <p:cNvPr id="14" name="Text 12"/>
          <p:cNvSpPr/>
          <p:nvPr/>
        </p:nvSpPr>
        <p:spPr>
          <a:xfrm>
            <a:off x="566928" y="3337560"/>
            <a:ext cx="548640" cy="566928"/>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04</a:t>
            </a:r>
            <a:endParaRPr lang="en-US" sz="1400" dirty="0"/>
          </a:p>
        </p:txBody>
      </p:sp>
      <p:sp>
        <p:nvSpPr>
          <p:cNvPr id="15" name="Text 13"/>
          <p:cNvSpPr/>
          <p:nvPr/>
        </p:nvSpPr>
        <p:spPr>
          <a:xfrm>
            <a:off x="1188720" y="3337560"/>
            <a:ext cx="2011680" cy="566928"/>
          </a:xfrm>
          <a:prstGeom prst="rect">
            <a:avLst/>
          </a:prstGeom>
          <a:noFill/>
          <a:ln/>
        </p:spPr>
        <p:txBody>
          <a:bodyPr wrap="square" lIns="0" tIns="0" rIns="0" bIns="0" rtlCol="0" anchor="ctr"/>
          <a:lstStyle/>
          <a:p>
            <a:pPr indent="0" marL="0">
              <a:buNone/>
            </a:pPr>
            <a:r>
              <a:rPr lang="en-US" sz="1800" dirty="0">
                <a:solidFill>
                  <a:srgbClr val="F6F1E8"/>
                </a:solidFill>
                <a:latin typeface="Georgia" pitchFamily="34" charset="0"/>
                <a:ea typeface="Georgia" pitchFamily="34" charset="-122"/>
                <a:cs typeface="Georgia" pitchFamily="34" charset="-120"/>
              </a:rPr>
              <a:t>Peer z</a:t>
            </a:r>
            <a:endParaRPr lang="en-US" dirty="0"/>
          </a:p>
        </p:txBody>
      </p:sp>
      <p:sp>
        <p:nvSpPr>
          <p:cNvPr id="16" name="Text 14"/>
          <p:cNvSpPr/>
          <p:nvPr/>
        </p:nvSpPr>
        <p:spPr>
          <a:xfrm>
            <a:off x="3246120" y="3337560"/>
            <a:ext cx="4160520" cy="603504"/>
          </a:xfrm>
          <a:prstGeom prst="rect">
            <a:avLst/>
          </a:prstGeom>
          <a:noFill/>
          <a:ln/>
        </p:spPr>
        <p:txBody>
          <a:bodyPr wrap="square" lIns="0" tIns="0" rIns="0" bIns="0" rtlCol="0" anchor="ctr"/>
          <a:lstStyle/>
          <a:p>
            <a:pPr indent="0" marL="0">
              <a:buNone/>
            </a:pPr>
            <a:r>
              <a:rPr lang="en-US" sz="1300" dirty="0">
                <a:solidFill>
                  <a:srgbClr val="7ED9CE"/>
                </a:solidFill>
                <a:latin typeface="Consolas" pitchFamily="34" charset="0"/>
                <a:ea typeface="Consolas" pitchFamily="34" charset="-122"/>
                <a:cs typeface="Consolas" pitchFamily="34" charset="-120"/>
              </a:rPr>
              <a:t>z = 0.6745 (x − median) / MAD</a:t>
            </a:r>
            <a:endParaRPr lang="en-US" dirty="0"/>
          </a:p>
          <a:p>
            <a:pPr indent="0" marL="0">
              <a:spcBef>
                <a:spcPts val="200"/>
              </a:spcBef>
              <a:buNone/>
            </a:pPr>
            <a:r>
              <a:rPr lang="en-US" sz="1100" dirty="0">
                <a:solidFill>
                  <a:srgbClr val="8AA0A6"/>
                </a:solidFill>
                <a:latin typeface="Arial" pitchFamily="34" charset="0"/>
                <a:ea typeface="Arial" pitchFamily="34" charset="-122"/>
                <a:cs typeface="Arial" pitchFamily="34" charset="-120"/>
              </a:rPr>
              <a:t>Paid per member, 90 days, within service line.</a:t>
            </a:r>
            <a:endParaRPr lang="en-US" dirty="0"/>
          </a:p>
        </p:txBody>
      </p:sp>
      <p:sp>
        <p:nvSpPr>
          <p:cNvPr id="17" name="Text 15"/>
          <p:cNvSpPr/>
          <p:nvPr/>
        </p:nvSpPr>
        <p:spPr>
          <a:xfrm>
            <a:off x="566928" y="3977640"/>
            <a:ext cx="548640" cy="566928"/>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05</a:t>
            </a:r>
            <a:endParaRPr lang="en-US" sz="1400" dirty="0"/>
          </a:p>
        </p:txBody>
      </p:sp>
      <p:sp>
        <p:nvSpPr>
          <p:cNvPr id="18" name="Text 16"/>
          <p:cNvSpPr/>
          <p:nvPr/>
        </p:nvSpPr>
        <p:spPr>
          <a:xfrm>
            <a:off x="1188720" y="3977640"/>
            <a:ext cx="2011680" cy="566928"/>
          </a:xfrm>
          <a:prstGeom prst="rect">
            <a:avLst/>
          </a:prstGeom>
          <a:noFill/>
          <a:ln/>
        </p:spPr>
        <p:txBody>
          <a:bodyPr wrap="square" lIns="0" tIns="0" rIns="0" bIns="0" rtlCol="0" anchor="ctr"/>
          <a:lstStyle/>
          <a:p>
            <a:pPr indent="0" marL="0">
              <a:buNone/>
            </a:pPr>
            <a:r>
              <a:rPr lang="en-US" sz="1800" dirty="0">
                <a:solidFill>
                  <a:srgbClr val="F6F1E8"/>
                </a:solidFill>
                <a:latin typeface="Georgia" pitchFamily="34" charset="0"/>
                <a:ea typeface="Georgia" pitchFamily="34" charset="-122"/>
                <a:cs typeface="Georgia" pitchFamily="34" charset="-120"/>
              </a:rPr>
              <a:t>Composite</a:t>
            </a:r>
            <a:endParaRPr lang="en-US" dirty="0"/>
          </a:p>
        </p:txBody>
      </p:sp>
      <p:sp>
        <p:nvSpPr>
          <p:cNvPr id="19" name="Text 17"/>
          <p:cNvSpPr/>
          <p:nvPr/>
        </p:nvSpPr>
        <p:spPr>
          <a:xfrm>
            <a:off x="3246120" y="3977640"/>
            <a:ext cx="4160520" cy="603504"/>
          </a:xfrm>
          <a:prstGeom prst="rect">
            <a:avLst/>
          </a:prstGeom>
          <a:noFill/>
          <a:ln/>
        </p:spPr>
        <p:txBody>
          <a:bodyPr wrap="square" lIns="0" tIns="0" rIns="0" bIns="0" rtlCol="0" anchor="ctr"/>
          <a:lstStyle/>
          <a:p>
            <a:pPr indent="0" marL="0">
              <a:buNone/>
            </a:pPr>
            <a:r>
              <a:rPr lang="en-US" sz="1300" dirty="0">
                <a:solidFill>
                  <a:srgbClr val="7ED9CE"/>
                </a:solidFill>
                <a:latin typeface="Consolas" pitchFamily="34" charset="0"/>
                <a:ea typeface="Consolas" pitchFamily="34" charset="-122"/>
                <a:cs typeface="Consolas" pitchFamily="34" charset="-120"/>
              </a:rPr>
              <a:t>0.22(S + E + M) + 0.18 V + 0.16 U</a:t>
            </a:r>
            <a:endParaRPr lang="en-US" dirty="0"/>
          </a:p>
          <a:p>
            <a:pPr indent="0" marL="0">
              <a:spcBef>
                <a:spcPts val="200"/>
              </a:spcBef>
              <a:buNone/>
            </a:pPr>
            <a:r>
              <a:rPr lang="en-US" sz="1100" dirty="0">
                <a:solidFill>
                  <a:srgbClr val="8AA0A6"/>
                </a:solidFill>
                <a:latin typeface="Arial" pitchFamily="34" charset="0"/>
                <a:ea typeface="Arial" pitchFamily="34" charset="-122"/>
                <a:cs typeface="Arial" pitchFamily="34" charset="-120"/>
              </a:rPr>
              <a:t>Severity, exposure, members, evidence, urgency.</a:t>
            </a:r>
            <a:endParaRPr lang="en-US" dirty="0"/>
          </a:p>
        </p:txBody>
      </p:sp>
      <p:sp>
        <p:nvSpPr>
          <p:cNvPr id="20" name="Text 18"/>
          <p:cNvSpPr/>
          <p:nvPr/>
        </p:nvSpPr>
        <p:spPr>
          <a:xfrm>
            <a:off x="566928" y="4617720"/>
            <a:ext cx="548640" cy="566928"/>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06</a:t>
            </a:r>
            <a:endParaRPr lang="en-US" sz="1400" dirty="0"/>
          </a:p>
        </p:txBody>
      </p:sp>
      <p:sp>
        <p:nvSpPr>
          <p:cNvPr id="21" name="Text 19"/>
          <p:cNvSpPr/>
          <p:nvPr/>
        </p:nvSpPr>
        <p:spPr>
          <a:xfrm>
            <a:off x="1188720" y="4617720"/>
            <a:ext cx="2011680" cy="566928"/>
          </a:xfrm>
          <a:prstGeom prst="rect">
            <a:avLst/>
          </a:prstGeom>
          <a:noFill/>
          <a:ln/>
        </p:spPr>
        <p:txBody>
          <a:bodyPr wrap="square" lIns="0" tIns="0" rIns="0" bIns="0" rtlCol="0" anchor="ctr"/>
          <a:lstStyle/>
          <a:p>
            <a:pPr indent="0" marL="0">
              <a:buNone/>
            </a:pPr>
            <a:r>
              <a:rPr lang="en-US" sz="1800" dirty="0">
                <a:solidFill>
                  <a:srgbClr val="F6F1E8"/>
                </a:solidFill>
                <a:latin typeface="Georgia" pitchFamily="34" charset="0"/>
                <a:ea typeface="Georgia" pitchFamily="34" charset="-122"/>
                <a:cs typeface="Georgia" pitchFamily="34" charset="-120"/>
              </a:rPr>
              <a:t>Evidence gate</a:t>
            </a:r>
            <a:endParaRPr lang="en-US" dirty="0"/>
          </a:p>
        </p:txBody>
      </p:sp>
      <p:sp>
        <p:nvSpPr>
          <p:cNvPr id="22" name="Text 20"/>
          <p:cNvSpPr/>
          <p:nvPr/>
        </p:nvSpPr>
        <p:spPr>
          <a:xfrm>
            <a:off x="3246120" y="4617720"/>
            <a:ext cx="4160520" cy="603504"/>
          </a:xfrm>
          <a:prstGeom prst="rect">
            <a:avLst/>
          </a:prstGeom>
          <a:noFill/>
          <a:ln/>
        </p:spPr>
        <p:txBody>
          <a:bodyPr wrap="square" lIns="0" tIns="0" rIns="0" bIns="0" rtlCol="0" anchor="ctr"/>
          <a:lstStyle/>
          <a:p>
            <a:pPr indent="0" marL="0">
              <a:buNone/>
            </a:pPr>
            <a:r>
              <a:rPr lang="en-US" sz="1300" dirty="0">
                <a:solidFill>
                  <a:srgbClr val="7ED9CE"/>
                </a:solidFill>
                <a:latin typeface="Consolas" pitchFamily="34" charset="0"/>
                <a:ea typeface="Consolas" pitchFamily="34" charset="-122"/>
                <a:cs typeface="Consolas" pitchFamily="34" charset="-120"/>
              </a:rPr>
              <a:t>strength &lt; 0.40 → gather evidence</a:t>
            </a:r>
            <a:endParaRPr lang="en-US" dirty="0"/>
          </a:p>
          <a:p>
            <a:pPr indent="0" marL="0">
              <a:spcBef>
                <a:spcPts val="200"/>
              </a:spcBef>
              <a:buNone/>
            </a:pPr>
            <a:r>
              <a:rPr lang="en-US" sz="1100" dirty="0">
                <a:solidFill>
                  <a:srgbClr val="8AA0A6"/>
                </a:solidFill>
                <a:latin typeface="Arial" pitchFamily="34" charset="0"/>
                <a:ea typeface="Arial" pitchFamily="34" charset="-122"/>
                <a:cs typeface="Arial" pitchFamily="34" charset="-120"/>
              </a:rPr>
              <a:t>Weak cases are not dismissed. They wait for proof.</a:t>
            </a:r>
            <a:endParaRPr lang="en-US" dirty="0"/>
          </a:p>
        </p:txBody>
      </p:sp>
      <p:sp>
        <p:nvSpPr>
          <p:cNvPr id="23" name="Text 21"/>
          <p:cNvSpPr/>
          <p:nvPr/>
        </p:nvSpPr>
        <p:spPr>
          <a:xfrm>
            <a:off x="566928" y="5257800"/>
            <a:ext cx="548640" cy="566928"/>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07</a:t>
            </a:r>
            <a:endParaRPr lang="en-US" sz="1400" dirty="0"/>
          </a:p>
        </p:txBody>
      </p:sp>
      <p:sp>
        <p:nvSpPr>
          <p:cNvPr id="24" name="Text 22"/>
          <p:cNvSpPr/>
          <p:nvPr/>
        </p:nvSpPr>
        <p:spPr>
          <a:xfrm>
            <a:off x="1188720" y="5257800"/>
            <a:ext cx="2011680" cy="566928"/>
          </a:xfrm>
          <a:prstGeom prst="rect">
            <a:avLst/>
          </a:prstGeom>
          <a:noFill/>
          <a:ln/>
        </p:spPr>
        <p:txBody>
          <a:bodyPr wrap="square" lIns="0" tIns="0" rIns="0" bIns="0" rtlCol="0" anchor="ctr"/>
          <a:lstStyle/>
          <a:p>
            <a:pPr indent="0" marL="0">
              <a:buNone/>
            </a:pPr>
            <a:r>
              <a:rPr lang="en-US" sz="1800" dirty="0">
                <a:solidFill>
                  <a:srgbClr val="F6F1E8"/>
                </a:solidFill>
                <a:latin typeface="Georgia" pitchFamily="34" charset="0"/>
                <a:ea typeface="Georgia" pitchFamily="34" charset="-122"/>
                <a:cs typeface="Georgia" pitchFamily="34" charset="-120"/>
              </a:rPr>
              <a:t>Desk</a:t>
            </a:r>
            <a:endParaRPr lang="en-US" dirty="0"/>
          </a:p>
        </p:txBody>
      </p:sp>
      <p:sp>
        <p:nvSpPr>
          <p:cNvPr id="25" name="Text 23"/>
          <p:cNvSpPr/>
          <p:nvPr/>
        </p:nvSpPr>
        <p:spPr>
          <a:xfrm>
            <a:off x="3246120" y="5257800"/>
            <a:ext cx="4160520" cy="603504"/>
          </a:xfrm>
          <a:prstGeom prst="rect">
            <a:avLst/>
          </a:prstGeom>
          <a:noFill/>
          <a:ln/>
        </p:spPr>
        <p:txBody>
          <a:bodyPr wrap="square" lIns="0" tIns="0" rIns="0" bIns="0" rtlCol="0" anchor="ctr"/>
          <a:lstStyle/>
          <a:p>
            <a:pPr indent="0" marL="0">
              <a:buNone/>
            </a:pPr>
            <a:r>
              <a:rPr lang="en-US" sz="1300" dirty="0">
                <a:solidFill>
                  <a:srgbClr val="7ED9CE"/>
                </a:solidFill>
                <a:latin typeface="Consolas" pitchFamily="34" charset="0"/>
                <a:ea typeface="Consolas" pitchFamily="34" charset="-122"/>
                <a:cs typeface="Consolas" pitchFamily="34" charset="-120"/>
              </a:rPr>
              <a:t>max ∑C  s.t.  ∑hours ≤ H − H</a:t>
            </a:r>
            <a:r>
              <a:rPr lang="en-US" sz="1100" dirty="0" baseline="-25000">
                <a:solidFill>
                  <a:srgbClr val="7ED9CE"/>
                </a:solidFill>
                <a:latin typeface="Consolas" pitchFamily="34" charset="0"/>
                <a:ea typeface="Consolas" pitchFamily="34" charset="-122"/>
                <a:cs typeface="Consolas" pitchFamily="34" charset="-120"/>
              </a:rPr>
              <a:t>harm</a:t>
            </a:r>
            <a:endParaRPr lang="en-US" dirty="0"/>
          </a:p>
          <a:p>
            <a:pPr indent="0" marL="0">
              <a:spcBef>
                <a:spcPts val="200"/>
              </a:spcBef>
              <a:buNone/>
            </a:pPr>
            <a:r>
              <a:rPr lang="en-US" sz="1100" dirty="0">
                <a:solidFill>
                  <a:srgbClr val="8AA0A6"/>
                </a:solidFill>
                <a:latin typeface="Arial" pitchFamily="34" charset="0"/>
                <a:ea typeface="Arial" pitchFamily="34" charset="-122"/>
                <a:cs typeface="Arial" pitchFamily="34" charset="-120"/>
              </a:rPr>
              <a:t>Harm ≥ 4 goes first. Knapsack fills the rest. 20 slots.</a:t>
            </a:r>
            <a:endParaRPr lang="en-US" dirty="0"/>
          </a:p>
        </p:txBody>
      </p:sp>
      <p:sp>
        <p:nvSpPr>
          <p:cNvPr id="26" name="Shape 24"/>
          <p:cNvSpPr/>
          <p:nvPr/>
        </p:nvSpPr>
        <p:spPr>
          <a:xfrm>
            <a:off x="7635240" y="1417320"/>
            <a:ext cx="182880" cy="0"/>
          </a:xfrm>
          <a:prstGeom prst="line">
            <a:avLst/>
          </a:prstGeom>
          <a:noFill/>
          <a:ln w="15875">
            <a:solidFill>
              <a:srgbClr val="C6A15B"/>
            </a:solidFill>
            <a:prstDash val="solid"/>
          </a:ln>
        </p:spPr>
      </p:sp>
      <p:sp>
        <p:nvSpPr>
          <p:cNvPr id="27" name="Shape 25"/>
          <p:cNvSpPr/>
          <p:nvPr/>
        </p:nvSpPr>
        <p:spPr>
          <a:xfrm>
            <a:off x="7635240" y="1417320"/>
            <a:ext cx="0" cy="182880"/>
          </a:xfrm>
          <a:prstGeom prst="line">
            <a:avLst/>
          </a:prstGeom>
          <a:noFill/>
          <a:ln w="15875">
            <a:solidFill>
              <a:srgbClr val="C6A15B"/>
            </a:solidFill>
            <a:prstDash val="solid"/>
          </a:ln>
        </p:spPr>
      </p:sp>
      <p:sp>
        <p:nvSpPr>
          <p:cNvPr id="28" name="Shape 26"/>
          <p:cNvSpPr/>
          <p:nvPr/>
        </p:nvSpPr>
        <p:spPr>
          <a:xfrm>
            <a:off x="11430000" y="1417320"/>
            <a:ext cx="182880" cy="0"/>
          </a:xfrm>
          <a:prstGeom prst="line">
            <a:avLst/>
          </a:prstGeom>
          <a:noFill/>
          <a:ln w="15875">
            <a:solidFill>
              <a:srgbClr val="C6A15B"/>
            </a:solidFill>
            <a:prstDash val="solid"/>
          </a:ln>
        </p:spPr>
      </p:sp>
      <p:sp>
        <p:nvSpPr>
          <p:cNvPr id="29" name="Shape 27"/>
          <p:cNvSpPr/>
          <p:nvPr/>
        </p:nvSpPr>
        <p:spPr>
          <a:xfrm>
            <a:off x="11612880" y="1417320"/>
            <a:ext cx="0" cy="182880"/>
          </a:xfrm>
          <a:prstGeom prst="line">
            <a:avLst/>
          </a:prstGeom>
          <a:noFill/>
          <a:ln w="15875">
            <a:solidFill>
              <a:srgbClr val="C6A15B"/>
            </a:solidFill>
            <a:prstDash val="solid"/>
          </a:ln>
        </p:spPr>
      </p:sp>
      <p:sp>
        <p:nvSpPr>
          <p:cNvPr id="30" name="Shape 28"/>
          <p:cNvSpPr/>
          <p:nvPr/>
        </p:nvSpPr>
        <p:spPr>
          <a:xfrm>
            <a:off x="7635240" y="5715000"/>
            <a:ext cx="0" cy="182880"/>
          </a:xfrm>
          <a:prstGeom prst="line">
            <a:avLst/>
          </a:prstGeom>
          <a:noFill/>
          <a:ln w="15875">
            <a:solidFill>
              <a:srgbClr val="C6A15B"/>
            </a:solidFill>
            <a:prstDash val="solid"/>
          </a:ln>
        </p:spPr>
      </p:sp>
      <p:sp>
        <p:nvSpPr>
          <p:cNvPr id="31" name="Shape 29"/>
          <p:cNvSpPr/>
          <p:nvPr/>
        </p:nvSpPr>
        <p:spPr>
          <a:xfrm>
            <a:off x="7635240" y="5897880"/>
            <a:ext cx="182880" cy="0"/>
          </a:xfrm>
          <a:prstGeom prst="line">
            <a:avLst/>
          </a:prstGeom>
          <a:noFill/>
          <a:ln w="15875">
            <a:solidFill>
              <a:srgbClr val="C6A15B"/>
            </a:solidFill>
            <a:prstDash val="solid"/>
          </a:ln>
        </p:spPr>
      </p:sp>
      <p:sp>
        <p:nvSpPr>
          <p:cNvPr id="32" name="Shape 30"/>
          <p:cNvSpPr/>
          <p:nvPr/>
        </p:nvSpPr>
        <p:spPr>
          <a:xfrm>
            <a:off x="11612880" y="5715000"/>
            <a:ext cx="0" cy="182880"/>
          </a:xfrm>
          <a:prstGeom prst="line">
            <a:avLst/>
          </a:prstGeom>
          <a:noFill/>
          <a:ln w="15875">
            <a:solidFill>
              <a:srgbClr val="C6A15B"/>
            </a:solidFill>
            <a:prstDash val="solid"/>
          </a:ln>
        </p:spPr>
      </p:sp>
      <p:sp>
        <p:nvSpPr>
          <p:cNvPr id="33" name="Shape 31"/>
          <p:cNvSpPr/>
          <p:nvPr/>
        </p:nvSpPr>
        <p:spPr>
          <a:xfrm>
            <a:off x="11430000" y="5897880"/>
            <a:ext cx="182880" cy="0"/>
          </a:xfrm>
          <a:prstGeom prst="line">
            <a:avLst/>
          </a:prstGeom>
          <a:noFill/>
          <a:ln w="15875">
            <a:solidFill>
              <a:srgbClr val="C6A15B"/>
            </a:solidFill>
            <a:prstDash val="solid"/>
          </a:ln>
        </p:spPr>
      </p:sp>
      <p:sp>
        <p:nvSpPr>
          <p:cNvPr id="34" name="Text 32"/>
          <p:cNvSpPr/>
          <p:nvPr/>
        </p:nvSpPr>
        <p:spPr>
          <a:xfrm>
            <a:off x="7909560" y="1645920"/>
            <a:ext cx="3474720" cy="365760"/>
          </a:xfrm>
          <a:prstGeom prst="rect">
            <a:avLst/>
          </a:prstGeom>
          <a:noFill/>
          <a:ln/>
        </p:spPr>
        <p:txBody>
          <a:bodyPr wrap="square" lIns="0" tIns="0" rIns="0" bIns="0" rtlCol="0" anchor="ctr"/>
          <a:lstStyle/>
          <a:p>
            <a:pPr indent="0" marL="0">
              <a:buNone/>
            </a:pPr>
            <a:r>
              <a:rPr lang="en-US" sz="1200" spc="200" kern="0" dirty="0">
                <a:solidFill>
                  <a:srgbClr val="C6A15B"/>
                </a:solidFill>
                <a:latin typeface="Consolas" pitchFamily="34" charset="0"/>
                <a:ea typeface="Consolas" pitchFamily="34" charset="-122"/>
                <a:cs typeface="Consolas" pitchFamily="34" charset="-120"/>
              </a:rPr>
              <a:t>Guard rails</a:t>
            </a:r>
            <a:endParaRPr lang="en-US" dirty="0"/>
          </a:p>
        </p:txBody>
      </p:sp>
      <p:sp>
        <p:nvSpPr>
          <p:cNvPr id="35" name="Text 33"/>
          <p:cNvSpPr/>
          <p:nvPr/>
        </p:nvSpPr>
        <p:spPr>
          <a:xfrm>
            <a:off x="7909560" y="2148840"/>
            <a:ext cx="3474720" cy="457200"/>
          </a:xfrm>
          <a:prstGeom prst="rect">
            <a:avLst/>
          </a:prstGeom>
          <a:noFill/>
          <a:ln/>
        </p:spPr>
        <p:txBody>
          <a:bodyPr wrap="square" lIns="0" tIns="0" rIns="0" bIns="0" rtlCol="0" anchor="ctr"/>
          <a:lstStyle/>
          <a:p>
            <a:pPr indent="0" marL="0">
              <a:buNone/>
            </a:pPr>
            <a:r>
              <a:rPr lang="en-US" sz="1400" dirty="0">
                <a:solidFill>
                  <a:srgbClr val="F6F1E8"/>
                </a:solidFill>
                <a:latin typeface="Arial" pitchFamily="34" charset="0"/>
                <a:ea typeface="Arial" pitchFamily="34" charset="-122"/>
                <a:cs typeface="Arial" pitchFamily="34" charset="-120"/>
              </a:rPr>
              <a:t>Labels never become features</a:t>
            </a:r>
            <a:endParaRPr lang="en-US" dirty="0"/>
          </a:p>
        </p:txBody>
      </p:sp>
      <p:sp>
        <p:nvSpPr>
          <p:cNvPr id="36" name="Text 34"/>
          <p:cNvSpPr/>
          <p:nvPr/>
        </p:nvSpPr>
        <p:spPr>
          <a:xfrm>
            <a:off x="7909560" y="2679192"/>
            <a:ext cx="3474720" cy="457200"/>
          </a:xfrm>
          <a:prstGeom prst="rect">
            <a:avLst/>
          </a:prstGeom>
          <a:noFill/>
          <a:ln/>
        </p:spPr>
        <p:txBody>
          <a:bodyPr wrap="square" lIns="0" tIns="0" rIns="0" bIns="0" rtlCol="0" anchor="ctr"/>
          <a:lstStyle/>
          <a:p>
            <a:pPr indent="0" marL="0">
              <a:buNone/>
            </a:pPr>
            <a:r>
              <a:rPr lang="en-US" sz="1400" dirty="0">
                <a:solidFill>
                  <a:srgbClr val="F6F1E8"/>
                </a:solidFill>
                <a:latin typeface="Arial" pitchFamily="34" charset="0"/>
                <a:ea typeface="Arial" pitchFamily="34" charset="-122"/>
                <a:cs typeface="Arial" pitchFamily="34" charset="-120"/>
              </a:rPr>
              <a:t>24 seeded worlds, split by world</a:t>
            </a:r>
            <a:endParaRPr lang="en-US" dirty="0"/>
          </a:p>
        </p:txBody>
      </p:sp>
      <p:sp>
        <p:nvSpPr>
          <p:cNvPr id="37" name="Text 35"/>
          <p:cNvSpPr/>
          <p:nvPr/>
        </p:nvSpPr>
        <p:spPr>
          <a:xfrm>
            <a:off x="7909560" y="3209544"/>
            <a:ext cx="3474720" cy="457200"/>
          </a:xfrm>
          <a:prstGeom prst="rect">
            <a:avLst/>
          </a:prstGeom>
          <a:noFill/>
          <a:ln/>
        </p:spPr>
        <p:txBody>
          <a:bodyPr wrap="square" lIns="0" tIns="0" rIns="0" bIns="0" rtlCol="0" anchor="ctr"/>
          <a:lstStyle/>
          <a:p>
            <a:pPr indent="0" marL="0">
              <a:buNone/>
            </a:pPr>
            <a:r>
              <a:rPr lang="en-US" sz="1400" dirty="0">
                <a:solidFill>
                  <a:srgbClr val="F6F1E8"/>
                </a:solidFill>
                <a:latin typeface="Arial" pitchFamily="34" charset="0"/>
                <a:ea typeface="Arial" pitchFamily="34" charset="-122"/>
                <a:cs typeface="Arial" pitchFamily="34" charset="-120"/>
              </a:rPr>
              <a:t>S06 ambulance held out, unseen</a:t>
            </a:r>
            <a:endParaRPr lang="en-US" dirty="0"/>
          </a:p>
        </p:txBody>
      </p:sp>
      <p:sp>
        <p:nvSpPr>
          <p:cNvPr id="38" name="Text 36"/>
          <p:cNvSpPr/>
          <p:nvPr/>
        </p:nvSpPr>
        <p:spPr>
          <a:xfrm>
            <a:off x="7909560" y="3739896"/>
            <a:ext cx="3474720" cy="457200"/>
          </a:xfrm>
          <a:prstGeom prst="rect">
            <a:avLst/>
          </a:prstGeom>
          <a:noFill/>
          <a:ln/>
        </p:spPr>
        <p:txBody>
          <a:bodyPr wrap="square" lIns="0" tIns="0" rIns="0" bIns="0" rtlCol="0" anchor="ctr"/>
          <a:lstStyle/>
          <a:p>
            <a:pPr indent="0" marL="0">
              <a:buNone/>
            </a:pPr>
            <a:r>
              <a:rPr lang="en-US" sz="1400" dirty="0">
                <a:solidFill>
                  <a:srgbClr val="F6F1E8"/>
                </a:solidFill>
                <a:latin typeface="Arial" pitchFamily="34" charset="0"/>
                <a:ea typeface="Arial" pitchFamily="34" charset="-122"/>
                <a:cs typeface="Arial" pitchFamily="34" charset="-120"/>
              </a:rPr>
              <a:t>30/60/90 monotone: 0 violations</a:t>
            </a:r>
            <a:endParaRPr lang="en-US" dirty="0"/>
          </a:p>
        </p:txBody>
      </p:sp>
      <p:sp>
        <p:nvSpPr>
          <p:cNvPr id="39" name="Text 37"/>
          <p:cNvSpPr/>
          <p:nvPr/>
        </p:nvSpPr>
        <p:spPr>
          <a:xfrm>
            <a:off x="7909560" y="4270248"/>
            <a:ext cx="3474720" cy="457200"/>
          </a:xfrm>
          <a:prstGeom prst="rect">
            <a:avLst/>
          </a:prstGeom>
          <a:noFill/>
          <a:ln/>
        </p:spPr>
        <p:txBody>
          <a:bodyPr wrap="square" lIns="0" tIns="0" rIns="0" bIns="0" rtlCol="0" anchor="ctr"/>
          <a:lstStyle/>
          <a:p>
            <a:pPr indent="0" marL="0">
              <a:buNone/>
            </a:pPr>
            <a:r>
              <a:rPr lang="en-US" sz="1400" dirty="0">
                <a:solidFill>
                  <a:srgbClr val="F6F1E8"/>
                </a:solidFill>
                <a:latin typeface="Arial" pitchFamily="34" charset="0"/>
                <a:ea typeface="Arial" pitchFamily="34" charset="-122"/>
                <a:cs typeface="Arial" pitchFamily="34" charset="-120"/>
              </a:rPr>
              <a:t>Artifact is plain JSON, no pickle</a:t>
            </a:r>
            <a:endParaRPr lang="en-US" dirty="0"/>
          </a:p>
        </p:txBody>
      </p:sp>
      <p:sp>
        <p:nvSpPr>
          <p:cNvPr id="40" name="Text 38"/>
          <p:cNvSpPr/>
          <p:nvPr/>
        </p:nvSpPr>
        <p:spPr>
          <a:xfrm>
            <a:off x="7909560" y="4800600"/>
            <a:ext cx="3474720" cy="457200"/>
          </a:xfrm>
          <a:prstGeom prst="rect">
            <a:avLst/>
          </a:prstGeom>
          <a:noFill/>
          <a:ln/>
        </p:spPr>
        <p:txBody>
          <a:bodyPr wrap="square" lIns="0" tIns="0" rIns="0" bIns="0" rtlCol="0" anchor="ctr"/>
          <a:lstStyle/>
          <a:p>
            <a:pPr indent="0" marL="0">
              <a:buNone/>
            </a:pPr>
            <a:r>
              <a:rPr lang="en-US" sz="1400" dirty="0">
                <a:solidFill>
                  <a:srgbClr val="F6F1E8"/>
                </a:solidFill>
                <a:latin typeface="Arial" pitchFamily="34" charset="0"/>
                <a:ea typeface="Arial" pitchFamily="34" charset="-122"/>
                <a:cs typeface="Arial" pitchFamily="34" charset="-120"/>
              </a:rPr>
              <a:t>No artifact → “uncalibrated heuristic”</a:t>
            </a:r>
            <a:endParaRPr lang="en-US" dirty="0"/>
          </a:p>
        </p:txBody>
      </p:sp>
      <p:sp>
        <p:nvSpPr>
          <p:cNvPr id="41" name="Text 39"/>
          <p:cNvSpPr/>
          <p:nvPr/>
        </p:nvSpPr>
        <p:spPr>
          <a:xfrm>
            <a:off x="566928" y="6473952"/>
            <a:ext cx="5120640" cy="219456"/>
          </a:xfrm>
          <a:prstGeom prst="rect">
            <a:avLst/>
          </a:prstGeom>
          <a:noFill/>
          <a:ln/>
        </p:spPr>
        <p:txBody>
          <a:bodyPr wrap="square" lIns="0" tIns="0" rIns="0" bIns="0" rtlCol="0" anchor="ctr"/>
          <a:lstStyle/>
          <a:p>
            <a:pPr indent="0" marL="0">
              <a:buNone/>
            </a:pPr>
            <a:r>
              <a:rPr lang="en-US" sz="1000" spc="140" kern="0" dirty="0">
                <a:solidFill>
                  <a:srgbClr val="8AA0A6"/>
                </a:solidFill>
                <a:latin typeface="Consolas" pitchFamily="34" charset="0"/>
                <a:ea typeface="Consolas" pitchFamily="34" charset="-122"/>
                <a:cs typeface="Consolas" pitchFamily="34" charset="-120"/>
              </a:rPr>
              <a:t>TEAM SE7EN  ·  CLAIMSHIELD NEXUS</a:t>
            </a:r>
            <a:endParaRPr lang="en-US" sz="1000" dirty="0"/>
          </a:p>
        </p:txBody>
      </p:sp>
      <p:sp>
        <p:nvSpPr>
          <p:cNvPr id="42" name="Text 40"/>
          <p:cNvSpPr/>
          <p:nvPr/>
        </p:nvSpPr>
        <p:spPr>
          <a:xfrm>
            <a:off x="5120640" y="6473952"/>
            <a:ext cx="4023360" cy="219456"/>
          </a:xfrm>
          <a:prstGeom prst="rect">
            <a:avLst/>
          </a:prstGeom>
          <a:noFill/>
          <a:ln/>
        </p:spPr>
        <p:txBody>
          <a:bodyPr wrap="square" lIns="0" tIns="0" rIns="0" bIns="0" rtlCol="0" anchor="ctr"/>
          <a:lstStyle/>
          <a:p>
            <a:pPr algn="ctr" indent="0" marL="0">
              <a:buNone/>
            </a:pPr>
            <a:r>
              <a:rPr lang="en-US" sz="1000" spc="160" kern="0" dirty="0">
                <a:solidFill>
                  <a:srgbClr val="C6A15B"/>
                </a:solidFill>
                <a:latin typeface="Consolas" pitchFamily="34" charset="0"/>
                <a:ea typeface="Consolas" pitchFamily="34" charset="-122"/>
                <a:cs typeface="Consolas" pitchFamily="34" charset="-120"/>
              </a:rPr>
              <a:t>MODELS</a:t>
            </a:r>
            <a:endParaRPr lang="en-US" dirty="0"/>
          </a:p>
        </p:txBody>
      </p:sp>
      <p:sp>
        <p:nvSpPr>
          <p:cNvPr id="43" name="Text 41"/>
          <p:cNvSpPr/>
          <p:nvPr/>
        </p:nvSpPr>
        <p:spPr>
          <a:xfrm>
            <a:off x="9509760" y="6473952"/>
            <a:ext cx="2103120" cy="219456"/>
          </a:xfrm>
          <a:prstGeom prst="rect">
            <a:avLst/>
          </a:prstGeom>
          <a:noFill/>
          <a:ln/>
        </p:spPr>
        <p:txBody>
          <a:bodyPr wrap="square" lIns="0" tIns="0" rIns="0" bIns="0" rtlCol="0" anchor="ctr"/>
          <a:lstStyle/>
          <a:p>
            <a:pPr algn="r" indent="0" marL="0">
              <a:buNone/>
            </a:pPr>
            <a:r>
              <a:rPr lang="en-US" sz="1000" spc="140" kern="0" dirty="0">
                <a:solidFill>
                  <a:srgbClr val="8AA0A6"/>
                </a:solidFill>
                <a:latin typeface="Consolas" pitchFamily="34" charset="0"/>
                <a:ea typeface="Consolas" pitchFamily="34" charset="-122"/>
                <a:cs typeface="Consolas" pitchFamily="34" charset="-120"/>
              </a:rPr>
              <a:t>06  /  10</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6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66928" y="365760"/>
            <a:ext cx="10972800" cy="256032"/>
          </a:xfrm>
          <a:prstGeom prst="rect">
            <a:avLst/>
          </a:prstGeom>
          <a:noFill/>
          <a:ln/>
        </p:spPr>
        <p:txBody>
          <a:bodyPr wrap="square" lIns="0" tIns="0" rIns="0" bIns="0" rtlCol="0" anchor="ctr"/>
          <a:lstStyle/>
          <a:p>
            <a:pPr indent="0" marL="0">
              <a:buNone/>
            </a:pPr>
            <a:r>
              <a:rPr lang="en-US" sz="1200" spc="220" kern="0" dirty="0">
                <a:solidFill>
                  <a:srgbClr val="C6A15B"/>
                </a:solidFill>
                <a:latin typeface="Consolas" pitchFamily="34" charset="0"/>
                <a:ea typeface="Consolas" pitchFamily="34" charset="-122"/>
                <a:cs typeface="Consolas" pitchFamily="34" charset="-120"/>
              </a:rPr>
              <a:t>BUILD TO CARE  2026   ·   ACENTRA HEALTH   ·   PROBLEM STATEMENT 3 (HARD)</a:t>
            </a:r>
            <a:endParaRPr lang="en-US" dirty="0"/>
          </a:p>
        </p:txBody>
      </p:sp>
      <p:sp>
        <p:nvSpPr>
          <p:cNvPr id="13" name="Text 10"/>
          <p:cNvSpPr/>
          <p:nvPr/>
        </p:nvSpPr>
        <p:spPr>
          <a:xfrm>
            <a:off x="9692640" y="6446520"/>
            <a:ext cx="1920240" cy="219456"/>
          </a:xfrm>
          <a:prstGeom prst="rect">
            <a:avLst/>
          </a:prstGeom>
          <a:noFill/>
          <a:ln/>
        </p:spPr>
        <p:txBody>
          <a:bodyPr wrap="square" lIns="0" tIns="0" rIns="0" bIns="0" rtlCol="0" anchor="ctr"/>
          <a:lstStyle/>
          <a:p>
            <a:pPr indent="0" marL="0" algn="r">
              <a:buNone/>
            </a:pPr>
            <a:r>
              <a:rPr lang="en-US" sz="1100" spc="220" kern="0" dirty="0">
                <a:solidFill>
                  <a:srgbClr val="8AA0A6"/>
                </a:solidFill>
                <a:latin typeface="Consolas" pitchFamily="34" charset="0"/>
                <a:ea typeface="Consolas" pitchFamily="34" charset="-122"/>
                <a:cs typeface="Consolas" pitchFamily="34" charset="-120"/>
              </a:rPr>
              <a:t>10  /  10</a:t>
            </a:r>
            <a:endParaRPr lang="en-US" dirty="0"/>
          </a:p>
        </p:txBody>
      </p:sp>
      <p:pic>
        <p:nvPicPr>
          <p:cNvPr id="14" name="Logo small" descr="ClaimShield Nexus logo"/>
          <p:cNvPicPr>
            <a:picLocks noChangeAspect="1"/>
          </p:cNvPicPr>
          <p:nvPr/>
        </p:nvPicPr>
        <p:blipFill>
          <a:blip r:embed="rIdLogo"/>
          <a:stretch>
            <a:fillRect/>
          </a:stretch>
        </p:blipFill>
        <p:spPr>
          <a:xfrm>
            <a:off x="8732520" y="5257800"/>
            <a:ext cx="2880360" cy="782706"/>
          </a:xfrm>
          <a:prstGeom prst="rect">
            <a:avLst/>
          </a:prstGeom>
        </p:spPr>
      </p:pic>
      <p:sp>
        <p:nvSpPr>
          <p:cNvPr id="4" name="Text 1"/>
          <p:cNvSpPr/>
          <p:nvPr/>
        </p:nvSpPr>
        <p:spPr>
          <a:xfrm>
            <a:off x="566928" y="731520"/>
            <a:ext cx="10972800" cy="1143000"/>
          </a:xfrm>
          <a:prstGeom prst="rect">
            <a:avLst/>
          </a:prstGeom>
          <a:noFill/>
          <a:ln/>
        </p:spPr>
        <p:txBody>
          <a:bodyPr wrap="square" lIns="0" tIns="0" rIns="0" bIns="0" rtlCol="0" anchor="ctr"/>
          <a:lstStyle/>
          <a:p>
            <a:pPr indent="0" marL="0">
              <a:buNone/>
            </a:pPr>
            <a:r>
              <a:rPr lang="en-US" sz="6000" dirty="0" b="1">
                <a:solidFill>
                  <a:srgbClr val="F6F1E8"/>
                </a:solidFill>
                <a:latin typeface="Georgia" pitchFamily="34" charset="0"/>
                <a:ea typeface="Georgia" pitchFamily="34" charset="-122"/>
                <a:cs typeface="Georgia" pitchFamily="34" charset="-120"/>
              </a:rPr>
              <a:t>Thank you.</a:t>
            </a:r>
            <a:endParaRPr lang="en-US" dirty="0"/>
          </a:p>
        </p:txBody>
      </p:sp>
      <p:sp>
        <p:nvSpPr>
          <p:cNvPr id="5" name="Text 2"/>
          <p:cNvSpPr/>
          <p:nvPr/>
        </p:nvSpPr>
        <p:spPr>
          <a:xfrm>
            <a:off x="566928" y="2103120"/>
            <a:ext cx="10972800" cy="402336"/>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01   </a:t>
            </a:r>
            <a:r>
              <a:rPr lang="en-US" sz="1600" dirty="0">
                <a:solidFill>
                  <a:srgbClr val="F6F1E8"/>
                </a:solidFill>
                <a:latin typeface="Arial" pitchFamily="34" charset="0"/>
                <a:ea typeface="Arial" pitchFamily="34" charset="-122"/>
                <a:cs typeface="Arial" pitchFamily="34" charset="-120"/>
              </a:rPr>
              <a:t>Landing: improper payment is not fraud</a:t>
            </a:r>
            <a:endParaRPr lang="en-US" dirty="0"/>
          </a:p>
        </p:txBody>
      </p:sp>
      <p:sp>
        <p:nvSpPr>
          <p:cNvPr id="6" name="Text 3"/>
          <p:cNvSpPr/>
          <p:nvPr/>
        </p:nvSpPr>
        <p:spPr>
          <a:xfrm>
            <a:off x="566928" y="2523744"/>
            <a:ext cx="10972800" cy="402336"/>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02   </a:t>
            </a:r>
            <a:r>
              <a:rPr lang="en-US" sz="1600" dirty="0">
                <a:solidFill>
                  <a:srgbClr val="F6F1E8"/>
                </a:solidFill>
                <a:latin typeface="Arial" pitchFamily="34" charset="0"/>
                <a:ea typeface="Arial" pitchFamily="34" charset="-122"/>
                <a:cs typeface="Arial" pitchFamily="34" charset="-120"/>
              </a:rPr>
              <a:t>Sign in as manager, load tiny / seed 7</a:t>
            </a:r>
            <a:endParaRPr lang="en-US" dirty="0"/>
          </a:p>
        </p:txBody>
      </p:sp>
      <p:sp>
        <p:nvSpPr>
          <p:cNvPr id="7" name="Text 4"/>
          <p:cNvSpPr/>
          <p:nvPr/>
        </p:nvSpPr>
        <p:spPr>
          <a:xfrm>
            <a:off x="566928" y="2944368"/>
            <a:ext cx="10972800" cy="402336"/>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03   </a:t>
            </a:r>
            <a:r>
              <a:rPr lang="en-US" sz="1600" dirty="0">
                <a:solidFill>
                  <a:srgbClr val="F6F1E8"/>
                </a:solidFill>
                <a:latin typeface="Arial" pitchFamily="34" charset="0"/>
                <a:ea typeface="Arial" pitchFamily="34" charset="-122"/>
                <a:cs typeface="Arial" pitchFamily="34" charset="-120"/>
              </a:rPr>
              <a:t>Queue: 35 alerts → 17 cases → 16 on desk, harm first</a:t>
            </a:r>
            <a:endParaRPr lang="en-US" dirty="0"/>
          </a:p>
        </p:txBody>
      </p:sp>
      <p:sp>
        <p:nvSpPr>
          <p:cNvPr id="8" name="Text 5"/>
          <p:cNvSpPr/>
          <p:nvPr/>
        </p:nvSpPr>
        <p:spPr>
          <a:xfrm>
            <a:off x="566928" y="3364991"/>
            <a:ext cx="10972800" cy="402336"/>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04   </a:t>
            </a:r>
            <a:r>
              <a:rPr lang="en-US" sz="1600" dirty="0">
                <a:solidFill>
                  <a:srgbClr val="F6F1E8"/>
                </a:solidFill>
                <a:latin typeface="Arial" pitchFamily="34" charset="0"/>
                <a:ea typeface="Arial" pitchFamily="34" charset="-122"/>
                <a:cs typeface="Arial" pitchFamily="34" charset="-120"/>
              </a:rPr>
              <a:t>Open a grouped case: findings and lineage</a:t>
            </a:r>
            <a:endParaRPr lang="en-US" dirty="0"/>
          </a:p>
        </p:txBody>
      </p:sp>
      <p:sp>
        <p:nvSpPr>
          <p:cNvPr id="9" name="Text 6"/>
          <p:cNvSpPr/>
          <p:nvPr/>
        </p:nvSpPr>
        <p:spPr>
          <a:xfrm>
            <a:off x="566928" y="3785615"/>
            <a:ext cx="10972800" cy="402336"/>
          </a:xfrm>
          <a:prstGeom prst="rect">
            <a:avLst/>
          </a:prstGeom>
          <a:noFill/>
          <a:ln/>
        </p:spPr>
        <p:txBody>
          <a:bodyPr wrap="square" lIns="0" tIns="0" rIns="0" bIns="0" rtlCol="0" anchor="ctr"/>
          <a:lstStyle/>
          <a:p>
            <a:pPr indent="0" marL="0">
              <a:buNone/>
            </a:pPr>
            <a:r>
              <a:rPr lang="en-US" sz="1400" dirty="0">
                <a:solidFill>
                  <a:srgbClr val="C6A15B"/>
                </a:solidFill>
                <a:latin typeface="Consolas" pitchFamily="34" charset="0"/>
                <a:ea typeface="Consolas" pitchFamily="34" charset="-122"/>
                <a:cs typeface="Consolas" pitchFamily="34" charset="-120"/>
              </a:rPr>
              <a:t>05   </a:t>
            </a:r>
            <a:r>
              <a:rPr lang="en-US" sz="1600" dirty="0">
                <a:solidFill>
                  <a:srgbClr val="F6F1E8"/>
                </a:solidFill>
                <a:latin typeface="Arial" pitchFamily="34" charset="0"/>
                <a:ea typeface="Arial" pitchFamily="34" charset="-122"/>
                <a:cs typeface="Arial" pitchFamily="34" charset="-120"/>
              </a:rPr>
              <a:t>Decide with a 20+ character reason. Human only.</a:t>
            </a:r>
            <a:endParaRPr lang="en-US" dirty="0"/>
          </a:p>
        </p:txBody>
      </p:sp>
      <p:sp>
        <p:nvSpPr>
          <p:cNvPr id="10" name="Text 7"/>
          <p:cNvSpPr/>
          <p:nvPr/>
        </p:nvSpPr>
        <p:spPr>
          <a:xfrm>
            <a:off x="566928" y="4343400"/>
            <a:ext cx="10972800" cy="548640"/>
          </a:xfrm>
          <a:prstGeom prst="rect">
            <a:avLst/>
          </a:prstGeom>
          <a:noFill/>
          <a:ln/>
        </p:spPr>
        <p:txBody>
          <a:bodyPr wrap="square" lIns="0" tIns="0" rIns="0" bIns="0" rtlCol="0" anchor="ctr"/>
          <a:lstStyle/>
          <a:p>
            <a:pPr indent="0" marL="0">
              <a:buNone/>
            </a:pPr>
            <a:r>
              <a:rPr lang="en-US" sz="1200" dirty="0" b="1">
                <a:solidFill>
                  <a:srgbClr val="C6A15B"/>
                </a:solidFill>
                <a:latin typeface="Consolas" pitchFamily="34" charset="0"/>
                <a:ea typeface="Consolas" pitchFamily="34" charset="-122"/>
                <a:cs typeface="Consolas" pitchFamily="34" charset="-120"/>
              </a:rPr>
              <a:t>LIVE DEMO   </a:t>
            </a:r>
            <a:r>
              <a:rPr lang="en-US" sz="1300" dirty="0">
                <a:solidFill>
                  <a:srgbClr val="7ED9CE"/>
                </a:solidFill>
                <a:latin typeface="Consolas" pitchFamily="34" charset="0"/>
                <a:ea typeface="Consolas" pitchFamily="34" charset="-122"/>
                <a:cs typeface="Consolas" pitchFamily="34" charset="-120"/>
              </a:rPr>
              <a:t>claimshield-nexus-api.onrender.com/login</a:t>
            </a:r>
            <a:endParaRPr lang="en-US" dirty="0"/>
          </a:p>
          <a:p>
            <a:pPr indent="0" marL="0">
              <a:buNone/>
            </a:pPr>
            <a:r>
              <a:rPr lang="en-US" sz="1200" dirty="0" b="1">
                <a:solidFill>
                  <a:srgbClr val="C6A15B"/>
                </a:solidFill>
                <a:latin typeface="Consolas" pitchFamily="34" charset="0"/>
                <a:ea typeface="Consolas" pitchFamily="34" charset="-122"/>
                <a:cs typeface="Consolas" pitchFamily="34" charset="-120"/>
              </a:rPr>
              <a:t>LOGIN       </a:t>
            </a:r>
            <a:r>
              <a:rPr lang="en-US" sz="1300" dirty="0">
                <a:solidFill>
                  <a:srgbClr val="7ED9CE"/>
                </a:solidFill>
                <a:latin typeface="Consolas" pitchFamily="34" charset="0"/>
                <a:ea typeface="Consolas" pitchFamily="34" charset="-122"/>
                <a:cs typeface="Consolas" pitchFamily="34" charset="-120"/>
              </a:rPr>
              <a:t>manager@demo.claimshield   ·   demo-manager</a:t>
            </a:r>
            <a:endParaRPr lang="en-US" dirty="0"/>
          </a:p>
        </p:txBody>
      </p:sp>
      <p:sp>
        <p:nvSpPr>
          <p:cNvPr id="11" name="Shape 8"/>
          <p:cNvSpPr/>
          <p:nvPr/>
        </p:nvSpPr>
        <p:spPr>
          <a:xfrm>
            <a:off x="566928" y="5074920"/>
            <a:ext cx="1920240" cy="32004"/>
          </a:xfrm>
          <a:prstGeom prst="rect">
            <a:avLst/>
          </a:prstGeom>
          <a:solidFill>
            <a:srgbClr val="C6A15B"/>
          </a:solidFill>
          <a:ln/>
        </p:spPr>
      </p:sp>
      <p:sp>
        <p:nvSpPr>
          <p:cNvPr id="12" name="Text 9"/>
          <p:cNvSpPr/>
          <p:nvPr/>
        </p:nvSpPr>
        <p:spPr>
          <a:xfrm>
            <a:off x="566928" y="5230368"/>
            <a:ext cx="10972800" cy="868680"/>
          </a:xfrm>
          <a:prstGeom prst="rect">
            <a:avLst/>
          </a:prstGeom>
          <a:noFill/>
          <a:ln/>
        </p:spPr>
        <p:txBody>
          <a:bodyPr wrap="square" lIns="0" tIns="0" rIns="0" bIns="0" rtlCol="0" anchor="ctr"/>
          <a:lstStyle/>
          <a:p>
            <a:pPr indent="0" marL="0">
              <a:buNone/>
            </a:pPr>
            <a:r>
              <a:rPr lang="en-US" sz="1600" i="1" dirty="0">
                <a:solidFill>
                  <a:srgbClr val="F6F1E8"/>
                </a:solidFill>
                <a:latin typeface="Georgia" pitchFamily="34" charset="0"/>
                <a:ea typeface="Georgia" pitchFamily="34" charset="-122"/>
                <a:cs typeface="Georgia" pitchFamily="34" charset="-120"/>
              </a:rPr>
              <a:t>Alerts become cases. Cases fit today’s hours. A human still decides.</a:t>
            </a:r>
            <a:endParaRPr lang="en-US" dirty="0"/>
          </a:p>
          <a:p>
            <a:pPr indent="0" marL="0">
              <a:buNone/>
            </a:pPr>
            <a:r>
              <a:rPr lang="en-US" sz="1600" i="1" dirty="0">
                <a:solidFill>
                  <a:srgbClr val="7ED9CE"/>
                </a:solidFill>
                <a:latin typeface="Georgia" pitchFamily="34" charset="0"/>
                <a:ea typeface="Georgia" pitchFamily="34" charset="-122"/>
                <a:cs typeface="Georgia" pitchFamily="34" charset="-120"/>
              </a:rPr>
              <a:t>Recommend only. Improper payment is not fraud.  ·  Team SE7EN</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Team SE7EN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ClaimShield Nexus</dc:title>
  <dc:subject>BUILD TO CARE 2026 · Acentra Health · Problem Statement 3</dc:subject>
  <dc:creator>Team SE7EN</dc:creator>
  <cp:lastModifiedBy>Team SE7EN</cp:lastModifiedBy>
  <cp:revision>1</cp:revision>
  <dcterms:created xsi:type="dcterms:W3CDTF">2026-10-08T16:54:14Z</dcterms:created>
  <dcterms:modified xsi:type="dcterms:W3CDTF">2026-10-08T16:54:14Z</dcterms:modified>
</cp:coreProperties>
</file>