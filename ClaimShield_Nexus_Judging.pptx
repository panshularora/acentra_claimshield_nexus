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title. Pause. Then: we do not find fraud. We build the desk an SIU can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spine. Repeat it at the close. Improper payment is not fraud; an alert is a suspicion to verify.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Users: SIU investigators, managers, honest providers, members. Scarce resource is investigator time, not compute.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CMS FY2025 fact sheet. 42 CFR 455.13–16 due process. 455.23 payment suspension is the state’s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logins: manager@demo.claimshield / demo-manager. Investigator counterpart exists. Landing is 3D; the SIU is a paper workstation.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Emphasize 03 vs 05: peers score, they do not join. 06 is the desk, not a live ticker.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did not rebuild the bucket or Lambda. Live S3 needs public HTTPS. localhost cannot be Lambda’s URL. No Kafka, Neo4j, GNN, K8s.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Hero demo: after-death + concentrated referral, two NPIs, harm 4. Queue copy: grouped alerts · linked NPIs · urgent still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not cluster by specialty: that would pull honest DME suppliers into a fraud case. Visible graph links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Recompute with member-weight slider to show the desk change. Overflow is tracked backlog, not dismissal.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Queue is ranked inside a run. New claims enter on load, ingest, or recompute. We do not reshuffle mid-brief.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will ask where a number came from. Click a finding, open the drawer, show the claim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tour all seven tabs. Overview, findings, decide. Optionally claims Source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a live queue: ranking is live inside a run; membership refreshes on ingest/recompute. That is the adult SIU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close of the argument. Then go to the 90-second path or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already filled. Hero case: harm-4 grouped row with linked NPIs. End on decide. Do not say AI found fraud.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2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TO CARE  2026   ·   ACENTRA HEALTH   ·   PROBLEM STATEMENT 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169164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ClaimShield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566928" y="2487168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7ED9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Nexus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66928" y="34747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SIU desk that turns unexplained claim alerts into ranked,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evidence-backed cases a human can actually work today.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66928" y="4434840"/>
            <a:ext cx="1920240" cy="36576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47091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8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SE7EN     ·     RECOMMEND ONLY     ·     SUSPICION, NEVER A FRAUD STAMP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92640" y="64465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/  16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 </a:t>
            </a:r>
            <a:pPr indent="0" marL="0">
              <a:buNone/>
            </a:pPr>
            <a:r>
              <a:rPr lang="en-US" sz="1100" b="1" spc="24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SENTENCE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585216"/>
            <a:ext cx="1234440" cy="32004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0"/>
            <a:ext cx="10972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Alerts become cases.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Cases fit today’s hours.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human still decides.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49377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the whole product. Everything else is how we keep it explainable.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SE7EN  ·  CLAIMSHIELD NEXUS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0" y="647395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6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THESIS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509760" y="64739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/ 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 </a:t>
            </a:r>
            <a:pPr indent="0" marL="0">
              <a:buNone/>
            </a:pPr>
            <a:r>
              <a:rPr lang="en-US" sz="1100" b="1" spc="240" kern="0" dirty="0">
                <a:solidFill>
                  <a:srgbClr val="2A9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66928" y="585216"/>
            <a:ext cx="1234440" cy="32004"/>
          </a:xfrm>
          <a:prstGeom prst="rect">
            <a:avLst/>
          </a:prstGeom>
          <a:solidFill>
            <a:srgbClr val="2A9A8F"/>
          </a:solidFill>
          <a:ln/>
        </p:spPr>
      </p:sp>
      <p:sp>
        <p:nvSpPr>
          <p:cNvPr id="5" name="Text 2"/>
          <p:cNvSpPr/>
          <p:nvPr/>
        </p:nvSpPr>
        <p:spPr>
          <a:xfrm>
            <a:off x="566928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16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SIU cannot open a thousand unconnected hits.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66928" y="1691640"/>
            <a:ext cx="3520440" cy="4160520"/>
          </a:xfrm>
          <a:prstGeom prst="rect">
            <a:avLst/>
          </a:prstGeom>
          <a:solidFill>
            <a:srgbClr val="FFFBF5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691640"/>
            <a:ext cx="3520440" cy="73152"/>
          </a:xfrm>
          <a:prstGeom prst="rect">
            <a:avLst/>
          </a:prstGeom>
          <a:solidFill>
            <a:srgbClr val="2A9A8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2A9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377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16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firehose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2960" y="301752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Detectors shout on every line. Investigators get noise, not a pattern they can work.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270248" y="1691640"/>
            <a:ext cx="3520440" cy="4160520"/>
          </a:xfrm>
          <a:prstGeom prst="rect">
            <a:avLst/>
          </a:prstGeom>
          <a:solidFill>
            <a:srgbClr val="FFFBF5"/>
          </a:solidFill>
          <a:ln/>
        </p:spPr>
      </p:sp>
      <p:sp>
        <p:nvSpPr>
          <p:cNvPr id="12" name="Shape 9"/>
          <p:cNvSpPr/>
          <p:nvPr/>
        </p:nvSpPr>
        <p:spPr>
          <a:xfrm>
            <a:off x="4270248" y="1691640"/>
            <a:ext cx="3520440" cy="73152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3" name="Text 10"/>
          <p:cNvSpPr/>
          <p:nvPr/>
        </p:nvSpPr>
        <p:spPr>
          <a:xfrm>
            <a:off x="452628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2A9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26280" y="2377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16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clock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526280" y="301752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CMS-style screening is 45 days. Ranking by dollars buries after-death billing and excluded parties.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973568" y="1691640"/>
            <a:ext cx="3520440" cy="4160520"/>
          </a:xfrm>
          <a:prstGeom prst="rect">
            <a:avLst/>
          </a:prstGeom>
          <a:solidFill>
            <a:srgbClr val="FFFBF5"/>
          </a:solidFill>
          <a:ln/>
        </p:spPr>
      </p:sp>
      <p:sp>
        <p:nvSpPr>
          <p:cNvPr id="17" name="Shape 14"/>
          <p:cNvSpPr/>
          <p:nvPr/>
        </p:nvSpPr>
        <p:spPr>
          <a:xfrm>
            <a:off x="7973568" y="1691640"/>
            <a:ext cx="3520440" cy="73152"/>
          </a:xfrm>
          <a:prstGeom prst="rect">
            <a:avLst/>
          </a:prstGeom>
          <a:solidFill>
            <a:srgbClr val="2A9A8F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2A9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29600" y="2377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16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miss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8229600" y="301752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Rings, shared owners, and referral monopolies live across claims. One claim is never the story.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61C"/>
          </a:solidFill>
          <a:ln/>
        </p:spPr>
      </p:sp>
      <p:sp>
        <p:nvSpPr>
          <p:cNvPr id="22" name="Text 19"/>
          <p:cNvSpPr/>
          <p:nvPr/>
        </p:nvSpPr>
        <p:spPr>
          <a:xfrm>
            <a:off x="566928" y="65105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7E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SE7EN  ·  CLAIMSHIELD NEXUS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20640" y="65105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4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509760" y="65105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F6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/ 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 </a:t>
            </a:r>
            <a:pPr indent="0" marL="0">
              <a:buNone/>
            </a:pPr>
            <a:r>
              <a:rPr lang="en-US" sz="1100" b="1" spc="24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STAKE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585216"/>
            <a:ext cx="1234440" cy="32004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05156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6.12%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566928" y="2651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Medicaid improper payments, FY2025  ·  $37.39 billion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246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7ED9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of that is documentation. CMS is explicit: it is generally not fraud.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7ED9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we call it fraud on this stage, we have already lost.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66928" y="4572000"/>
            <a:ext cx="5394960" cy="530352"/>
          </a:xfrm>
          <a:prstGeom prst="roundRect">
            <a:avLst>
              <a:gd name="adj" fmla="val 6897"/>
            </a:avLst>
          </a:prstGeom>
          <a:solidFill>
            <a:srgbClr val="12242C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457200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is knowing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36208" y="4572000"/>
            <a:ext cx="5394960" cy="530352"/>
          </a:xfrm>
          <a:prstGeom prst="roundRect">
            <a:avLst>
              <a:gd name="adj" fmla="val 6897"/>
            </a:avLst>
          </a:prstGeom>
          <a:solidFill>
            <a:srgbClr val="12242C"/>
          </a:solidFill>
          <a:ln/>
        </p:spPr>
      </p:sp>
      <p:sp>
        <p:nvSpPr>
          <p:cNvPr id="10" name="Text 8"/>
          <p:cNvSpPr/>
          <p:nvPr/>
        </p:nvSpPr>
        <p:spPr>
          <a:xfrm>
            <a:off x="6464808" y="457200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Abuse is inflated practice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5212080"/>
            <a:ext cx="5394960" cy="530352"/>
          </a:xfrm>
          <a:prstGeom prst="roundRect">
            <a:avLst>
              <a:gd name="adj" fmla="val 6897"/>
            </a:avLst>
          </a:prstGeom>
          <a:solidFill>
            <a:srgbClr val="12242C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521208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is inefficiency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36208" y="5212080"/>
            <a:ext cx="5394960" cy="530352"/>
          </a:xfrm>
          <a:prstGeom prst="roundRect">
            <a:avLst>
              <a:gd name="adj" fmla="val 6897"/>
            </a:avLst>
          </a:prstGeom>
          <a:solidFill>
            <a:srgbClr val="12242C"/>
          </a:solidFill>
          <a:ln/>
        </p:spPr>
      </p:sp>
      <p:sp>
        <p:nvSpPr>
          <p:cNvPr id="14" name="Text 12"/>
          <p:cNvSpPr/>
          <p:nvPr/>
        </p:nvSpPr>
        <p:spPr>
          <a:xfrm>
            <a:off x="6464808" y="521208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recommend. We never convict.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SE7EN  ·  CLAIMSHIELD NEXUS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647395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6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509760" y="64739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/  16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 </a:t>
            </a:r>
            <a:pPr indent="0" marL="0">
              <a:buNone/>
            </a:pPr>
            <a:r>
              <a:rPr lang="en-US" sz="1100" b="1" spc="240" kern="0" dirty="0">
                <a:solidFill>
                  <a:srgbClr val="2A9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66928" y="585216"/>
            <a:ext cx="1234440" cy="32004"/>
          </a:xfrm>
          <a:prstGeom prst="rect">
            <a:avLst/>
          </a:prstGeom>
          <a:solidFill>
            <a:srgbClr val="2A9A8F"/>
          </a:solidFill>
          <a:ln/>
        </p:spPr>
      </p:sp>
      <p:sp>
        <p:nvSpPr>
          <p:cNvPr id="5" name="Text 2"/>
          <p:cNvSpPr/>
          <p:nvPr/>
        </p:nvSpPr>
        <p:spPr>
          <a:xfrm>
            <a:off x="566928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16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live SIU application, not a slide about one.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66928" y="1463040"/>
            <a:ext cx="5440680" cy="1389888"/>
          </a:xfrm>
          <a:prstGeom prst="rect">
            <a:avLst/>
          </a:prstGeom>
          <a:solidFill>
            <a:srgbClr val="FFFBF5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463040"/>
            <a:ext cx="82296" cy="1389888"/>
          </a:xfrm>
          <a:prstGeom prst="rect">
            <a:avLst/>
          </a:prstGeom>
          <a:solidFill>
            <a:srgbClr val="2A9A8F"/>
          </a:solidFill>
          <a:ln/>
        </p:spPr>
      </p:sp>
      <p:sp>
        <p:nvSpPr>
          <p:cNvPr id="8" name="Text 5"/>
          <p:cNvSpPr/>
          <p:nvPr/>
        </p:nvSpPr>
        <p:spPr>
          <a:xfrm>
            <a:off x="886968" y="1627632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6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Queue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86968" y="202996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loads an extract, sets hours and member weight, sees today’s recommended desk.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36208" y="1463040"/>
            <a:ext cx="5440680" cy="1389888"/>
          </a:xfrm>
          <a:prstGeom prst="rect">
            <a:avLst/>
          </a:prstGeom>
          <a:solidFill>
            <a:srgbClr val="FFFBF5"/>
          </a:solidFill>
          <a:ln/>
        </p:spPr>
      </p:sp>
      <p:sp>
        <p:nvSpPr>
          <p:cNvPr id="11" name="Shape 8"/>
          <p:cNvSpPr/>
          <p:nvPr/>
        </p:nvSpPr>
        <p:spPr>
          <a:xfrm>
            <a:off x="6236208" y="1463040"/>
            <a:ext cx="82296" cy="1389888"/>
          </a:xfrm>
          <a:prstGeom prst="rect">
            <a:avLst/>
          </a:prstGeom>
          <a:solidFill>
            <a:srgbClr val="2A9A8F"/>
          </a:solidFill>
          <a:ln/>
        </p:spPr>
      </p:sp>
      <p:sp>
        <p:nvSpPr>
          <p:cNvPr id="12" name="Text 9"/>
          <p:cNvSpPr/>
          <p:nvPr/>
        </p:nvSpPr>
        <p:spPr>
          <a:xfrm>
            <a:off x="6556248" y="1627632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6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Worklist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556248" y="202996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Investigators take ownership of harm-priority and selected cases.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66928" y="3017520"/>
            <a:ext cx="5440680" cy="1389888"/>
          </a:xfrm>
          <a:prstGeom prst="rect">
            <a:avLst/>
          </a:prstGeom>
          <a:solidFill>
            <a:srgbClr val="FFFBF5"/>
          </a:solidFill>
          <a:ln/>
        </p:spPr>
      </p:sp>
      <p:sp>
        <p:nvSpPr>
          <p:cNvPr id="15" name="Shape 12"/>
          <p:cNvSpPr/>
          <p:nvPr/>
        </p:nvSpPr>
        <p:spPr>
          <a:xfrm>
            <a:off x="566928" y="3017520"/>
            <a:ext cx="82296" cy="1389888"/>
          </a:xfrm>
          <a:prstGeom prst="rect">
            <a:avLst/>
          </a:prstGeom>
          <a:solidFill>
            <a:srgbClr val="2A9A8F"/>
          </a:solidFill>
          <a:ln/>
        </p:spPr>
      </p:sp>
      <p:sp>
        <p:nvSpPr>
          <p:cNvPr id="16" name="Text 13"/>
          <p:cNvSpPr/>
          <p:nvPr/>
        </p:nvSpPr>
        <p:spPr>
          <a:xfrm>
            <a:off x="886968" y="3182112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6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Workspace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86968" y="358444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Overview, findings, brief, claims, timeline, network, decide — one section at a time.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236208" y="3017520"/>
            <a:ext cx="5440680" cy="1389888"/>
          </a:xfrm>
          <a:prstGeom prst="rect">
            <a:avLst/>
          </a:prstGeom>
          <a:solidFill>
            <a:srgbClr val="FFFBF5"/>
          </a:solidFill>
          <a:ln/>
        </p:spPr>
      </p:sp>
      <p:sp>
        <p:nvSpPr>
          <p:cNvPr id="19" name="Shape 16"/>
          <p:cNvSpPr/>
          <p:nvPr/>
        </p:nvSpPr>
        <p:spPr>
          <a:xfrm>
            <a:off x="6236208" y="3017520"/>
            <a:ext cx="82296" cy="1389888"/>
          </a:xfrm>
          <a:prstGeom prst="rect">
            <a:avLst/>
          </a:prstGeom>
          <a:solidFill>
            <a:srgbClr val="2A9A8F"/>
          </a:solidFill>
          <a:ln/>
        </p:spPr>
      </p:sp>
      <p:sp>
        <p:nvSpPr>
          <p:cNvPr id="20" name="Text 17"/>
          <p:cNvSpPr/>
          <p:nvPr/>
        </p:nvSpPr>
        <p:spPr>
          <a:xfrm>
            <a:off x="6556248" y="3182112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6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556248" y="358444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result names its tables, detector path, and supporting claim lines.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66928" y="4572000"/>
            <a:ext cx="5440680" cy="1389888"/>
          </a:xfrm>
          <a:prstGeom prst="rect">
            <a:avLst/>
          </a:prstGeom>
          <a:solidFill>
            <a:srgbClr val="FFFBF5"/>
          </a:solidFill>
          <a:ln/>
        </p:spPr>
      </p:sp>
      <p:sp>
        <p:nvSpPr>
          <p:cNvPr id="23" name="Shape 20"/>
          <p:cNvSpPr/>
          <p:nvPr/>
        </p:nvSpPr>
        <p:spPr>
          <a:xfrm>
            <a:off x="566928" y="4572000"/>
            <a:ext cx="82296" cy="1389888"/>
          </a:xfrm>
          <a:prstGeom prst="rect">
            <a:avLst/>
          </a:prstGeom>
          <a:solidFill>
            <a:srgbClr val="2A9A8F"/>
          </a:solidFill>
          <a:ln/>
        </p:spPr>
      </p:sp>
      <p:sp>
        <p:nvSpPr>
          <p:cNvPr id="24" name="Text 21"/>
          <p:cNvSpPr/>
          <p:nvPr/>
        </p:nvSpPr>
        <p:spPr>
          <a:xfrm>
            <a:off x="886968" y="4736592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6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Wiki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886968" y="513892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closed decision can become a human-approved precedent page.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236208" y="4572000"/>
            <a:ext cx="5440680" cy="1389888"/>
          </a:xfrm>
          <a:prstGeom prst="rect">
            <a:avLst/>
          </a:prstGeom>
          <a:solidFill>
            <a:srgbClr val="FFFBF5"/>
          </a:solidFill>
          <a:ln/>
        </p:spPr>
      </p:sp>
      <p:sp>
        <p:nvSpPr>
          <p:cNvPr id="27" name="Shape 24"/>
          <p:cNvSpPr/>
          <p:nvPr/>
        </p:nvSpPr>
        <p:spPr>
          <a:xfrm>
            <a:off x="6236208" y="4572000"/>
            <a:ext cx="82296" cy="1389888"/>
          </a:xfrm>
          <a:prstGeom prst="rect">
            <a:avLst/>
          </a:prstGeom>
          <a:solidFill>
            <a:srgbClr val="2A9A8F"/>
          </a:solidFill>
          <a:ln/>
        </p:spPr>
      </p:sp>
      <p:sp>
        <p:nvSpPr>
          <p:cNvPr id="28" name="Text 25"/>
          <p:cNvSpPr/>
          <p:nvPr/>
        </p:nvSpPr>
        <p:spPr>
          <a:xfrm>
            <a:off x="6556248" y="4736592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6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6556248" y="513892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Hash-chained log. Unmask, promote, and decide are append-only.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61C"/>
          </a:solidFill>
          <a:ln/>
        </p:spPr>
      </p:sp>
      <p:sp>
        <p:nvSpPr>
          <p:cNvPr id="31" name="Text 28"/>
          <p:cNvSpPr/>
          <p:nvPr/>
        </p:nvSpPr>
        <p:spPr>
          <a:xfrm>
            <a:off x="566928" y="65105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7E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SE7EN  ·  CLAIMSHIELD NEXUS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120640" y="65105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4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9509760" y="65105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F6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/ 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 </a:t>
            </a:r>
            <a:pPr indent="0" marL="0">
              <a:buNone/>
            </a:pPr>
            <a:r>
              <a:rPr lang="en-US" sz="1100" b="1" spc="24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585216"/>
            <a:ext cx="1234440" cy="32004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path. Lambda never scores. FastAPI does.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69848" y="1993392"/>
            <a:ext cx="10149840" cy="22860"/>
          </a:xfrm>
          <a:prstGeom prst="rect">
            <a:avLst/>
          </a:prstGeom>
          <a:solidFill>
            <a:srgbClr val="2A414A"/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" y="1828800"/>
            <a:ext cx="365760" cy="365760"/>
          </a:xfrm>
          <a:prstGeom prst="ellipse">
            <a:avLst/>
          </a:prstGeom>
          <a:solidFill>
            <a:srgbClr val="2A9A8F"/>
          </a:solidFill>
          <a:ln/>
        </p:spPr>
      </p:sp>
      <p:sp>
        <p:nvSpPr>
          <p:cNvPr id="7" name="Text 5"/>
          <p:cNvSpPr/>
          <p:nvPr/>
        </p:nvSpPr>
        <p:spPr>
          <a:xfrm>
            <a:off x="1133856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6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4231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Extract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2648" y="310896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seed 7 or S3 CSVs. Member, provider, claim, line.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08376" y="1828800"/>
            <a:ext cx="365760" cy="365760"/>
          </a:xfrm>
          <a:prstGeom prst="ellipse">
            <a:avLst/>
          </a:prstGeom>
          <a:solidFill>
            <a:srgbClr val="2A9A8F"/>
          </a:solidFill>
          <a:ln/>
        </p:spPr>
      </p:sp>
      <p:sp>
        <p:nvSpPr>
          <p:cNvPr id="11" name="Text 9"/>
          <p:cNvSpPr/>
          <p:nvPr/>
        </p:nvSpPr>
        <p:spPr>
          <a:xfrm>
            <a:off x="3008376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6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41448" y="24231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Rules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87168" y="310896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death, excluded party, duplicates, caps, overlap.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82896" y="1828800"/>
            <a:ext cx="365760" cy="365760"/>
          </a:xfrm>
          <a:prstGeom prst="ellipse">
            <a:avLst/>
          </a:prstGeom>
          <a:solidFill>
            <a:srgbClr val="2A9A8F"/>
          </a:solidFill>
          <a:ln/>
        </p:spPr>
      </p:sp>
      <p:sp>
        <p:nvSpPr>
          <p:cNvPr id="15" name="Text 13"/>
          <p:cNvSpPr/>
          <p:nvPr/>
        </p:nvSpPr>
        <p:spPr>
          <a:xfrm>
            <a:off x="4882896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6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15968" y="24231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Peers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61688" y="310896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Like-with-like specialty. A baseline only.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57416" y="1828800"/>
            <a:ext cx="365760" cy="365760"/>
          </a:xfrm>
          <a:prstGeom prst="ellipse">
            <a:avLst/>
          </a:prstGeom>
          <a:solidFill>
            <a:srgbClr val="2A9A8F"/>
          </a:solidFill>
          <a:ln/>
        </p:spPr>
      </p:sp>
      <p:sp>
        <p:nvSpPr>
          <p:cNvPr id="19" name="Text 17"/>
          <p:cNvSpPr/>
          <p:nvPr/>
        </p:nvSpPr>
        <p:spPr>
          <a:xfrm>
            <a:off x="6757416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6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90488" y="24231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Graph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36208" y="310896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Owner, TIN, contact, referral. Rings live here.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31936" y="1828800"/>
            <a:ext cx="365760" cy="365760"/>
          </a:xfrm>
          <a:prstGeom prst="ellipse">
            <a:avLst/>
          </a:prstGeom>
          <a:solidFill>
            <a:srgbClr val="2A9A8F"/>
          </a:solidFill>
          <a:ln/>
        </p:spPr>
      </p:sp>
      <p:sp>
        <p:nvSpPr>
          <p:cNvPr id="23" name="Text 21"/>
          <p:cNvSpPr/>
          <p:nvPr/>
        </p:nvSpPr>
        <p:spPr>
          <a:xfrm>
            <a:off x="8631936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6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65008" y="24231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Cases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10728" y="310896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NPI shares a case. Extra NPIs need a visible link.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506456" y="1828800"/>
            <a:ext cx="365760" cy="365760"/>
          </a:xfrm>
          <a:prstGeom prst="ellipse">
            <a:avLst/>
          </a:prstGeom>
          <a:solidFill>
            <a:srgbClr val="2A9A8F"/>
          </a:solidFill>
          <a:ln/>
        </p:spPr>
      </p:sp>
      <p:sp>
        <p:nvSpPr>
          <p:cNvPr id="27" name="Text 25"/>
          <p:cNvSpPr/>
          <p:nvPr/>
        </p:nvSpPr>
        <p:spPr>
          <a:xfrm>
            <a:off x="10506456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6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939528" y="24231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 Desk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985248" y="310896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 first. Knapsack the rest. Backlog stays named.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" y="4983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Ground-truth labels are never features. No AMA CPT. Synthetic NPIs pass Luhn.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6928" y="64739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SE7EN  ·  CLAIMSHIELD NEXUS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0" y="647395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6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509760" y="64739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/  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 </a:t>
            </a:r>
            <a:pPr indent="0" marL="0">
              <a:buNone/>
            </a:pPr>
            <a:r>
              <a:rPr lang="en-US" sz="1100" b="1" spc="240" kern="0" dirty="0">
                <a:solidFill>
                  <a:srgbClr val="2A9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66928" y="585216"/>
            <a:ext cx="1234440" cy="32004"/>
          </a:xfrm>
          <a:prstGeom prst="rect">
            <a:avLst/>
          </a:prstGeom>
          <a:solidFill>
            <a:srgbClr val="2A9A8F"/>
          </a:solidFill>
          <a:ln/>
        </p:spPr>
      </p:sp>
      <p:sp>
        <p:nvSpPr>
          <p:cNvPr id="5" name="Text 2"/>
          <p:cNvSpPr/>
          <p:nvPr/>
        </p:nvSpPr>
        <p:spPr>
          <a:xfrm>
            <a:off x="566928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16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 cloud trigger. One API. One workstation.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66928" y="1371600"/>
            <a:ext cx="11018520" cy="1060704"/>
          </a:xfrm>
          <a:prstGeom prst="rect">
            <a:avLst/>
          </a:prstGeom>
          <a:solidFill>
            <a:srgbClr val="0B161C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371600"/>
            <a:ext cx="6400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18488" y="1371600"/>
            <a:ext cx="21031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858768" y="1371600"/>
            <a:ext cx="74980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E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incoming/*.csv → existing Lambda claimshield-s3-processor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E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manager Load batch on the laptop.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66928" y="2542032"/>
            <a:ext cx="11018520" cy="1060704"/>
          </a:xfrm>
          <a:prstGeom prst="rect">
            <a:avLst/>
          </a:prstGeom>
          <a:solidFill>
            <a:srgbClr val="16313C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542032"/>
            <a:ext cx="6400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618488" y="2542032"/>
            <a:ext cx="21031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858768" y="2542032"/>
            <a:ext cx="74980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E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FastAPI, SQLAlchemy, cookie JWT, RBAC, CSRF.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E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locally. Postgres in Docker.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66928" y="3712464"/>
            <a:ext cx="11018520" cy="1060704"/>
          </a:xfrm>
          <a:prstGeom prst="rect">
            <a:avLst/>
          </a:prstGeom>
          <a:solidFill>
            <a:srgbClr val="0B161C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3712464"/>
            <a:ext cx="6400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618488" y="3712464"/>
            <a:ext cx="21031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3858768" y="3712464"/>
            <a:ext cx="74980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E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catalog, peer stats, NetworkX graph,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E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builder, five-factor knapsack.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66928" y="4882896"/>
            <a:ext cx="11018520" cy="1060704"/>
          </a:xfrm>
          <a:prstGeom prst="rect">
            <a:avLst/>
          </a:prstGeom>
          <a:solidFill>
            <a:srgbClr val="16313C"/>
          </a:solidFill>
          <a:ln/>
        </p:spPr>
      </p:sp>
      <p:sp>
        <p:nvSpPr>
          <p:cNvPr id="19" name="Text 16"/>
          <p:cNvSpPr/>
          <p:nvPr/>
        </p:nvSpPr>
        <p:spPr>
          <a:xfrm>
            <a:off x="841248" y="4882896"/>
            <a:ext cx="6400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618488" y="4882896"/>
            <a:ext cx="21031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SIU UI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3858768" y="4882896"/>
            <a:ext cx="74980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E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queue, workspace, wiki, audit.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E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only on the landing story.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61C"/>
          </a:solidFill>
          <a:ln/>
        </p:spPr>
      </p:sp>
      <p:sp>
        <p:nvSpPr>
          <p:cNvPr id="23" name="Text 20"/>
          <p:cNvSpPr/>
          <p:nvPr/>
        </p:nvSpPr>
        <p:spPr>
          <a:xfrm>
            <a:off x="566928" y="65105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7E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SE7EN  ·  CLAIMSHIELD NEXUS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120640" y="65105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4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509760" y="65105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F6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/ 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 </a:t>
            </a:r>
            <a:pPr indent="0" marL="0">
              <a:buNone/>
            </a:pPr>
            <a:r>
              <a:rPr lang="en-US" sz="1100" b="1" spc="240" kern="0" dirty="0">
                <a:solidFill>
                  <a:srgbClr val="2A9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DIFFERENTIATOR  ·  GROUPING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66928" y="585216"/>
            <a:ext cx="1234440" cy="32004"/>
          </a:xfrm>
          <a:prstGeom prst="rect">
            <a:avLst/>
          </a:prstGeom>
          <a:solidFill>
            <a:srgbClr val="2A9A8F"/>
          </a:solidFill>
          <a:ln/>
        </p:spPr>
      </p:sp>
      <p:sp>
        <p:nvSpPr>
          <p:cNvPr id="5" name="Text 2"/>
          <p:cNvSpPr/>
          <p:nvPr/>
        </p:nvSpPr>
        <p:spPr>
          <a:xfrm>
            <a:off x="566928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B16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portal is the queue. Related alerts share a case.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66928" y="1463040"/>
            <a:ext cx="11018520" cy="1371600"/>
          </a:xfrm>
          <a:prstGeom prst="rect">
            <a:avLst/>
          </a:prstGeom>
          <a:solidFill>
            <a:srgbClr val="FFFBF5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46304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9A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029968" y="166420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6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billing NPI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029968" y="212140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hit on one provider is one investigation. Mentors agreed: no pager per alert.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66928" y="2971800"/>
            <a:ext cx="11018520" cy="1371600"/>
          </a:xfrm>
          <a:prstGeom prst="rect">
            <a:avLst/>
          </a:prstGeom>
          <a:solidFill>
            <a:srgbClr val="FFFBF5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97180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9A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029968" y="317296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6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second NPI joins only on a visible link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029968" y="363016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ring (owner, TIN, contact), excluded owner, or concentrated referral.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66928" y="4480560"/>
            <a:ext cx="11018520" cy="1371600"/>
          </a:xfrm>
          <a:prstGeom prst="rect">
            <a:avLst/>
          </a:prstGeom>
          <a:solidFill>
            <a:srgbClr val="FFFBF5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448056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9A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2029968" y="46817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6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Urgent stays visible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2029968" y="513892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After-death and excluded-party signals keep a harm-4 chip inside the group.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61C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" y="65105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7E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SE7EN  ·  CLAIMSHIELD NEXUS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120640" y="65105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4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509760" y="65105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F6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/ 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 </a:t>
            </a:r>
            <a:pPr indent="0" marL="0">
              <a:buNone/>
            </a:pPr>
            <a:r>
              <a:rPr lang="en-US" sz="1100" b="1" spc="24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DIFFERENTIATOR  ·  PEERS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585216"/>
            <a:ext cx="1234440" cy="32004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344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Similar is not the same case.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24688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E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scoring needs clinics like this one as a baseline.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7E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 NPIs are listed as comparison peers held out.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7E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never auto-join the investigation.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4206240"/>
            <a:ext cx="201168" cy="0"/>
          </a:xfrm>
          <a:prstGeom prst="line">
            <a:avLst/>
          </a:prstGeom>
          <a:noFill/>
          <a:ln w="17145">
            <a:solidFill>
              <a:srgbClr val="C6A1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4206240"/>
            <a:ext cx="0" cy="201168"/>
          </a:xfrm>
          <a:prstGeom prst="line">
            <a:avLst/>
          </a:prstGeom>
          <a:noFill/>
          <a:ln w="17145">
            <a:solidFill>
              <a:srgbClr val="C6A1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84280" y="4206240"/>
            <a:ext cx="201168" cy="0"/>
          </a:xfrm>
          <a:prstGeom prst="line">
            <a:avLst/>
          </a:prstGeom>
          <a:noFill/>
          <a:ln w="17145">
            <a:solidFill>
              <a:srgbClr val="C6A1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85448" y="4206240"/>
            <a:ext cx="0" cy="201168"/>
          </a:xfrm>
          <a:prstGeom prst="line">
            <a:avLst/>
          </a:prstGeom>
          <a:noFill/>
          <a:ln w="17145">
            <a:solidFill>
              <a:srgbClr val="C6A1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5696712"/>
            <a:ext cx="0" cy="201168"/>
          </a:xfrm>
          <a:prstGeom prst="line">
            <a:avLst/>
          </a:prstGeom>
          <a:noFill/>
          <a:ln w="17145">
            <a:solidFill>
              <a:srgbClr val="C6A1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5897880"/>
            <a:ext cx="201168" cy="0"/>
          </a:xfrm>
          <a:prstGeom prst="line">
            <a:avLst/>
          </a:prstGeom>
          <a:noFill/>
          <a:ln w="17145">
            <a:solidFill>
              <a:srgbClr val="C6A1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85448" y="5696712"/>
            <a:ext cx="0" cy="201168"/>
          </a:xfrm>
          <a:prstGeom prst="line">
            <a:avLst/>
          </a:prstGeom>
          <a:noFill/>
          <a:ln w="17145">
            <a:solidFill>
              <a:srgbClr val="C6A1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84280" y="5897880"/>
            <a:ext cx="201168" cy="0"/>
          </a:xfrm>
          <a:prstGeom prst="line">
            <a:avLst/>
          </a:prstGeom>
          <a:noFill/>
          <a:ln w="17145">
            <a:solidFill>
              <a:srgbClr val="C6A1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4434840"/>
            <a:ext cx="10287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6A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 line we kept: group a provider’s pattern. Do not smear honest neighbors.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SE7EN  ·  CLAIMSHIELD NEXUS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647395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6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509760" y="64739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/  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</a:t>
            </a:r>
            <a:pPr indent="0" marL="0">
              <a:buNone/>
            </a:pPr>
            <a:r>
              <a:rPr lang="en-US" sz="1100" b="1" spc="240" kern="0" dirty="0">
                <a:solidFill>
                  <a:srgbClr val="2A9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RANKING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66928" y="585216"/>
            <a:ext cx="1234440" cy="32004"/>
          </a:xfrm>
          <a:prstGeom prst="rect">
            <a:avLst/>
          </a:prstGeom>
          <a:solidFill>
            <a:srgbClr val="2A9A8F"/>
          </a:solidFill>
          <a:ln/>
        </p:spPr>
      </p:sp>
      <p:sp>
        <p:nvSpPr>
          <p:cNvPr id="5" name="Text 2"/>
          <p:cNvSpPr/>
          <p:nvPr/>
        </p:nvSpPr>
        <p:spPr>
          <a:xfrm>
            <a:off x="566928" y="74980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16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1,000 cases sorted by money.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2121408" cy="2880360"/>
          </a:xfrm>
          <a:prstGeom prst="rect">
            <a:avLst/>
          </a:prstGeom>
          <a:solidFill>
            <a:srgbClr val="0B161C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" y="169164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C6A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58368" y="256032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Severity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6656" y="306324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E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 and harm level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807208" y="1417320"/>
            <a:ext cx="2121408" cy="2880360"/>
          </a:xfrm>
          <a:prstGeom prst="rect">
            <a:avLst/>
          </a:prstGeom>
          <a:solidFill>
            <a:srgbClr val="0B161C"/>
          </a:solidFill>
          <a:ln/>
        </p:spPr>
      </p:sp>
      <p:sp>
        <p:nvSpPr>
          <p:cNvPr id="11" name="Text 8"/>
          <p:cNvSpPr/>
          <p:nvPr/>
        </p:nvSpPr>
        <p:spPr>
          <a:xfrm>
            <a:off x="2807208" y="169164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C6A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22%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2898648" y="256032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Exposure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916936" y="306324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E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dollars, scaled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47488" y="1417320"/>
            <a:ext cx="2121408" cy="2880360"/>
          </a:xfrm>
          <a:prstGeom prst="rect">
            <a:avLst/>
          </a:prstGeom>
          <a:solidFill>
            <a:srgbClr val="0B161C"/>
          </a:solidFill>
          <a:ln/>
        </p:spPr>
      </p:sp>
      <p:sp>
        <p:nvSpPr>
          <p:cNvPr id="15" name="Text 12"/>
          <p:cNvSpPr/>
          <p:nvPr/>
        </p:nvSpPr>
        <p:spPr>
          <a:xfrm>
            <a:off x="5047488" y="169164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C6A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22%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5138928" y="256032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157216" y="306324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E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 × people. Slider.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287768" y="1417320"/>
            <a:ext cx="2121408" cy="2880360"/>
          </a:xfrm>
          <a:prstGeom prst="rect">
            <a:avLst/>
          </a:prstGeom>
          <a:solidFill>
            <a:srgbClr val="0B161C"/>
          </a:solidFill>
          <a:ln/>
        </p:spPr>
      </p:sp>
      <p:sp>
        <p:nvSpPr>
          <p:cNvPr id="19" name="Text 16"/>
          <p:cNvSpPr/>
          <p:nvPr/>
        </p:nvSpPr>
        <p:spPr>
          <a:xfrm>
            <a:off x="7287768" y="169164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C6A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7379208" y="256032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397496" y="306324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E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well it is backed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528048" y="1417320"/>
            <a:ext cx="2121408" cy="2880360"/>
          </a:xfrm>
          <a:prstGeom prst="rect">
            <a:avLst/>
          </a:prstGeom>
          <a:solidFill>
            <a:srgbClr val="0B161C"/>
          </a:solidFill>
          <a:ln/>
        </p:spPr>
      </p:sp>
      <p:sp>
        <p:nvSpPr>
          <p:cNvPr id="23" name="Text 20"/>
          <p:cNvSpPr/>
          <p:nvPr/>
        </p:nvSpPr>
        <p:spPr>
          <a:xfrm>
            <a:off x="9528048" y="169164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C6A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16%</a:t>
            </a:r>
            <a:endParaRPr lang="en-US" sz="3400" dirty="0"/>
          </a:p>
        </p:txBody>
      </p:sp>
      <p:sp>
        <p:nvSpPr>
          <p:cNvPr id="24" name="Text 21"/>
          <p:cNvSpPr/>
          <p:nvPr/>
        </p:nvSpPr>
        <p:spPr>
          <a:xfrm>
            <a:off x="9619488" y="256032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Urgency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637776" y="306324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E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+ 45-day clock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66928" y="4526280"/>
            <a:ext cx="11018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a knapsack fills investigator hours. Harm ≥ 4 takes a reserved slice first so member safety is not crowded out.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61C"/>
          </a:solidFill>
          <a:ln/>
        </p:spPr>
      </p:sp>
      <p:sp>
        <p:nvSpPr>
          <p:cNvPr id="28" name="Text 25"/>
          <p:cNvSpPr/>
          <p:nvPr/>
        </p:nvSpPr>
        <p:spPr>
          <a:xfrm>
            <a:off x="566928" y="65105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7E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SE7EN  ·  CLAIMSHIELD NEXUS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120640" y="65105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4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RANKING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509760" y="65105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F6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/  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 </a:t>
            </a:r>
            <a:pPr indent="0" marL="0">
              <a:buNone/>
            </a:pPr>
            <a:r>
              <a:rPr lang="en-US" sz="1100" b="1" spc="24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TODAY’S DESK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585216"/>
            <a:ext cx="1234440" cy="32004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lanes. One human loop.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2670048" cy="4297680"/>
          </a:xfrm>
          <a:prstGeom prst="rect">
            <a:avLst/>
          </a:prstGeom>
          <a:solidFill>
            <a:srgbClr val="12242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463040"/>
            <a:ext cx="2670048" cy="91440"/>
          </a:xfrm>
          <a:prstGeom prst="rect">
            <a:avLst/>
          </a:prstGeom>
          <a:solidFill>
            <a:srgbClr val="C45C4A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78308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4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8096" y="2286000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Harm priority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8096" y="3246120"/>
            <a:ext cx="2267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death, excluded party, excluded owner. Reserved hours.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55848" y="1463040"/>
            <a:ext cx="2670048" cy="4297680"/>
          </a:xfrm>
          <a:prstGeom prst="rect">
            <a:avLst/>
          </a:prstGeom>
          <a:solidFill>
            <a:srgbClr val="12242C"/>
          </a:solidFill>
          <a:ln/>
        </p:spPr>
      </p:sp>
      <p:sp>
        <p:nvSpPr>
          <p:cNvPr id="11" name="Shape 9"/>
          <p:cNvSpPr/>
          <p:nvPr/>
        </p:nvSpPr>
        <p:spPr>
          <a:xfrm>
            <a:off x="3355848" y="1463040"/>
            <a:ext cx="2670048" cy="91440"/>
          </a:xfrm>
          <a:prstGeom prst="rect">
            <a:avLst/>
          </a:prstGeom>
          <a:solidFill>
            <a:srgbClr val="2A9A8F"/>
          </a:solidFill>
          <a:ln/>
        </p:spPr>
      </p:sp>
      <p:sp>
        <p:nvSpPr>
          <p:cNvPr id="12" name="Text 10"/>
          <p:cNvSpPr/>
          <p:nvPr/>
        </p:nvSpPr>
        <p:spPr>
          <a:xfrm>
            <a:off x="3557016" y="178308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A9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57016" y="2286000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57016" y="3246120"/>
            <a:ext cx="2267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knapsack inside remaining hours and a slot cap.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44768" y="1463040"/>
            <a:ext cx="2670048" cy="4297680"/>
          </a:xfrm>
          <a:prstGeom prst="rect">
            <a:avLst/>
          </a:prstGeom>
          <a:solidFill>
            <a:srgbClr val="12242C"/>
          </a:solidFill>
          <a:ln/>
        </p:spPr>
      </p:sp>
      <p:sp>
        <p:nvSpPr>
          <p:cNvPr id="16" name="Shape 14"/>
          <p:cNvSpPr/>
          <p:nvPr/>
        </p:nvSpPr>
        <p:spPr>
          <a:xfrm>
            <a:off x="6144768" y="1463040"/>
            <a:ext cx="2670048" cy="9144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7" name="Text 15"/>
          <p:cNvSpPr/>
          <p:nvPr/>
        </p:nvSpPr>
        <p:spPr>
          <a:xfrm>
            <a:off x="6345936" y="178308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45936" y="2286000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Gather evidence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45936" y="3246120"/>
            <a:ext cx="2267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below 0.40. Request records. Do not dismiss.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33688" y="1463040"/>
            <a:ext cx="2670048" cy="4297680"/>
          </a:xfrm>
          <a:prstGeom prst="rect">
            <a:avLst/>
          </a:prstGeom>
          <a:solidFill>
            <a:srgbClr val="12242C"/>
          </a:solidFill>
          <a:ln/>
        </p:spPr>
      </p:sp>
      <p:sp>
        <p:nvSpPr>
          <p:cNvPr id="21" name="Shape 19"/>
          <p:cNvSpPr/>
          <p:nvPr/>
        </p:nvSpPr>
        <p:spPr>
          <a:xfrm>
            <a:off x="8933688" y="1463040"/>
            <a:ext cx="2670048" cy="91440"/>
          </a:xfrm>
          <a:prstGeom prst="rect">
            <a:avLst/>
          </a:prstGeom>
          <a:solidFill>
            <a:srgbClr val="8AA0A6"/>
          </a:solidFill>
          <a:ln/>
        </p:spPr>
      </p:sp>
      <p:sp>
        <p:nvSpPr>
          <p:cNvPr id="22" name="Text 20"/>
          <p:cNvSpPr/>
          <p:nvPr/>
        </p:nvSpPr>
        <p:spPr>
          <a:xfrm>
            <a:off x="9134856" y="178308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34856" y="2286000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Tracked backlog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34856" y="3246120"/>
            <a:ext cx="2267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open. Promote by hand. A surge stays named.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" y="64739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SE7EN  ·  CLAIMSHIELD NEXUS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647395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6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509760" y="64739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/ 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 </a:t>
            </a:r>
            <a:pPr indent="0" marL="0">
              <a:buNone/>
            </a:pPr>
            <a:r>
              <a:rPr lang="en-US" sz="1100" b="1" spc="240" kern="0" dirty="0">
                <a:solidFill>
                  <a:srgbClr val="2A9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DIFFERENTIATOR  ·  EVIDENCE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66928" y="585216"/>
            <a:ext cx="1234440" cy="32004"/>
          </a:xfrm>
          <a:prstGeom prst="rect">
            <a:avLst/>
          </a:prstGeom>
          <a:solidFill>
            <a:srgbClr val="2A9A8F"/>
          </a:solidFill>
          <a:ln/>
        </p:spPr>
      </p:sp>
      <p:sp>
        <p:nvSpPr>
          <p:cNvPr id="5" name="Text 2"/>
          <p:cNvSpPr/>
          <p:nvPr/>
        </p:nvSpPr>
        <p:spPr>
          <a:xfrm>
            <a:off x="566928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B16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 backward from the badge to the table.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1225296" y="1417320"/>
            <a:ext cx="384048" cy="384048"/>
          </a:xfrm>
          <a:prstGeom prst="ellipse">
            <a:avLst/>
          </a:prstGeom>
          <a:solidFill>
            <a:srgbClr val="0B161C"/>
          </a:solidFill>
          <a:ln/>
        </p:spPr>
      </p:sp>
      <p:sp>
        <p:nvSpPr>
          <p:cNvPr id="7" name="Text 4"/>
          <p:cNvSpPr/>
          <p:nvPr/>
        </p:nvSpPr>
        <p:spPr>
          <a:xfrm>
            <a:off x="1225296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6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664208" y="1581912"/>
            <a:ext cx="1371600" cy="36576"/>
          </a:xfrm>
          <a:prstGeom prst="rect">
            <a:avLst/>
          </a:prstGeom>
          <a:solidFill>
            <a:srgbClr val="2A9A8F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1920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099816" y="1417320"/>
            <a:ext cx="384048" cy="384048"/>
          </a:xfrm>
          <a:prstGeom prst="ellipse">
            <a:avLst/>
          </a:prstGeom>
          <a:solidFill>
            <a:srgbClr val="0B161C"/>
          </a:solidFill>
          <a:ln/>
        </p:spPr>
      </p:sp>
      <p:sp>
        <p:nvSpPr>
          <p:cNvPr id="11" name="Text 8"/>
          <p:cNvSpPr/>
          <p:nvPr/>
        </p:nvSpPr>
        <p:spPr>
          <a:xfrm>
            <a:off x="3099816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6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538728" y="1581912"/>
            <a:ext cx="1371600" cy="36576"/>
          </a:xfrm>
          <a:prstGeom prst="rect">
            <a:avLst/>
          </a:prstGeom>
          <a:solidFill>
            <a:srgbClr val="2A9A8F"/>
          </a:solidFill>
          <a:ln/>
        </p:spPr>
      </p:sp>
      <p:sp>
        <p:nvSpPr>
          <p:cNvPr id="13" name="Text 10"/>
          <p:cNvSpPr/>
          <p:nvPr/>
        </p:nvSpPr>
        <p:spPr>
          <a:xfrm>
            <a:off x="2441448" y="1920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974336" y="1417320"/>
            <a:ext cx="384048" cy="384048"/>
          </a:xfrm>
          <a:prstGeom prst="ellipse">
            <a:avLst/>
          </a:prstGeom>
          <a:solidFill>
            <a:srgbClr val="0B161C"/>
          </a:solidFill>
          <a:ln/>
        </p:spPr>
      </p:sp>
      <p:sp>
        <p:nvSpPr>
          <p:cNvPr id="15" name="Text 12"/>
          <p:cNvSpPr/>
          <p:nvPr/>
        </p:nvSpPr>
        <p:spPr>
          <a:xfrm>
            <a:off x="4974336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6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13248" y="1581912"/>
            <a:ext cx="1371600" cy="36576"/>
          </a:xfrm>
          <a:prstGeom prst="rect">
            <a:avLst/>
          </a:prstGeom>
          <a:solidFill>
            <a:srgbClr val="2A9A8F"/>
          </a:solidFill>
          <a:ln/>
        </p:spPr>
      </p:sp>
      <p:sp>
        <p:nvSpPr>
          <p:cNvPr id="17" name="Text 14"/>
          <p:cNvSpPr/>
          <p:nvPr/>
        </p:nvSpPr>
        <p:spPr>
          <a:xfrm>
            <a:off x="4315968" y="1920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anomaly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848856" y="1417320"/>
            <a:ext cx="384048" cy="384048"/>
          </a:xfrm>
          <a:prstGeom prst="ellipse">
            <a:avLst/>
          </a:prstGeom>
          <a:solidFill>
            <a:srgbClr val="0B161C"/>
          </a:solidFill>
          <a:ln/>
        </p:spPr>
      </p:sp>
      <p:sp>
        <p:nvSpPr>
          <p:cNvPr id="19" name="Text 16"/>
          <p:cNvSpPr/>
          <p:nvPr/>
        </p:nvSpPr>
        <p:spPr>
          <a:xfrm>
            <a:off x="6848856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6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287768" y="1581912"/>
            <a:ext cx="1371600" cy="36576"/>
          </a:xfrm>
          <a:prstGeom prst="rect">
            <a:avLst/>
          </a:prstGeom>
          <a:solidFill>
            <a:srgbClr val="2A9A8F"/>
          </a:solidFill>
          <a:ln/>
        </p:spPr>
      </p:sp>
      <p:sp>
        <p:nvSpPr>
          <p:cNvPr id="21" name="Text 18"/>
          <p:cNvSpPr/>
          <p:nvPr/>
        </p:nvSpPr>
        <p:spPr>
          <a:xfrm>
            <a:off x="6190488" y="1920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723376" y="1417320"/>
            <a:ext cx="384048" cy="384048"/>
          </a:xfrm>
          <a:prstGeom prst="ellipse">
            <a:avLst/>
          </a:prstGeom>
          <a:solidFill>
            <a:srgbClr val="0B161C"/>
          </a:solidFill>
          <a:ln/>
        </p:spPr>
      </p:sp>
      <p:sp>
        <p:nvSpPr>
          <p:cNvPr id="23" name="Text 20"/>
          <p:cNvSpPr/>
          <p:nvPr/>
        </p:nvSpPr>
        <p:spPr>
          <a:xfrm>
            <a:off x="8723376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6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162288" y="1581912"/>
            <a:ext cx="1371600" cy="36576"/>
          </a:xfrm>
          <a:prstGeom prst="rect">
            <a:avLst/>
          </a:prstGeom>
          <a:solidFill>
            <a:srgbClr val="2A9A8F"/>
          </a:solidFill>
          <a:ln/>
        </p:spPr>
      </p:sp>
      <p:sp>
        <p:nvSpPr>
          <p:cNvPr id="25" name="Text 22"/>
          <p:cNvSpPr/>
          <p:nvPr/>
        </p:nvSpPr>
        <p:spPr>
          <a:xfrm>
            <a:off x="8065008" y="1920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builder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10597896" y="1417320"/>
            <a:ext cx="384048" cy="384048"/>
          </a:xfrm>
          <a:prstGeom prst="ellipse">
            <a:avLst/>
          </a:prstGeom>
          <a:solidFill>
            <a:srgbClr val="0B161C"/>
          </a:solidFill>
          <a:ln/>
        </p:spPr>
      </p:sp>
      <p:sp>
        <p:nvSpPr>
          <p:cNvPr id="27" name="Text 24"/>
          <p:cNvSpPr/>
          <p:nvPr/>
        </p:nvSpPr>
        <p:spPr>
          <a:xfrm>
            <a:off x="10597896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6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939528" y="1920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66928" y="2606040"/>
            <a:ext cx="2670048" cy="2331720"/>
          </a:xfrm>
          <a:prstGeom prst="rect">
            <a:avLst/>
          </a:prstGeom>
          <a:solidFill>
            <a:srgbClr val="FFFBF5"/>
          </a:solidFill>
          <a:ln/>
        </p:spPr>
      </p:sp>
      <p:sp>
        <p:nvSpPr>
          <p:cNvPr id="30" name="Text 27"/>
          <p:cNvSpPr/>
          <p:nvPr/>
        </p:nvSpPr>
        <p:spPr>
          <a:xfrm>
            <a:off x="749808" y="281635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A9A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749808" y="3218688"/>
            <a:ext cx="23042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alerts sit together, case NPIs, source tables, urgent chip.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3355848" y="2606040"/>
            <a:ext cx="2670048" cy="2331720"/>
          </a:xfrm>
          <a:prstGeom prst="rect">
            <a:avLst/>
          </a:prstGeom>
          <a:solidFill>
            <a:srgbClr val="FFFBF5"/>
          </a:solidFill>
          <a:ln/>
        </p:spPr>
      </p:sp>
      <p:sp>
        <p:nvSpPr>
          <p:cNvPr id="33" name="Text 30"/>
          <p:cNvSpPr/>
          <p:nvPr/>
        </p:nvSpPr>
        <p:spPr>
          <a:xfrm>
            <a:off x="3538728" y="281635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A9A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3538728" y="3218688"/>
            <a:ext cx="23042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Method, table roles, fields used, supporting lines, held-out peers.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144768" y="2606040"/>
            <a:ext cx="2670048" cy="2331720"/>
          </a:xfrm>
          <a:prstGeom prst="rect">
            <a:avLst/>
          </a:prstGeom>
          <a:solidFill>
            <a:srgbClr val="FFFBF5"/>
          </a:solidFill>
          <a:ln/>
        </p:spPr>
      </p:sp>
      <p:sp>
        <p:nvSpPr>
          <p:cNvPr id="36" name="Text 33"/>
          <p:cNvSpPr/>
          <p:nvPr/>
        </p:nvSpPr>
        <p:spPr>
          <a:xfrm>
            <a:off x="6327648" y="281635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A9A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Claims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6327648" y="3218688"/>
            <a:ext cx="23042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system and received date on every line from the extract.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8933688" y="2606040"/>
            <a:ext cx="2670048" cy="2331720"/>
          </a:xfrm>
          <a:prstGeom prst="rect">
            <a:avLst/>
          </a:prstGeom>
          <a:solidFill>
            <a:srgbClr val="FFFBF5"/>
          </a:solidFill>
          <a:ln/>
        </p:spPr>
      </p:sp>
      <p:sp>
        <p:nvSpPr>
          <p:cNvPr id="39" name="Text 36"/>
          <p:cNvSpPr/>
          <p:nvPr/>
        </p:nvSpPr>
        <p:spPr>
          <a:xfrm>
            <a:off x="9116568" y="281635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A9A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9116568" y="3218688"/>
            <a:ext cx="23042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the alerts you inspected. Reason of 20+ characters. Human only.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61C"/>
          </a:solidFill>
          <a:ln/>
        </p:spPr>
      </p:sp>
      <p:sp>
        <p:nvSpPr>
          <p:cNvPr id="42" name="Text 39"/>
          <p:cNvSpPr/>
          <p:nvPr/>
        </p:nvSpPr>
        <p:spPr>
          <a:xfrm>
            <a:off x="566928" y="65105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7E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SE7EN  ·  CLAIMSHIELD NEXUS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120640" y="65105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4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9509760" y="65105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F6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/  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 </a:t>
            </a:r>
            <a:pPr indent="0" marL="0">
              <a:buNone/>
            </a:pPr>
            <a:r>
              <a:rPr lang="en-US" sz="1100" b="1" spc="24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WORKSPACE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585216"/>
            <a:ext cx="1234440" cy="32004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case. Seven rooms. Inspect, then decide.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44168" y="14173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858768" y="14173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Rank, grouping, trail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05740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44168" y="20574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58768" y="20574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detector, lineage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" y="269748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44168" y="26974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58768" y="26974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sentences only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" y="333756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44168" y="33375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58768" y="33375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and source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" y="39776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39776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58768" y="39776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 when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6928" y="461772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44168" y="46177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58768" y="46177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Two-hop neighbourhood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" y="525780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44168" y="52578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858768" y="52578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next step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635240" y="1417320"/>
            <a:ext cx="182880" cy="0"/>
          </a:xfrm>
          <a:prstGeom prst="line">
            <a:avLst/>
          </a:prstGeom>
          <a:noFill/>
          <a:ln w="15875">
            <a:solidFill>
              <a:srgbClr val="C6A15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35240" y="1417320"/>
            <a:ext cx="0" cy="182880"/>
          </a:xfrm>
          <a:prstGeom prst="line">
            <a:avLst/>
          </a:prstGeom>
          <a:noFill/>
          <a:ln w="15875">
            <a:solidFill>
              <a:srgbClr val="C6A1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30000" y="1417320"/>
            <a:ext cx="182880" cy="0"/>
          </a:xfrm>
          <a:prstGeom prst="line">
            <a:avLst/>
          </a:prstGeom>
          <a:noFill/>
          <a:ln w="15875">
            <a:solidFill>
              <a:srgbClr val="C6A15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612880" y="1417320"/>
            <a:ext cx="0" cy="182880"/>
          </a:xfrm>
          <a:prstGeom prst="line">
            <a:avLst/>
          </a:prstGeom>
          <a:noFill/>
          <a:ln w="15875">
            <a:solidFill>
              <a:srgbClr val="C6A15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35240" y="5715000"/>
            <a:ext cx="0" cy="182880"/>
          </a:xfrm>
          <a:prstGeom prst="line">
            <a:avLst/>
          </a:prstGeom>
          <a:noFill/>
          <a:ln w="15875">
            <a:solidFill>
              <a:srgbClr val="C6A15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35240" y="5897880"/>
            <a:ext cx="182880" cy="0"/>
          </a:xfrm>
          <a:prstGeom prst="line">
            <a:avLst/>
          </a:prstGeom>
          <a:noFill/>
          <a:ln w="15875">
            <a:solidFill>
              <a:srgbClr val="C6A15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612880" y="5715000"/>
            <a:ext cx="0" cy="182880"/>
          </a:xfrm>
          <a:prstGeom prst="line">
            <a:avLst/>
          </a:prstGeom>
          <a:noFill/>
          <a:ln w="15875">
            <a:solidFill>
              <a:srgbClr val="C6A15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430000" y="5897880"/>
            <a:ext cx="182880" cy="0"/>
          </a:xfrm>
          <a:prstGeom prst="line">
            <a:avLst/>
          </a:prstGeom>
          <a:noFill/>
          <a:ln w="15875">
            <a:solidFill>
              <a:srgbClr val="C6A1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0956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Also true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909560" y="2148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stay masked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909560" y="26791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Unmask is audited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909560" y="320954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/ defer with a reason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909560" y="37398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Ladder up to recommend 455.23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909560" y="42702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 from a closed decision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909560" y="4800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follows the latest run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66928" y="64739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SE7EN  ·  CLAIMSHIELD NEXUS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20640" y="647395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6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WORKSPACE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509760" y="64739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/ 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 </a:t>
            </a:r>
            <a:pPr indent="0" marL="0">
              <a:buNone/>
            </a:pPr>
            <a:r>
              <a:rPr lang="en-US" sz="1100" b="1" spc="240" kern="0" dirty="0">
                <a:solidFill>
                  <a:srgbClr val="2A9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 BY DESIGN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66928" y="585216"/>
            <a:ext cx="1234440" cy="32004"/>
          </a:xfrm>
          <a:prstGeom prst="rect">
            <a:avLst/>
          </a:prstGeom>
          <a:solidFill>
            <a:srgbClr val="2A9A8F"/>
          </a:solidFill>
          <a:ln/>
        </p:spPr>
      </p:sp>
      <p:sp>
        <p:nvSpPr>
          <p:cNvPr id="5" name="Text 2"/>
          <p:cNvSpPr/>
          <p:nvPr/>
        </p:nvSpPr>
        <p:spPr>
          <a:xfrm>
            <a:off x="566928" y="777240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B16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when the world changes.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0B16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Stable while a person is writing.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66928" y="2240280"/>
            <a:ext cx="3566160" cy="3566160"/>
          </a:xfrm>
          <a:prstGeom prst="rect">
            <a:avLst/>
          </a:prstGeom>
          <a:solidFill>
            <a:srgbClr val="0B161C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in the loop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36118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ownership. Inspect each alert. Write a reason. A manager can promote or defer. Analysts cannot read cases.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70248" y="2240280"/>
            <a:ext cx="3566160" cy="3566160"/>
          </a:xfrm>
          <a:prstGeom prst="rect">
            <a:avLst/>
          </a:prstGeom>
          <a:solidFill>
            <a:srgbClr val="0B161C"/>
          </a:solidFill>
          <a:ln/>
        </p:spPr>
      </p:sp>
      <p:sp>
        <p:nvSpPr>
          <p:cNvPr id="11" name="Text 8"/>
          <p:cNvSpPr/>
          <p:nvPr/>
        </p:nvSpPr>
        <p:spPr>
          <a:xfrm>
            <a:off x="452628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26280" y="2880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Due process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26280" y="36118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45-day clock on the row. Masked PHI. Hash-chained audit. Payment suspension is recommended, never executed.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973568" y="2240280"/>
            <a:ext cx="3566160" cy="3566160"/>
          </a:xfrm>
          <a:prstGeom prst="rect">
            <a:avLst/>
          </a:prstGeom>
          <a:solidFill>
            <a:srgbClr val="0B161C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0" y="2880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surge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229600" y="36118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D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claims enter on the next run. Harm still goes first. Overflow stays on a named backlog.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61C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" y="65105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7E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SE7EN  ·  CLAIMSHIELD NEXUS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120640" y="65105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4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509760" y="65105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F6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/ 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 </a:t>
            </a:r>
            <a:pPr indent="0" marL="0">
              <a:buNone/>
            </a:pPr>
            <a:r>
              <a:rPr lang="en-US" sz="1100" b="1" spc="24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EDGE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585216"/>
            <a:ext cx="1234440" cy="32004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7772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 teams will say they found fraud.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show an SIU how to work.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5440680" cy="1188720"/>
          </a:xfrm>
          <a:prstGeom prst="rect">
            <a:avLst/>
          </a:prstGeom>
          <a:solidFill>
            <a:srgbClr val="12242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037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A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Cases, not a firehose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alerts collapse to M investigations on the portal.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36208" y="2057400"/>
            <a:ext cx="5440680" cy="1188720"/>
          </a:xfrm>
          <a:prstGeom prst="rect">
            <a:avLst/>
          </a:prstGeom>
          <a:solidFill>
            <a:srgbClr val="12242C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2037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A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Peers held out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606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clinics score the outlier. They are not co-suspects.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3383280"/>
            <a:ext cx="5440680" cy="1188720"/>
          </a:xfrm>
          <a:prstGeom prst="rect">
            <a:avLst/>
          </a:prstGeom>
          <a:solidFill>
            <a:srgbClr val="12242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5295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A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Provenance everywhere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Tables, fields, detector path — walk backward from the badge.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6208" y="3383280"/>
            <a:ext cx="5440680" cy="1188720"/>
          </a:xfrm>
          <a:prstGeom prst="rect">
            <a:avLst/>
          </a:prstGeom>
          <a:solidFill>
            <a:srgbClr val="12242C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5295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A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Harm-reserved knapsack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safety gets hours before a billing mill fills the bag.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4709160"/>
            <a:ext cx="5440680" cy="1188720"/>
          </a:xfrm>
          <a:prstGeom prst="rect">
            <a:avLst/>
          </a:prstGeom>
          <a:solidFill>
            <a:srgbClr val="12242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8554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A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Named backlog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5257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cannot work today stays open. That is the surge story.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36208" y="4709160"/>
            <a:ext cx="5440680" cy="1188720"/>
          </a:xfrm>
          <a:prstGeom prst="rect">
            <a:avLst/>
          </a:prstGeom>
          <a:solidFill>
            <a:srgbClr val="12242C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8554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A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 only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5257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fraud stamp. No auto-suspension. A person records the next step.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" y="64739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SE7EN  ·  CLAIMSHIELD NEXUS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0" y="647395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6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509760" y="64739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/  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657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20" kern="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 SECONDS ON THE MACHINE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the desk. Open the grouped harm case.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 the evidence. Let a human decide.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66928" y="21031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— improper payment is not fraud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2542032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tiny seed 7 as manager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6928" y="2980944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— grouped alerts, linked NPIs, urgent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341985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+ findings lineage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" y="385876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A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F6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— 20+ character reason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6928" y="44348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manager@demo.claimshield   ·   demo-manager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" y="4937760"/>
            <a:ext cx="1920240" cy="32004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51206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 only. Improper payment is not fraud.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SE7EN  ·  BUILD TO CARE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Team SE7EN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ClaimShield Nexus</dc:title>
  <dc:subject>BUILD TO CARE 2026 · Acentra Health · Problem Statement 3</dc:subject>
  <dc:creator>Team SE7EN</dc:creator>
  <cp:lastModifiedBy>Team SE7EN</cp:lastModifiedBy>
  <cp:revision>1</cp:revision>
  <dcterms:created xsi:type="dcterms:W3CDTF">2026-10-08T16:54:14Z</dcterms:created>
  <dcterms:modified xsi:type="dcterms:W3CDTF">2026-10-08T16:54:14Z</dcterms:modified>
</cp:coreProperties>
</file>